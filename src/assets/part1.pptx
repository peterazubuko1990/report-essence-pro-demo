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39"/>
  </p:handoutMasterIdLst>
  <p:sldIdLst>
    <p:sldId id="519" r:id="rId3"/>
    <p:sldId id="452" r:id="rId4"/>
    <p:sldId id="453" r:id="rId6"/>
    <p:sldId id="454" r:id="rId7"/>
    <p:sldId id="373" r:id="rId8"/>
    <p:sldId id="465" r:id="rId9"/>
    <p:sldId id="374" r:id="rId10"/>
    <p:sldId id="466" r:id="rId11"/>
    <p:sldId id="377" r:id="rId12"/>
    <p:sldId id="467" r:id="rId13"/>
    <p:sldId id="378" r:id="rId14"/>
    <p:sldId id="468" r:id="rId15"/>
    <p:sldId id="383" r:id="rId16"/>
    <p:sldId id="469" r:id="rId17"/>
    <p:sldId id="382" r:id="rId18"/>
    <p:sldId id="470" r:id="rId19"/>
    <p:sldId id="376" r:id="rId20"/>
    <p:sldId id="471" r:id="rId21"/>
    <p:sldId id="386" r:id="rId22"/>
    <p:sldId id="472" r:id="rId23"/>
    <p:sldId id="388" r:id="rId24"/>
    <p:sldId id="473" r:id="rId25"/>
    <p:sldId id="526" r:id="rId26"/>
    <p:sldId id="527" r:id="rId27"/>
    <p:sldId id="524" r:id="rId28"/>
    <p:sldId id="525" r:id="rId29"/>
    <p:sldId id="389" r:id="rId30"/>
    <p:sldId id="474" r:id="rId31"/>
    <p:sldId id="497" r:id="rId32"/>
    <p:sldId id="563" r:id="rId33"/>
    <p:sldId id="505" r:id="rId34"/>
    <p:sldId id="392" r:id="rId35"/>
    <p:sldId id="476" r:id="rId36"/>
    <p:sldId id="462" r:id="rId37"/>
    <p:sldId id="406" r:id="rId3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2" autoAdjust="0"/>
    <p:restoredTop sz="94434" autoAdjust="0"/>
  </p:normalViewPr>
  <p:slideViewPr>
    <p:cSldViewPr snapToGrid="0" showGuides="1">
      <p:cViewPr varScale="1">
        <p:scale>
          <a:sx n="65" d="100"/>
          <a:sy n="65" d="100"/>
        </p:scale>
        <p:origin x="66" y="456"/>
      </p:cViewPr>
      <p:guideLst>
        <p:guide orient="horz" pos="217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78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package" Target="../embeddings/Workbook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353503255424"/>
                  <c:y val="-0.02255838759040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353503255424"/>
                  <c:y val="-0.05639596897600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02335503616003"/>
                  <c:y val="-0.02030254883136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ORGANIZATIONS ENGAGED IN TRAINING</c:v>
                </c:pt>
                <c:pt idx="1">
                  <c:v>TAILOR MADE TRAINING</c:v>
                </c:pt>
                <c:pt idx="2">
                  <c:v>Training claims received and processed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0.5126</c:v>
                </c:pt>
                <c:pt idx="1">
                  <c:v>1.0621</c:v>
                </c:pt>
                <c:pt idx="2">
                  <c:v>0.0329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2707006510848"/>
                  <c:y val="-0.03383758138560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225583875904001"/>
                  <c:y val="-0.05414013021696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225583875904001"/>
                  <c:y val="-0.03609342014464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ORGANIZATIONS ENGAGED IN TRAINING</c:v>
                </c:pt>
                <c:pt idx="1">
                  <c:v>TAILOR MADE TRAINING</c:v>
                </c:pt>
                <c:pt idx="2">
                  <c:v>Training claims received and processed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0.4882</c:v>
                </c:pt>
                <c:pt idx="1">
                  <c:v>1.0557</c:v>
                </c:pt>
                <c:pt idx="2">
                  <c:v>0.0002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14292192"/>
        <c:axId val="1814290016"/>
      </c:barChart>
      <c:catAx>
        <c:axId val="1814292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4290016"/>
        <c:crosses val="autoZero"/>
        <c:auto val="1"/>
        <c:lblAlgn val="ctr"/>
        <c:lblOffset val="100"/>
        <c:noMultiLvlLbl val="0"/>
      </c:catAx>
      <c:valAx>
        <c:axId val="181429001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142921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solidFill>
            <a:schemeClr val="bg1"/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83a6e38-4ba1-4be0-bafd-f8a0c1c4d82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1240711317472"/>
                  <c:y val="-0.05414013021696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57908713132801"/>
                  <c:y val="-0.06993100153024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EMPLOYERS TRAINING PROGS. APPROVED</c:v>
                </c:pt>
                <c:pt idx="1">
                  <c:v>EMPLOYERS TRAINING PROGS. MONITORED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0.1024</c:v>
                </c:pt>
                <c:pt idx="1">
                  <c:v>1.7132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225583875904"/>
                  <c:y val="-0.058651807735040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349655007651201"/>
                  <c:y val="-0.05639596897600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EMPLOYERS TRAINING PROGS. APPROVED</c:v>
                </c:pt>
                <c:pt idx="1">
                  <c:v>EMPLOYERS TRAINING PROGS. MONITORED</c:v>
                </c:pt>
              </c:strCache>
            </c:strRef>
          </c:cat>
          <c:val>
            <c:numRef>
              <c:f>Sheet1!$C$2:$C$3</c:f>
              <c:numCache>
                <c:formatCode>0.00%</c:formatCode>
                <c:ptCount val="2"/>
                <c:pt idx="0">
                  <c:v>0.2353</c:v>
                </c:pt>
                <c:pt idx="1">
                  <c:v>3.1069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14285664"/>
        <c:axId val="1814286752"/>
      </c:barChart>
      <c:catAx>
        <c:axId val="181428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4286752"/>
        <c:crosses val="autoZero"/>
        <c:auto val="1"/>
        <c:lblAlgn val="ctr"/>
        <c:lblOffset val="100"/>
        <c:noMultiLvlLbl val="0"/>
      </c:catAx>
      <c:valAx>
        <c:axId val="1814286752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1428566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44d324b-5820-4485-975d-a117d200b3d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80467100723201"/>
                  <c:y val="-0.03383758138560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76751627712006"/>
                  <c:y val="-0.03158174262656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12791937952"/>
                  <c:y val="-0.03834925890368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NO. OF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0.9396</c:v>
                </c:pt>
                <c:pt idx="1">
                  <c:v>0.463</c:v>
                </c:pt>
                <c:pt idx="2">
                  <c:v>0.5505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"/>
                  <c:y val="-0.03609342014464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338375813856001"/>
                  <c:y val="-0.03609342014464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349655007651201"/>
                  <c:y val="-0.04060509766272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NO. OF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0.886</c:v>
                </c:pt>
                <c:pt idx="1">
                  <c:v>0.5034</c:v>
                </c:pt>
                <c:pt idx="2">
                  <c:v>0.6147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14293280"/>
        <c:axId val="1814291648"/>
      </c:barChart>
      <c:catAx>
        <c:axId val="1814293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4291648"/>
        <c:crosses val="autoZero"/>
        <c:auto val="1"/>
        <c:lblAlgn val="ctr"/>
        <c:lblOffset val="100"/>
        <c:noMultiLvlLbl val="0"/>
      </c:catAx>
      <c:valAx>
        <c:axId val="1814291648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142932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f95efc0-ae4c-4694-812b-ddc6dd980ce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80467100723201"/>
                  <c:y val="-0.03383758138560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76751627712006"/>
                  <c:y val="-0.03158174262656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143046821088"/>
                  <c:y val="-0.03609342014464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NO. OF NEW PROGS. PROPOSED</c:v>
                </c:pt>
                <c:pt idx="1">
                  <c:v>NO. OF PACKAGES DEVELOPED</c:v>
                </c:pt>
                <c:pt idx="2">
                  <c:v>NO. OF PROGS. TEST-RUN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0.6667</c:v>
                </c:pt>
                <c:pt idx="1">
                  <c:v>0.3333</c:v>
                </c:pt>
                <c:pt idx="2">
                  <c:v>0.2464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"/>
                  <c:y val="-0.03609342014464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91746294518401"/>
                  <c:y val="-0.04060509766272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59421457289601"/>
                  <c:y val="-0.04060509766272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NO. OF NEW PROGS. PROPOSED</c:v>
                </c:pt>
                <c:pt idx="1">
                  <c:v>NO. OF PACKAGES DEVELOPED</c:v>
                </c:pt>
                <c:pt idx="2">
                  <c:v>NO. OF PROGS. TEST-RUN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0.4348</c:v>
                </c:pt>
                <c:pt idx="1">
                  <c:v>0.3913</c:v>
                </c:pt>
                <c:pt idx="2">
                  <c:v>0.2754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14287296"/>
        <c:axId val="1814297088"/>
      </c:barChart>
      <c:catAx>
        <c:axId val="1814287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4297088"/>
        <c:crosses val="autoZero"/>
        <c:auto val="1"/>
        <c:lblAlgn val="ctr"/>
        <c:lblOffset val="100"/>
        <c:noMultiLvlLbl val="0"/>
      </c:catAx>
      <c:valAx>
        <c:axId val="1814297088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1428729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e4fc722-a8a0-49bc-be0f-48c036b08fe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0338375813856001"/>
                  <c:y val="-0.03609342014464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563959689760006"/>
                  <c:y val="-0.02932590386752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25583875904"/>
                  <c:y val="-0.04286093642176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NO. OF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0.9697</c:v>
                </c:pt>
                <c:pt idx="1">
                  <c:v>0.5354</c:v>
                </c:pt>
                <c:pt idx="2">
                  <c:v>0.5253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248142263494401"/>
                  <c:y val="-0.03383758138560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203025488313601"/>
                  <c:y val="-0.04962845269888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349655007651201"/>
                  <c:y val="-0.04737261393984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NO. OF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0.9899</c:v>
                </c:pt>
                <c:pt idx="1">
                  <c:v>0.4848</c:v>
                </c:pt>
                <c:pt idx="2">
                  <c:v>0.5152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14293824"/>
        <c:axId val="1814294912"/>
      </c:barChart>
      <c:catAx>
        <c:axId val="1814293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4294912"/>
        <c:crosses val="autoZero"/>
        <c:auto val="1"/>
        <c:lblAlgn val="ctr"/>
        <c:lblOffset val="100"/>
        <c:noMultiLvlLbl val="0"/>
      </c:catAx>
      <c:valAx>
        <c:axId val="1814294912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1429382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a320c7b-4f5d-4c73-a515-4812c5292e1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0789543565664003"/>
                  <c:y val="-0.02255838759040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563959689760006"/>
                  <c:y val="-0.029325903867520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225583875904001"/>
                  <c:y val="-0.03834925890368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NO. OF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0.9831</c:v>
                </c:pt>
                <c:pt idx="1">
                  <c:v>0.5424</c:v>
                </c:pt>
                <c:pt idx="2">
                  <c:v>0.3729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0338375813855997"/>
                  <c:y val="-0.02707006510848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2255838759040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124071131747199"/>
                  <c:y val="-0.027070065108480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699535599178306"/>
                      <c:h val="0.0513091413869145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NO. OF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1.2034</c:v>
                </c:pt>
                <c:pt idx="1">
                  <c:v>0.7797</c:v>
                </c:pt>
                <c:pt idx="2">
                  <c:v>0.6441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14298720"/>
        <c:axId val="1814299264"/>
      </c:barChart>
      <c:catAx>
        <c:axId val="1814298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4299264"/>
        <c:crosses val="autoZero"/>
        <c:auto val="1"/>
        <c:lblAlgn val="ctr"/>
        <c:lblOffset val="100"/>
        <c:noMultiLvlLbl val="0"/>
      </c:catAx>
      <c:valAx>
        <c:axId val="181429926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1429872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df3c3d8-33c5-4d56-a345-5187473dec4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5714177032219"/>
          <c:y val="0.10047415300765"/>
          <c:w val="0.834301513941192"/>
          <c:h val="0.5603984337691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81159420289855"/>
                  <c:y val="-0.017511854974263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81159420289855"/>
                  <c:y val="-0.01167456998284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120772946859903"/>
                  <c:y val="-0.011674569982842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36231884057971"/>
                  <c:y val="-0.02626778246139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NO. OF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  <c:pt idx="3">
                  <c:v>EVALUATION AND TERMINATION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0.4899</c:v>
                </c:pt>
                <c:pt idx="1">
                  <c:v>0.5507</c:v>
                </c:pt>
                <c:pt idx="2">
                  <c:v>0.5652</c:v>
                </c:pt>
                <c:pt idx="3">
                  <c:v>0.3333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120772946859899"/>
                  <c:y val="-0.02043049746997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65700483091787"/>
                  <c:y val="-0.029186424957105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44927536231885"/>
                  <c:y val="-0.020430497469973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NO. OF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  <c:pt idx="3">
                  <c:v>EVALUATION AND TERMINATION</c:v>
                </c:pt>
              </c:strCache>
            </c:strRef>
          </c:cat>
          <c:val>
            <c:numRef>
              <c:f>Sheet1!$C$2:$C$5</c:f>
              <c:numCache>
                <c:formatCode>0.00%</c:formatCode>
                <c:ptCount val="4"/>
                <c:pt idx="0">
                  <c:v>0.4631</c:v>
                </c:pt>
                <c:pt idx="1">
                  <c:v>0.5797</c:v>
                </c:pt>
                <c:pt idx="2">
                  <c:v>0.5362</c:v>
                </c:pt>
                <c:pt idx="3">
                  <c:v>0.3478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14285120"/>
        <c:axId val="1814287840"/>
      </c:barChart>
      <c:catAx>
        <c:axId val="1814285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4287840"/>
        <c:crosses val="autoZero"/>
        <c:auto val="1"/>
        <c:lblAlgn val="ctr"/>
        <c:lblOffset val="100"/>
        <c:noMultiLvlLbl val="0"/>
      </c:catAx>
      <c:valAx>
        <c:axId val="181428784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1428512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4648d03-297e-4478-bf1f-29e1797e79e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5714177032219"/>
          <c:y val="0.10047415300765"/>
          <c:w val="0.834301513941192"/>
          <c:h val="0.5603984337691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93236714975845"/>
                  <c:y val="-0.011674569982842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08695652173913"/>
                  <c:y val="-0.02626778246139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69082125603865"/>
                  <c:y val="-0.017511854974263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36231884057971"/>
                  <c:y val="-0.02918642495710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NO. OF PPIT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  <c:pt idx="3">
                  <c:v>NUMBER OF FOLLOW-UP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0.7797</c:v>
                </c:pt>
                <c:pt idx="1">
                  <c:v>0.5763</c:v>
                </c:pt>
                <c:pt idx="2">
                  <c:v>0.3898</c:v>
                </c:pt>
                <c:pt idx="3">
                  <c:v>0.1356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0241545893719807"/>
                  <c:y val="-0.020430497469973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72463768115942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120772946859902"/>
                  <c:y val="-0.02334913996568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289855072463767"/>
                  <c:y val="-0.017511854974263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NO. OF PPIT SURVEYS CONDUCTED</c:v>
                </c:pt>
                <c:pt idx="1">
                  <c:v>NO. OF PACKAGES DEVELOPED</c:v>
                </c:pt>
                <c:pt idx="2">
                  <c:v>NO. OF INTERVENTIONS IMPLEMENTED</c:v>
                </c:pt>
                <c:pt idx="3">
                  <c:v>NUMBER OF FOLLOW-UP</c:v>
                </c:pt>
              </c:strCache>
            </c:strRef>
          </c:cat>
          <c:val>
            <c:numRef>
              <c:f>Sheet1!$C$2:$C$5</c:f>
              <c:numCache>
                <c:formatCode>0.00%</c:formatCode>
                <c:ptCount val="4"/>
                <c:pt idx="0">
                  <c:v>1.0339</c:v>
                </c:pt>
                <c:pt idx="1">
                  <c:v>0.5763</c:v>
                </c:pt>
                <c:pt idx="2">
                  <c:v>0.4746</c:v>
                </c:pt>
                <c:pt idx="3">
                  <c:v>0.2712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3598480"/>
        <c:axId val="1843593040"/>
      </c:barChart>
      <c:catAx>
        <c:axId val="1843598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3593040"/>
        <c:crosses val="autoZero"/>
        <c:auto val="1"/>
        <c:lblAlgn val="ctr"/>
        <c:lblOffset val="100"/>
        <c:noMultiLvlLbl val="0"/>
      </c:catAx>
      <c:valAx>
        <c:axId val="184359304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435984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e5fed5a-9726-47c1-b8b6-7af3c607458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5714177032219"/>
          <c:y val="0.10047415300765"/>
          <c:w val="0.834301513941192"/>
          <c:h val="0.5603984337691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81159420289855"/>
                  <c:y val="-0.029098528289059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69082125603865"/>
                  <c:y val="-0.020254888521100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144927536231883"/>
                  <c:y val="-0.053786270346779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SCHEDULED PROGRAMMES</c:v>
                </c:pt>
                <c:pt idx="1">
                  <c:v>UNSCHEDULED PROGRAMMES</c:v>
                </c:pt>
                <c:pt idx="2">
                  <c:v>Learning and Development Professional Certification (Innovative Master Trainers Workshop)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0.8758</c:v>
                </c:pt>
                <c:pt idx="1">
                  <c:v>1.1103</c:v>
                </c:pt>
                <c:pt idx="2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277777777777778"/>
                  <c:y val="-0.042462845010615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241545893719807"/>
                  <c:y val="-0.031139419674451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9855072463769"/>
                  <c:y val="-0.050955414012738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SCHEDULED PROGRAMMES</c:v>
                </c:pt>
                <c:pt idx="1">
                  <c:v>UNSCHEDULED PROGRAMMES</c:v>
                </c:pt>
                <c:pt idx="2">
                  <c:v>Learning and Development Professional Certification (Innovative Master Trainers Workshop)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0.6443</c:v>
                </c:pt>
                <c:pt idx="1">
                  <c:v>1.0588</c:v>
                </c:pt>
                <c:pt idx="2">
                  <c:v>0.425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3591952"/>
        <c:axId val="1843603376"/>
      </c:barChart>
      <c:catAx>
        <c:axId val="1843591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3603376"/>
        <c:crosses val="autoZero"/>
        <c:auto val="1"/>
        <c:lblAlgn val="ctr"/>
        <c:lblOffset val="100"/>
        <c:noMultiLvlLbl val="0"/>
      </c:catAx>
      <c:valAx>
        <c:axId val="1843603376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4359195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c046465-3953-4b39-9115-96c714a41fa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75714177032219"/>
          <c:y val="0"/>
          <c:w val="0.834301513941192"/>
          <c:h val="0.7789995040428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81159420289855"/>
                  <c:y val="-0.029098528289059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69082125603865"/>
                  <c:y val="-0.020254888521100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616190888298863"/>
                  <c:y val="-0.040678959716022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SCHEDULED PROGRAMMES</c:v>
                </c:pt>
                <c:pt idx="1">
                  <c:v>UNSCHEDULED PROGRAMMES</c:v>
                </c:pt>
                <c:pt idx="2">
                  <c:v>NEWLY DEVELOPED PROGRAMMES</c:v>
                </c:pt>
                <c:pt idx="3">
                  <c:v>PROGRAMMES/PACKAGES REVIEWED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0.7272</c:v>
                </c:pt>
                <c:pt idx="1">
                  <c:v>2.1</c:v>
                </c:pt>
                <c:pt idx="2">
                  <c:v>0.6</c:v>
                </c:pt>
                <c:pt idx="3" c:formatCode="0%">
                  <c:v>1.1333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230454249509369"/>
                  <c:y val="-0.050955414012738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99644705094426"/>
                  <c:y val="-0.0353855927244763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945124800928884"/>
                      <c:h val="0.0558953697666772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282707543941608"/>
                  <c:y val="-0.05944798301486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SCHEDULED PROGRAMMES</c:v>
                </c:pt>
                <c:pt idx="1">
                  <c:v>UNSCHEDULED PROGRAMMES</c:v>
                </c:pt>
                <c:pt idx="2">
                  <c:v>NEWLY DEVELOPED PROGRAMMES</c:v>
                </c:pt>
                <c:pt idx="3">
                  <c:v>PROGRAMMES/PACKAGES REVIEWED</c:v>
                </c:pt>
              </c:strCache>
            </c:strRef>
          </c:cat>
          <c:val>
            <c:numRef>
              <c:f>Sheet1!$C$2:$C$5</c:f>
              <c:numCache>
                <c:formatCode>0.00%</c:formatCode>
                <c:ptCount val="4"/>
                <c:pt idx="0">
                  <c:v>1.3636</c:v>
                </c:pt>
                <c:pt idx="1">
                  <c:v>1.5333</c:v>
                </c:pt>
                <c:pt idx="2">
                  <c:v>0.2333</c:v>
                </c:pt>
                <c:pt idx="3" c:formatCode="0%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3595760"/>
        <c:axId val="1843602288"/>
      </c:barChart>
      <c:catAx>
        <c:axId val="1843595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3602288"/>
        <c:crosses val="autoZero"/>
        <c:auto val="1"/>
        <c:lblAlgn val="ctr"/>
        <c:lblOffset val="100"/>
        <c:noMultiLvlLbl val="0"/>
      </c:catAx>
      <c:valAx>
        <c:axId val="1843602288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4359576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324d6fe-1824-461c-b202-2a0b4ad2636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93236714975846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57004830917874"/>
                  <c:y val="-0.032105067452815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69082125603866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169082125603865"/>
                  <c:y val="-0.02626778246139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Number of Vocational Centres Identified for Accreditation</c:v>
                </c:pt>
                <c:pt idx="1">
                  <c:v>Number of Vocational Centres Accredited</c:v>
                </c:pt>
                <c:pt idx="2">
                  <c:v>Number of Centres that attended Effective Trainers Workshop</c:v>
                </c:pt>
                <c:pt idx="3">
                  <c:v>Number of National Occupational Standards Developed</c:v>
                </c:pt>
                <c:pt idx="4">
                  <c:v>Number of Trainees Certified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0.518</c:v>
                </c:pt>
                <c:pt idx="1">
                  <c:v>1.295</c:v>
                </c:pt>
                <c:pt idx="2">
                  <c:v>0.5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177360460871856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265700483091787"/>
                  <c:y val="-0.017511854974263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8.85658045775304e-17"/>
                  <c:y val="-0.035023709948526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20772946859903"/>
                  <c:y val="-0.02918642495710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Number of Vocational Centres Identified for Accreditation</c:v>
                </c:pt>
                <c:pt idx="1">
                  <c:v>Number of Vocational Centres Accredited</c:v>
                </c:pt>
                <c:pt idx="2">
                  <c:v>Number of Centres that attended Effective Trainers Workshop</c:v>
                </c:pt>
                <c:pt idx="3">
                  <c:v>Number of National Occupational Standards Developed</c:v>
                </c:pt>
                <c:pt idx="4">
                  <c:v>Number of Trainees Certified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0</c:v>
                </c:pt>
                <c:pt idx="1">
                  <c:v>4.04</c:v>
                </c:pt>
                <c:pt idx="2">
                  <c:v>0.0188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3602832"/>
        <c:axId val="1843600112"/>
      </c:barChart>
      <c:catAx>
        <c:axId val="1843602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3600112"/>
        <c:crosses val="autoZero"/>
        <c:auto val="1"/>
        <c:lblAlgn val="ctr"/>
        <c:lblOffset val="100"/>
        <c:noMultiLvlLbl val="0"/>
      </c:catAx>
      <c:valAx>
        <c:axId val="1843600112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4360283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80cc75a-34f2-44ec-9999-9e4adeb3dc0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193236714975846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57004830917874"/>
                  <c:y val="-0.032105067452815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69082125603866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169082125603865"/>
                  <c:y val="-0.02626778246139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APPRASAL</c:v>
                </c:pt>
                <c:pt idx="1">
                  <c:v>INSTALLATION</c:v>
                </c:pt>
                <c:pt idx="2">
                  <c:v>HARMONIZATION</c:v>
                </c:pt>
                <c:pt idx="3">
                  <c:v>MONITORING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1.1746</c:v>
                </c:pt>
                <c:pt idx="1">
                  <c:v>1.8986</c:v>
                </c:pt>
                <c:pt idx="2">
                  <c:v>1.3478</c:v>
                </c:pt>
                <c:pt idx="3">
                  <c:v>0.4362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"/>
                  <c:y val="-0.0145932124785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265700483091787"/>
                  <c:y val="-0.017511854974263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8.85658045775304e-17"/>
                  <c:y val="-0.035023709948526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362318840579708"/>
                  <c:y val="-0.0656694561534867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 Black" panose="020B0A04020102020204" pitchFamily="34" charset="0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749033816425121"/>
                      <c:h val="0.092652420933515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APPRASAL</c:v>
                </c:pt>
                <c:pt idx="1">
                  <c:v>INSTALLATION</c:v>
                </c:pt>
                <c:pt idx="2">
                  <c:v>HARMONIZATION</c:v>
                </c:pt>
                <c:pt idx="3">
                  <c:v>MONITORING</c:v>
                </c:pt>
              </c:strCache>
            </c:strRef>
          </c:cat>
          <c:val>
            <c:numRef>
              <c:f>Sheet1!$C$2:$C$5</c:f>
              <c:numCache>
                <c:formatCode>0.00%</c:formatCode>
                <c:ptCount val="4"/>
                <c:pt idx="0">
                  <c:v>0.9735</c:v>
                </c:pt>
                <c:pt idx="1">
                  <c:v>0.7971</c:v>
                </c:pt>
                <c:pt idx="2">
                  <c:v>0.942</c:v>
                </c:pt>
                <c:pt idx="3">
                  <c:v>0.6644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3594672"/>
        <c:axId val="1843601744"/>
      </c:barChart>
      <c:catAx>
        <c:axId val="1843594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3601744"/>
        <c:crosses val="autoZero"/>
        <c:auto val="1"/>
        <c:lblAlgn val="ctr"/>
        <c:lblOffset val="100"/>
        <c:noMultiLvlLbl val="0"/>
      </c:catAx>
      <c:valAx>
        <c:axId val="184360174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435946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a4528a3-4dce-4b79-ad1f-2c144761ad8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80950207311"/>
          <c:y val="0"/>
          <c:w val="0.878528662178097"/>
          <c:h val="0.5990849251425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253623188405797"/>
                  <c:y val="-0.0058372849914210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205314009661836"/>
                  <c:y val="-0.02918642495710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89855072463769"/>
                  <c:y val="-0.002918642495710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241545893719808"/>
                  <c:y val="-0.0058372849914210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EMPLOYERS REGISTERED TO 30TH JUNE </c:v>
                </c:pt>
                <c:pt idx="1">
                  <c:v>NO. OF EMPLOYERS CONTRIBUTING</c:v>
                </c:pt>
                <c:pt idx="2">
                  <c:v>NO. OF EMPLOYERS DEFAULTING</c:v>
                </c:pt>
                <c:pt idx="3">
                  <c:v>NO. OF EMPLOYERS ACCOUNTS VERIFIED</c:v>
                </c:pt>
                <c:pt idx="4">
                  <c:v>NO. OF NEW COMPANIES DISCOVERED</c:v>
                </c:pt>
                <c:pt idx="5">
                  <c:v>NO. OF NEW COMPANIES REGISTERED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1.3727</c:v>
                </c:pt>
                <c:pt idx="1">
                  <c:v>0.425</c:v>
                </c:pt>
                <c:pt idx="2">
                  <c:v>0</c:v>
                </c:pt>
                <c:pt idx="3">
                  <c:v>0.0509</c:v>
                </c:pt>
                <c:pt idx="4">
                  <c:v>4.1567</c:v>
                </c:pt>
                <c:pt idx="5">
                  <c:v>4.1567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35024154589372"/>
                  <c:y val="-0.035023709948526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217391304347826"/>
                  <c:y val="-0.052535564922789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05314009661835"/>
                  <c:y val="-0.046698279931368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72463768115942"/>
                  <c:y val="-0.058372849914210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241545893719816"/>
                  <c:y val="-0.02334913996568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603864734299517"/>
                  <c:y val="-0.026267782461394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EMPLOYERS REGISTERED TO 30TH JUNE </c:v>
                </c:pt>
                <c:pt idx="1">
                  <c:v>NO. OF EMPLOYERS CONTRIBUTING</c:v>
                </c:pt>
                <c:pt idx="2">
                  <c:v>NO. OF EMPLOYERS DEFAULTING</c:v>
                </c:pt>
                <c:pt idx="3">
                  <c:v>NO. OF EMPLOYERS ACCOUNTS VERIFIED</c:v>
                </c:pt>
                <c:pt idx="4">
                  <c:v>NO. OF NEW COMPANIES DISCOVERED</c:v>
                </c:pt>
                <c:pt idx="5">
                  <c:v>NO. OF NEW COMPANIES REGISTERED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1.5636</c:v>
                </c:pt>
                <c:pt idx="1">
                  <c:v>0.6284</c:v>
                </c:pt>
                <c:pt idx="2">
                  <c:v>0</c:v>
                </c:pt>
                <c:pt idx="3">
                  <c:v>0.0332</c:v>
                </c:pt>
                <c:pt idx="4">
                  <c:v>4.5517</c:v>
                </c:pt>
                <c:pt idx="5">
                  <c:v>4.5517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3596848"/>
        <c:axId val="1843589232"/>
      </c:barChart>
      <c:catAx>
        <c:axId val="1843596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rgbClr val="000000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3589232"/>
        <c:crosses val="autoZero"/>
        <c:auto val="1"/>
        <c:lblAlgn val="ctr"/>
        <c:lblOffset val="100"/>
        <c:noMultiLvlLbl val="0"/>
      </c:catAx>
      <c:valAx>
        <c:axId val="1843589232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  <c:crossAx val="184359684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4eb7267-1b81-4728-9381-50655fe0058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0.0205314009661836"/>
                  <c:y val="-0.002918642495710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229468599033816"/>
                  <c:y val="-0.0058372849914210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93236714975846"/>
                  <c:y val="-0.008755927487131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Training Contribution</c:v>
                </c:pt>
                <c:pt idx="1">
                  <c:v>Course Fee</c:v>
                </c:pt>
                <c:pt idx="2">
                  <c:v>Other Income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1.2597</c:v>
                </c:pt>
                <c:pt idx="1">
                  <c:v>0.81</c:v>
                </c:pt>
                <c:pt idx="2">
                  <c:v>0.7288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.0169082125603864"/>
                  <c:y val="-0.011674569982842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72463768115942"/>
                  <c:y val="-0.011674569982842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144927536231884"/>
                  <c:y val="-0.052535564922789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Training Contribution</c:v>
                </c:pt>
                <c:pt idx="1">
                  <c:v>Course Fee</c:v>
                </c:pt>
                <c:pt idx="2">
                  <c:v>Other Income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1.1069</c:v>
                </c:pt>
                <c:pt idx="1">
                  <c:v>0.523</c:v>
                </c:pt>
                <c:pt idx="2">
                  <c:v>0.0544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3590864"/>
        <c:axId val="1843597392"/>
      </c:barChart>
      <c:catAx>
        <c:axId val="1843590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3597392"/>
        <c:crosses val="autoZero"/>
        <c:auto val="1"/>
        <c:lblAlgn val="ctr"/>
        <c:lblOffset val="100"/>
        <c:noMultiLvlLbl val="0"/>
      </c:catAx>
      <c:valAx>
        <c:axId val="1843597392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4359086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d57c49b-b1df-4bea-b47e-55f0a53b94d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3038649" cy="466725"/>
          </a:xfrm>
          <a:prstGeom prst="rect">
            <a:avLst/>
          </a:prstGeom>
        </p:spPr>
        <p:txBody>
          <a:bodyPr vert="horz" lIns="92144" tIns="46072" rIns="92144" bIns="4607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6" y="4"/>
            <a:ext cx="3038648" cy="466725"/>
          </a:xfrm>
          <a:prstGeom prst="rect">
            <a:avLst/>
          </a:prstGeom>
        </p:spPr>
        <p:txBody>
          <a:bodyPr vert="horz" lIns="92144" tIns="46072" rIns="92144" bIns="46072" rtlCol="0"/>
          <a:lstStyle>
            <a:lvl1pPr algn="r">
              <a:defRPr sz="1300"/>
            </a:lvl1pPr>
          </a:lstStyle>
          <a:p>
            <a:fld id="{97A0745A-FB58-4F95-B051-39E0B6D431C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829680"/>
            <a:ext cx="3038649" cy="466725"/>
          </a:xfrm>
          <a:prstGeom prst="rect">
            <a:avLst/>
          </a:prstGeom>
        </p:spPr>
        <p:txBody>
          <a:bodyPr vert="horz" lIns="92144" tIns="46072" rIns="92144" bIns="4607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6" y="8829680"/>
            <a:ext cx="3038648" cy="466725"/>
          </a:xfrm>
          <a:prstGeom prst="rect">
            <a:avLst/>
          </a:prstGeom>
        </p:spPr>
        <p:txBody>
          <a:bodyPr vert="horz" lIns="92144" tIns="46072" rIns="92144" bIns="46072" rtlCol="0" anchor="b"/>
          <a:lstStyle>
            <a:lvl1pPr algn="r">
              <a:defRPr sz="1300"/>
            </a:lvl1pPr>
          </a:lstStyle>
          <a:p>
            <a:fld id="{97E14528-FBFE-482F-8AF4-BB4830DB20E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37840" cy="466434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6434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sz="1300"/>
            </a:lvl1pPr>
          </a:lstStyle>
          <a:p>
            <a:fld id="{C472CFB3-4041-46C9-AE69-D2C0C4A13CB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2050"/>
            <a:ext cx="5573712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80" rIns="93159" bIns="465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3"/>
            <a:ext cx="5608320" cy="3660458"/>
          </a:xfrm>
          <a:prstGeom prst="rect">
            <a:avLst/>
          </a:prstGeom>
        </p:spPr>
        <p:txBody>
          <a:bodyPr vert="horz" lIns="93159" tIns="46580" rIns="93159" bIns="4658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72"/>
            <a:ext cx="3037840" cy="466433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72"/>
            <a:ext cx="3037840" cy="466433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sz="1300"/>
            </a:lvl1pPr>
          </a:lstStyle>
          <a:p>
            <a:fld id="{A4480885-5E4E-4DEE-BFCD-BDD8A9D051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689C5-4773-42E9-ACB0-8731FE1C502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6F30D-907F-4762-8137-3D7E022C6DE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DAD0DC-F4C1-454A-8C8A-FAF6C0AB91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689C5-4773-42E9-ACB0-8731FE1C502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689C5-4773-42E9-ACB0-8731FE1C502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80885-5E4E-4DEE-BFCD-BDD8A9D051F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8BEB-DE5D-4A65-9DFF-DB5527D62AF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7336-F92F-4BC2-84D8-C4A9069116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C913E-12A4-409D-BDA7-6F47B50E19F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895F-D947-40F5-ACE4-2C8C6D80267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ED58-7E8C-410F-BC9F-E2542138CA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80F63-EA3E-4ABD-B703-80F1CA1EEAA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11922-3866-4271-B001-A7C81F8D08C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3E66-3B0F-467E-ACD9-C151CBC43FD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71EA-EC0A-4878-BEDE-EA4C0691EB4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72035-4702-4C81-B0B0-ECF3F443C72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0EBCF-3C48-42DC-AB24-8CEBDF0529D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9EE62-0744-4460-A116-4BA4EF7C42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6F188-32B8-47A2-B323-867F206814E7}" type="slidenum">
              <a:rPr lang="en-US" smtClean="0"/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-5443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6200" y="76200"/>
              <a:ext cx="12028714" cy="6694714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5058" y="174172"/>
              <a:ext cx="11811000" cy="6477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9381" y="185738"/>
            <a:ext cx="822036" cy="822036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6645728"/>
            <a:ext cx="12192000" cy="2122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1" dirty="0">
                <a:solidFill>
                  <a:prstClr val="white"/>
                </a:solidFill>
                <a:latin typeface="Monotype Corsiva" panose="03010101010201010101" pitchFamily="66" charset="0"/>
              </a:rPr>
              <a:t>    ITF… Developing the Nation’s Human Resource</a:t>
            </a:r>
            <a:r>
              <a:rPr lang="en-US" sz="1400" dirty="0">
                <a:solidFill>
                  <a:prstClr val="white"/>
                </a:solidFill>
              </a:rPr>
              <a:t>						                 	                www.itf.gov.ng</a:t>
            </a:r>
            <a:endParaRPr lang="en-GB" sz="1400" dirty="0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047" y="584200"/>
            <a:ext cx="10860741" cy="55927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8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PART ONE</a:t>
            </a:r>
            <a:endParaRPr lang="en-US" sz="96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n-US" sz="9600" dirty="0">
                <a:latin typeface="Aharoni" panose="02010803020104030203" pitchFamily="2" charset="-79"/>
                <a:cs typeface="Aharoni" panose="02010803020104030203" pitchFamily="2" charset="-79"/>
              </a:rPr>
              <a:t>CORPORATE PERFORMANCE REPORT</a:t>
            </a:r>
            <a:endParaRPr lang="en-US" sz="9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D944C-C7AB-4FA0-96DB-398BAC366C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4294967295"/>
          </p:nvPr>
        </p:nvSpPr>
        <p:spPr>
          <a:xfrm>
            <a:off x="252662" y="1784350"/>
            <a:ext cx="10262937" cy="4351338"/>
          </a:xfrm>
        </p:spPr>
        <p:txBody>
          <a:bodyPr>
            <a:normAutofit/>
          </a:bodyPr>
          <a:lstStyle/>
          <a:p>
            <a:pPr marL="342900" indent="-342900" algn="just"/>
            <a:r>
              <a:rPr lang="en-US" sz="3500" dirty="0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Training Activities,</a:t>
            </a:r>
            <a:endParaRPr lang="en-US" sz="3500" dirty="0">
              <a:solidFill>
                <a:schemeClr val="tx1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342900" indent="-342900" algn="just"/>
            <a:r>
              <a:rPr lang="en-US" sz="3500" dirty="0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Training Contribution and</a:t>
            </a:r>
            <a:endParaRPr lang="en-US" sz="3500" dirty="0">
              <a:solidFill>
                <a:schemeClr val="tx1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342900" indent="-342900" algn="just"/>
            <a:r>
              <a:rPr lang="en-US" sz="3500" dirty="0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Support Services</a:t>
            </a:r>
            <a:endParaRPr lang="en-US" sz="3500" dirty="0">
              <a:solidFill>
                <a:schemeClr val="tx1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342900" indent="-342900" algn="just"/>
            <a:endParaRPr lang="en-US" sz="3500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3500" dirty="0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Please note that, the Key Result Areas listed below are derived from the aforementioned.</a:t>
            </a:r>
            <a:endParaRPr lang="en-US" sz="3500" dirty="0">
              <a:solidFill>
                <a:schemeClr val="tx1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984917" y="535258"/>
            <a:ext cx="7939668" cy="634729"/>
          </a:xfrm>
          <a:prstGeom prst="rect">
            <a:avLst/>
          </a:prstGeom>
          <a:solidFill>
            <a:srgbClr val="C000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AREAS OF ASSESSMENT</a:t>
            </a:r>
            <a:endParaRPr lang="en-GB" altLang="en-US" sz="4000" dirty="0">
              <a:solidFill>
                <a:schemeClr val="bg1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16568" y="1770063"/>
            <a:ext cx="10299032" cy="4351337"/>
          </a:xfrm>
        </p:spPr>
        <p:txBody>
          <a:bodyPr>
            <a:normAutofit/>
          </a:bodyPr>
          <a:lstStyle/>
          <a:p>
            <a:pPr marL="330200" indent="-330200" defTabSz="865505">
              <a:buFont typeface="+mj-lt"/>
              <a:buAutoNum type="arabicParenR"/>
              <a:defRPr/>
            </a:pPr>
            <a:r>
              <a:rPr lang="en-US" sz="3600" dirty="0">
                <a:latin typeface="Garamond" panose="02020404030301010803" pitchFamily="18" charset="0"/>
              </a:rPr>
              <a:t> </a:t>
            </a:r>
            <a:r>
              <a:rPr lang="en-US" sz="3700" dirty="0">
                <a:latin typeface="Garamond" panose="02020404030301010803" pitchFamily="18" charset="0"/>
              </a:rPr>
              <a:t>Promoting Training Consciousness;</a:t>
            </a:r>
            <a:endParaRPr lang="en-US" sz="3700" dirty="0">
              <a:latin typeface="Garamond" panose="02020404030301010803" pitchFamily="18" charset="0"/>
            </a:endParaRPr>
          </a:p>
          <a:p>
            <a:pPr marL="330200" indent="-330200" defTabSz="865505">
              <a:buFont typeface="+mj-lt"/>
              <a:buAutoNum type="arabicParenR"/>
              <a:defRPr/>
            </a:pPr>
            <a:r>
              <a:rPr lang="en-US" sz="3700" dirty="0">
                <a:latin typeface="Garamond" panose="02020404030301010803" pitchFamily="18" charset="0"/>
              </a:rPr>
              <a:t> Encouraging Training;</a:t>
            </a:r>
            <a:endParaRPr lang="en-US" sz="3700" dirty="0">
              <a:latin typeface="Garamond" panose="02020404030301010803" pitchFamily="18" charset="0"/>
            </a:endParaRPr>
          </a:p>
          <a:p>
            <a:pPr marL="330200" indent="-330200" defTabSz="865505">
              <a:buFont typeface="+mj-lt"/>
              <a:buAutoNum type="arabicParenR"/>
              <a:defRPr/>
            </a:pPr>
            <a:r>
              <a:rPr lang="en-US" sz="3700" dirty="0">
                <a:latin typeface="Garamond" panose="02020404030301010803" pitchFamily="18" charset="0"/>
              </a:rPr>
              <a:t> Providing Training in Management, Technical Vocational and Entrepreneurial Skills;</a:t>
            </a:r>
            <a:endParaRPr lang="en-US" sz="3700" dirty="0">
              <a:latin typeface="Garamond" panose="02020404030301010803" pitchFamily="18" charset="0"/>
            </a:endParaRPr>
          </a:p>
          <a:p>
            <a:pPr marL="330200" indent="-330200" defTabSz="865505">
              <a:buFont typeface="+mj-lt"/>
              <a:buAutoNum type="arabicParenR"/>
              <a:defRPr/>
            </a:pPr>
            <a:r>
              <a:rPr lang="en-US" sz="3700" dirty="0">
                <a:latin typeface="Garamond" panose="02020404030301010803" pitchFamily="18" charset="0"/>
              </a:rPr>
              <a:t> Standardizing and Certifying Training;</a:t>
            </a:r>
            <a:endParaRPr lang="en-US" sz="3700" dirty="0">
              <a:latin typeface="Garamond" panose="02020404030301010803" pitchFamily="18" charset="0"/>
            </a:endParaRPr>
          </a:p>
          <a:p>
            <a:pPr marL="330200" indent="-330200" defTabSz="865505">
              <a:buFont typeface="+mj-lt"/>
              <a:buAutoNum type="arabicParenR"/>
              <a:defRPr/>
            </a:pPr>
            <a:r>
              <a:rPr lang="en-US" sz="3700" dirty="0">
                <a:latin typeface="Garamond" panose="02020404030301010803" pitchFamily="18" charset="0"/>
              </a:rPr>
              <a:t> Managing and Administering Students’ Industrial Work Experience Scheme (SIWES).</a:t>
            </a:r>
            <a:endParaRPr lang="en-US" sz="3700" dirty="0">
              <a:latin typeface="Garamond" panose="02020404030301010803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2174488" y="479502"/>
            <a:ext cx="7605132" cy="680226"/>
          </a:xfrm>
          <a:prstGeom prst="rect">
            <a:avLst/>
          </a:prstGeom>
          <a:solidFill>
            <a:srgbClr val="C000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dirty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KEY RESULT AREAS (KRAs)</a:t>
            </a:r>
            <a:endParaRPr lang="en-GB" altLang="en-US" dirty="0">
              <a:solidFill>
                <a:schemeClr val="bg1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0632" y="1811338"/>
            <a:ext cx="10274968" cy="4351337"/>
          </a:xfrm>
        </p:spPr>
        <p:txBody>
          <a:bodyPr>
            <a:noAutofit/>
          </a:bodyPr>
          <a:lstStyle/>
          <a:p>
            <a:pPr marL="0" indent="0" defTabSz="865505">
              <a:buNone/>
              <a:defRPr/>
            </a:pPr>
            <a:r>
              <a:rPr lang="en-US" sz="3600" dirty="0">
                <a:solidFill>
                  <a:prstClr val="black"/>
                </a:solidFill>
                <a:latin typeface="Garamond" panose="02020404030301010803" pitchFamily="18" charset="0"/>
              </a:rPr>
              <a:t>6)	</a:t>
            </a:r>
            <a:r>
              <a:rPr lang="en-US" sz="3700" dirty="0">
                <a:solidFill>
                  <a:prstClr val="black"/>
                </a:solidFill>
                <a:latin typeface="Garamond" panose="02020404030301010803" pitchFamily="18" charset="0"/>
              </a:rPr>
              <a:t>Special Interventions;</a:t>
            </a:r>
            <a:endParaRPr lang="en-US" sz="3700" dirty="0">
              <a:solidFill>
                <a:prstClr val="black"/>
              </a:solidFill>
              <a:latin typeface="Garamond" panose="02020404030301010803" pitchFamily="18" charset="0"/>
            </a:endParaRPr>
          </a:p>
          <a:p>
            <a:pPr marL="0" indent="0" defTabSz="865505">
              <a:buNone/>
              <a:defRPr/>
            </a:pPr>
            <a:r>
              <a:rPr lang="en-US" sz="3700" dirty="0">
                <a:solidFill>
                  <a:prstClr val="black"/>
                </a:solidFill>
                <a:latin typeface="Garamond" panose="02020404030301010803" pitchFamily="18" charset="0"/>
              </a:rPr>
              <a:t>7)	Administrative and Human Resource Support  	Services;</a:t>
            </a:r>
            <a:endParaRPr lang="en-US" sz="3700" dirty="0">
              <a:solidFill>
                <a:prstClr val="black"/>
              </a:solidFill>
              <a:latin typeface="Garamond" panose="02020404030301010803" pitchFamily="18" charset="0"/>
            </a:endParaRPr>
          </a:p>
          <a:p>
            <a:pPr marL="0" indent="0" defTabSz="865505">
              <a:buNone/>
              <a:defRPr/>
            </a:pPr>
            <a:r>
              <a:rPr lang="en-US" sz="3700" dirty="0">
                <a:latin typeface="Garamond" panose="02020404030301010803" pitchFamily="18" charset="0"/>
              </a:rPr>
              <a:t>8)	Financial and Audit Support Services;</a:t>
            </a:r>
            <a:endParaRPr lang="en-US" sz="3700" dirty="0">
              <a:latin typeface="Garamond" panose="02020404030301010803" pitchFamily="18" charset="0"/>
            </a:endParaRPr>
          </a:p>
          <a:p>
            <a:pPr marL="742950" indent="-742950" defTabSz="865505">
              <a:buAutoNum type="arabicParenR" startAt="9"/>
              <a:defRPr/>
            </a:pPr>
            <a:r>
              <a:rPr lang="en-US" sz="3700" dirty="0">
                <a:latin typeface="Garamond" panose="02020404030301010803" pitchFamily="18" charset="0"/>
              </a:rPr>
              <a:t>Procurement, Public Relations, Legal </a:t>
            </a:r>
            <a:endParaRPr lang="en-US" sz="3700" dirty="0">
              <a:latin typeface="Garamond" panose="02020404030301010803" pitchFamily="18" charset="0"/>
            </a:endParaRPr>
          </a:p>
          <a:p>
            <a:pPr marL="0" indent="0" defTabSz="865505">
              <a:buNone/>
              <a:defRPr/>
            </a:pPr>
            <a:r>
              <a:rPr lang="en-US" sz="3700" dirty="0">
                <a:latin typeface="Garamond" panose="02020404030301010803" pitchFamily="18" charset="0"/>
              </a:rPr>
              <a:t>       and SERVICOM Support Services;</a:t>
            </a:r>
            <a:endParaRPr lang="en-US" sz="3700" dirty="0">
              <a:latin typeface="Garamond" panose="02020404030301010803" pitchFamily="18" charset="0"/>
            </a:endParaRPr>
          </a:p>
          <a:p>
            <a:pPr marL="0" indent="0" defTabSz="865505">
              <a:buNone/>
              <a:defRPr/>
            </a:pPr>
            <a:r>
              <a:rPr lang="en-US" sz="3700" dirty="0">
                <a:latin typeface="Garamond" panose="02020404030301010803" pitchFamily="18" charset="0"/>
              </a:rPr>
              <a:t>10)	Planning, Control and Data Bank.</a:t>
            </a:r>
            <a:endParaRPr lang="en-US" sz="3700" dirty="0">
              <a:latin typeface="Garamond" panose="02020404030301010803" pitchFamily="18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2174488" y="479502"/>
            <a:ext cx="7605132" cy="680226"/>
          </a:xfrm>
          <a:prstGeom prst="rect">
            <a:avLst/>
          </a:prstGeom>
          <a:solidFill>
            <a:srgbClr val="C00000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dirty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KEY RESULT AREAS (KRAs)…</a:t>
            </a:r>
            <a:endParaRPr lang="en-GB" altLang="en-US" dirty="0">
              <a:solidFill>
                <a:schemeClr val="bg1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18624" y="278890"/>
          <a:ext cx="11536490" cy="622081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52825"/>
                <a:gridCol w="2060535"/>
                <a:gridCol w="1311935"/>
                <a:gridCol w="1629108"/>
                <a:gridCol w="1470521"/>
                <a:gridCol w="1211018"/>
                <a:gridCol w="1744443"/>
                <a:gridCol w="1456105"/>
              </a:tblGrid>
              <a:tr h="1046535">
                <a:tc gridSpan="8">
                  <a:txBody>
                    <a:bodyPr/>
                    <a:lstStyle/>
                    <a:p>
                      <a:pPr marL="2225675" marR="0" indent="-1371600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28800" algn="l"/>
                        </a:tabLst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2225675" marR="0" indent="-1371600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28800" algn="l"/>
                        </a:tabLst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676650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1: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PROMOTING</a:t>
                      </a: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 TRAINING CONSCIOUSNESS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60268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20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20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6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dirty="0"/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783371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20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20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20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20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</a:tr>
              <a:tr h="1114951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6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Number of Organizations Engaged in Training</a:t>
                      </a:r>
                      <a:endParaRPr lang="en-US" sz="18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19,800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10,150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51.26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Arial Black" panose="020B0A04020102020204" pitchFamily="34" charset="0"/>
                        </a:rPr>
                        <a:t>19,800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9,667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48.82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27333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Number of Request for Tailor-made programmes</a:t>
                      </a:r>
                      <a:endParaRPr lang="en-US" sz="1800" baseline="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467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496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106.21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Arial Black" panose="020B0A04020102020204" pitchFamily="34" charset="0"/>
                        </a:rPr>
                        <a:t>467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493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105.57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62733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Number of Training Claims Received</a:t>
                      </a:r>
                      <a:r>
                        <a:rPr lang="en-US" sz="1800" baseline="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and </a:t>
                      </a:r>
                      <a:r>
                        <a:rPr lang="en-US" sz="18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Processed</a:t>
                      </a:r>
                      <a:endParaRPr lang="en-US" sz="180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19,800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652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3.29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Arial Black" panose="020B0A04020102020204" pitchFamily="34" charset="0"/>
                        </a:rPr>
                        <a:t>19,800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321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0.02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96187"/>
            <a:ext cx="11841480" cy="1015438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Arial Black" panose="020B0A04020102020204" pitchFamily="34" charset="0"/>
              </a:rPr>
              <a:t>	PROMOTING TRAINING CONSCIOUSNESS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76518" y="968188"/>
          <a:ext cx="11259670" cy="5629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19595" y="265845"/>
          <a:ext cx="11599689" cy="603037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29875"/>
                <a:gridCol w="2609126"/>
                <a:gridCol w="1099753"/>
                <a:gridCol w="1607191"/>
                <a:gridCol w="1448950"/>
                <a:gridCol w="1235868"/>
                <a:gridCol w="1519976"/>
                <a:gridCol w="1448950"/>
              </a:tblGrid>
              <a:tr h="1203191">
                <a:tc gridSpan="8">
                  <a:txBody>
                    <a:bodyPr/>
                    <a:lstStyle/>
                    <a:p>
                      <a:pPr marL="1487805" marR="0" indent="63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1487805" marR="0" indent="63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</a:t>
                      </a:r>
                      <a:r>
                        <a:rPr lang="en-US" sz="2000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2000" dirty="0">
                          <a:latin typeface="Arial Black" panose="020B0A04020102020204" pitchFamily="34" charset="0"/>
                        </a:rPr>
                        <a:t>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1487805" marR="0" indent="63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1: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PROMOTING</a:t>
                      </a: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 TRAINING CONSCIOUSNESS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686711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1044731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20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20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20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20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</a:tr>
              <a:tr h="1470235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2000" b="1" dirty="0">
                          <a:latin typeface="Arial Black" panose="020B0A04020102020204" pitchFamily="34" charset="0"/>
                        </a:rPr>
                        <a:t>4</a:t>
                      </a:r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 Black" panose="020B0A04020102020204" pitchFamily="34" charset="0"/>
                        </a:rPr>
                        <a:t>Number of Employers’ Training Programmes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r>
                        <a:rPr lang="en-US" sz="2000" dirty="0">
                          <a:latin typeface="Arial Black" panose="020B0A04020102020204" pitchFamily="34" charset="0"/>
                        </a:rPr>
                        <a:t>Approved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7241" marR="7241" marT="7241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39,600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4,055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10.24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39,600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9,314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23.52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56449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Black" panose="020B0A04020102020204" pitchFamily="34" charset="0"/>
                        </a:rPr>
                        <a:t>5</a:t>
                      </a:r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 Black" panose="020B0A04020102020204" pitchFamily="34" charset="0"/>
                        </a:rPr>
                        <a:t>Number of Employers Training Programmes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r>
                        <a:rPr lang="en-US" sz="2000" dirty="0">
                          <a:latin typeface="Arial Black" panose="020B0A04020102020204" pitchFamily="34" charset="0"/>
                        </a:rPr>
                        <a:t>Monitored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7241" marR="7241" marT="7241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1,217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2,085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171.32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1,217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3,781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310.69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96187"/>
            <a:ext cx="11841480" cy="1015438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Arial Black" panose="020B0A04020102020204" pitchFamily="34" charset="0"/>
              </a:rPr>
              <a:t>	PROMOTING TRAINING CONSCIOUSNESS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76518" y="968188"/>
          <a:ext cx="11259670" cy="5629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071" y="287093"/>
          <a:ext cx="11631256" cy="62379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72918"/>
                <a:gridCol w="2254701"/>
                <a:gridCol w="1377704"/>
                <a:gridCol w="1482204"/>
                <a:gridCol w="1394352"/>
                <a:gridCol w="1197325"/>
                <a:gridCol w="1431391"/>
                <a:gridCol w="1820661"/>
              </a:tblGrid>
              <a:tr h="1347152">
                <a:tc gridSpan="8">
                  <a:txBody>
                    <a:bodyPr/>
                    <a:lstStyle/>
                    <a:p>
                      <a:pPr marL="977900" marR="0" indent="6794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977900" marR="0" indent="6794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146425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2: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ENCOURAGING/ PROVIDING TRAINING</a:t>
                      </a:r>
                      <a:endParaRPr lang="en-GB" sz="2000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3146425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2.1. TRAINING NEEDS ASSESSMENT (TNA)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478260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1095915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</a:tr>
              <a:tr h="962028"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Surveys conducted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149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140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93.96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149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132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>
                          <a:latin typeface="Arial Black" panose="020B0A04020102020204" pitchFamily="34" charset="0"/>
                        </a:rPr>
                        <a:t>  88.60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</a:tr>
              <a:tr h="962028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Packages</a:t>
                      </a:r>
                      <a:endParaRPr lang="en-GB" sz="2000" b="1" i="0" u="none" strike="noStrike" baseline="0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baseline="0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Developed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149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46.30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149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50.34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</a:tr>
              <a:tr h="1392517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Interventions Implemented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55.05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61.47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96187"/>
            <a:ext cx="11841480" cy="1015438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Arial Black" panose="020B0A04020102020204" pitchFamily="34" charset="0"/>
              </a:rPr>
              <a:t>	    TRAINING NEEDS ASSESSMENT (TNA)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76518" y="968188"/>
          <a:ext cx="11259670" cy="5629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95947" y="303135"/>
          <a:ext cx="11443128" cy="618763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62035"/>
                <a:gridCol w="2218233"/>
                <a:gridCol w="1355420"/>
                <a:gridCol w="1516909"/>
                <a:gridCol w="1457814"/>
                <a:gridCol w="1219804"/>
                <a:gridCol w="1532193"/>
                <a:gridCol w="1480720"/>
              </a:tblGrid>
              <a:tr h="1415194">
                <a:tc gridSpan="8">
                  <a:txBody>
                    <a:bodyPr/>
                    <a:lstStyle/>
                    <a:p>
                      <a:pPr marL="1652905" marR="0" indent="-1047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1652905" marR="0" indent="-1047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321050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2: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ENCOURAGING/ PROVIDING TRAINING</a:t>
                      </a:r>
                      <a:endParaRPr lang="en-GB" sz="2000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3321050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2.2. NEW PROGRAMMES DEVELOPED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510243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776262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</a:tr>
              <a:tr h="957565"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Number of New Programmes Proposed</a:t>
                      </a:r>
                      <a:endParaRPr lang="en-GB" sz="2000" b="1" i="0" u="none" strike="noStrike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66.67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43.48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042737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Packages</a:t>
                      </a:r>
                      <a:endParaRPr lang="en-GB" sz="2000" b="1" i="0" u="none" strike="noStrike" baseline="0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baseline="0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Developed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33.33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39.13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485637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Programmes Test-Run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24.64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27.54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96187"/>
            <a:ext cx="11841480" cy="1015438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	NEW PROGRAMMES DEVELOPED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76518" y="968188"/>
          <a:ext cx="11259670" cy="5629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51537" y="271051"/>
          <a:ext cx="11455451" cy="607070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62748"/>
                <a:gridCol w="2220621"/>
                <a:gridCol w="1356880"/>
                <a:gridCol w="1272075"/>
                <a:gridCol w="1339919"/>
                <a:gridCol w="1273089"/>
                <a:gridCol w="1536977"/>
                <a:gridCol w="1793142"/>
              </a:tblGrid>
              <a:tr h="1407847">
                <a:tc gridSpan="8">
                  <a:txBody>
                    <a:bodyPr/>
                    <a:lstStyle/>
                    <a:p>
                      <a:pPr marL="3481705" marR="0" indent="-165290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481705" marR="0" indent="-165290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1024255" marR="0" indent="-792480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2: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ENCOURAGING/ PROVIDING TRAINING</a:t>
                      </a:r>
                      <a:endParaRPr lang="en-GB" sz="2000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2967355" marR="0" indent="-131635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2.3. IN-DEPTH DIAGNOSTIC STUDY OF MSME’s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480405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730868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</a:tr>
              <a:tr h="958344"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Surveys conducted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96.97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97.98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</a:tr>
              <a:tr h="1094478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Packages</a:t>
                      </a:r>
                      <a:endParaRPr lang="en-GB" sz="2000" b="1" i="0" u="none" strike="noStrike" baseline="0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baseline="0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Developed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53.54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48.48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</a:tr>
              <a:tr h="1398762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Interventions Implemented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52.53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51.52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96187"/>
            <a:ext cx="11841480" cy="1015438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Arial Black" panose="020B0A04020102020204" pitchFamily="34" charset="0"/>
              </a:rPr>
              <a:t>      IN-DEPTH DIAGNOSTIC STUDY OF MSMEs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76518" y="968188"/>
          <a:ext cx="11259670" cy="5629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5285" y="255009"/>
          <a:ext cx="11680041" cy="626176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75742"/>
                <a:gridCol w="2264158"/>
                <a:gridCol w="1383482"/>
                <a:gridCol w="1297014"/>
                <a:gridCol w="1366189"/>
                <a:gridCol w="1298049"/>
                <a:gridCol w="1567109"/>
                <a:gridCol w="1828298"/>
              </a:tblGrid>
              <a:tr h="1598905">
                <a:tc gridSpan="8">
                  <a:txBody>
                    <a:bodyPr/>
                    <a:lstStyle/>
                    <a:p>
                      <a:pPr marL="2225675" marR="0" indent="-3365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2225675" marR="0" indent="-3365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676650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2: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ENCOURAGING/ PROVIDING TRAINING</a:t>
                      </a:r>
                      <a:endParaRPr lang="en-GB" sz="2000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3676650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2.4. IN-COMPANY SAFETY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480405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730868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ctr"/>
                </a:tc>
              </a:tr>
              <a:tr h="958344"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Surveys conducted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98.31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120.34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094478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Packages</a:t>
                      </a:r>
                      <a:endParaRPr lang="en-GB" sz="2000" b="1" i="0" u="none" strike="noStrike" baseline="0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baseline="0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Developed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54.24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77.97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398762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Interventions Implemented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37.29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64.41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96187"/>
            <a:ext cx="11841480" cy="1015438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Arial Black" panose="020B0A04020102020204" pitchFamily="34" charset="0"/>
              </a:rPr>
              <a:t>                    IN-COMPANY SAFETY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76518" y="968188"/>
          <a:ext cx="11259670" cy="5629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7370" y="206885"/>
          <a:ext cx="11631914" cy="66621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72958"/>
                <a:gridCol w="2254829"/>
                <a:gridCol w="1377781"/>
                <a:gridCol w="1291671"/>
                <a:gridCol w="1360560"/>
                <a:gridCol w="1292700"/>
                <a:gridCol w="1560652"/>
                <a:gridCol w="1820763"/>
              </a:tblGrid>
              <a:tr h="1250106">
                <a:tc gridSpan="8">
                  <a:txBody>
                    <a:bodyPr/>
                    <a:lstStyle/>
                    <a:p>
                      <a:pPr marL="2225675" marR="0" indent="-6286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2225675" marR="0" indent="-6286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676650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2: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ENCOURAGING/ PROVIDING TRAINING</a:t>
                      </a:r>
                      <a:endParaRPr lang="en-GB" sz="2000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3676650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2.5. RESOURCE CONSULTANCY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60018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47716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892726"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</a:t>
                      </a:r>
                      <a:r>
                        <a:rPr lang="en-GB" sz="2000" b="1" i="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of Surveys conducted</a:t>
                      </a:r>
                      <a:endParaRPr lang="en-GB" sz="2000" b="1" i="0" u="none" strike="noStrike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149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48.99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149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46.31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045604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Packages</a:t>
                      </a:r>
                      <a:endParaRPr lang="en-GB" sz="2000" b="1" i="0" u="none" strike="noStrike" baseline="0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baseline="0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Developed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55.07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57.97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221895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Interventions Implemented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Arial Black" panose="020B0A04020102020204" pitchFamily="34" charset="0"/>
                        </a:rPr>
                        <a:t>56.52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53.62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270230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4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Evaluation and</a:t>
                      </a:r>
                      <a:r>
                        <a:rPr lang="en-GB" sz="2000" b="1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Termination</a:t>
                      </a:r>
                      <a:endParaRPr lang="en-GB" sz="2000" b="1" i="0" u="none" strike="noStrike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33.33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34.78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5"/>
            <a:ext cx="1187196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                  RESOURCE CONSULTANCY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319134"/>
          <a:ext cx="10515600" cy="4857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8823" y="94590"/>
          <a:ext cx="11988681" cy="679568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93598"/>
                <a:gridCol w="2323987"/>
                <a:gridCol w="1420040"/>
                <a:gridCol w="1331288"/>
                <a:gridCol w="1402290"/>
                <a:gridCol w="1332349"/>
                <a:gridCol w="1608520"/>
                <a:gridCol w="1876609"/>
              </a:tblGrid>
              <a:tr h="1341568">
                <a:tc gridSpan="8">
                  <a:txBody>
                    <a:bodyPr/>
                    <a:lstStyle/>
                    <a:p>
                      <a:pPr marL="2225675" marR="0" indent="-5683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2225675" marR="0" indent="-5683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676650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2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: ENCOURAGING/ PROVIDING TRAINING</a:t>
                      </a:r>
                      <a:endParaRPr lang="en-GB" sz="2000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b="1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2.6. PERFORMANCE AND PRODUCTIVITY IMPROVEMENT TRAINING (PPIT)</a:t>
                      </a:r>
                      <a:endParaRPr lang="en-GB" sz="2000" b="1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403086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613237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</a:tr>
              <a:tr h="804102"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PPIT Surveys conducted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46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77.97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103.39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918326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Packages</a:t>
                      </a:r>
                      <a:endParaRPr lang="en-GB" sz="2000" b="1" i="0" u="none" strike="noStrike" baseline="0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baseline="0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Developed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34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57.63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57.63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173636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Interventions Implemented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23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38.98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47.46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422184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4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Number of Follow-Up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8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13.56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27.12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5"/>
            <a:ext cx="1187196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    PERFORMANCE AND PRODUCTIVITY IMPROVEMENT TRAINING (PPIT)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379095"/>
          <a:ext cx="10515600" cy="4797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10839" y="230665"/>
          <a:ext cx="11590013" cy="661286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70533"/>
                <a:gridCol w="2246706"/>
                <a:gridCol w="1372818"/>
                <a:gridCol w="1287018"/>
                <a:gridCol w="1355658"/>
                <a:gridCol w="1288044"/>
                <a:gridCol w="1555031"/>
                <a:gridCol w="1814205"/>
              </a:tblGrid>
              <a:tr h="1570785">
                <a:tc gridSpan="8">
                  <a:txBody>
                    <a:bodyPr/>
                    <a:lstStyle/>
                    <a:p>
                      <a:pPr marL="1316355" marR="0" indent="63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487170" algn="l"/>
                        </a:tabLst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1316355" marR="0" indent="63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487170" algn="l"/>
                        </a:tabLst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</a:t>
                      </a:r>
                      <a:r>
                        <a:rPr lang="en-US" sz="2000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2000" dirty="0">
                          <a:latin typeface="Arial Black" panose="020B0A04020102020204" pitchFamily="34" charset="0"/>
                        </a:rPr>
                        <a:t>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</a:t>
                      </a:r>
                      <a:r>
                        <a:rPr lang="en-GB" sz="1800" b="1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3:</a:t>
                      </a: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 PROVIDING TRAINING IN MANAGEMENT, TECHNICAL, VOCATIONAL</a:t>
                      </a:r>
                      <a:endParaRPr lang="en-GB" sz="1800" b="1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 AND ENTREPRENEURIAL</a:t>
                      </a:r>
                      <a:r>
                        <a:rPr lang="en-GB" sz="1800" b="1" u="none" strike="noStrike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SKILLS</a:t>
                      </a:r>
                      <a:endParaRPr lang="en-GB" sz="1800" b="1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3.1: </a:t>
                      </a:r>
                      <a:r>
                        <a:rPr lang="en-GB" sz="1800" b="1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AREA OFFICES</a:t>
                      </a:r>
                      <a:endParaRPr lang="en-GB" sz="1800" b="1" u="none" strike="noStrike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471957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718014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</a:tr>
              <a:tr h="941489"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Scheduled Programmes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298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261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87.58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298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192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64.43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075229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Unscheduled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Programmes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408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453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111.03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408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432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105.88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374162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Learning and Development Professional</a:t>
                      </a:r>
                      <a:r>
                        <a:rPr lang="en-GB" sz="1800" b="1" i="0" u="none" strike="noStrike" baseline="0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 Certification </a:t>
                      </a:r>
                      <a:r>
                        <a:rPr lang="en-GB" sz="1400" b="1" i="0" u="none" strike="noStrike" baseline="0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(</a:t>
                      </a:r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Innovative Master Trainers Workshop)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endParaRPr lang="en-GB" sz="20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42.5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2" y="365125"/>
            <a:ext cx="1136545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rial Black" panose="020B0A04020102020204" pitchFamily="34" charset="0"/>
              </a:rPr>
              <a:t>AREA OFFICES: </a:t>
            </a:r>
            <a:r>
              <a:rPr lang="en-US" sz="3200" dirty="0">
                <a:latin typeface="Arial Black" panose="020B0A04020102020204" pitchFamily="34" charset="0"/>
              </a:rPr>
              <a:t>SCHEDULED, UNSCHEDULED TRAINING AND LEARNING &amp; DEVELOPENT CERTIFICATION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10515600" cy="4486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10839" y="284455"/>
          <a:ext cx="11590013" cy="621368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70533"/>
                <a:gridCol w="2246706"/>
                <a:gridCol w="1372818"/>
                <a:gridCol w="1423386"/>
                <a:gridCol w="1371600"/>
                <a:gridCol w="1559859"/>
                <a:gridCol w="1613647"/>
                <a:gridCol w="1331464"/>
              </a:tblGrid>
              <a:tr h="1447429">
                <a:tc gridSpan="8">
                  <a:txBody>
                    <a:bodyPr/>
                    <a:lstStyle/>
                    <a:p>
                      <a:pPr marL="1256030" marR="0" indent="63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1256030" marR="0" indent="635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</a:t>
                      </a:r>
                      <a:r>
                        <a:rPr lang="en-GB" sz="1800" b="1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3:</a:t>
                      </a: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 PROVIDING TRAINING IN MANAGEMENT, TECHNICAL, VOCATIONAL</a:t>
                      </a:r>
                      <a:endParaRPr lang="en-GB" sz="1800" b="1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 AND ENTREPRENEURIAL</a:t>
                      </a:r>
                      <a:r>
                        <a:rPr lang="en-GB" sz="1800" b="1" u="none" strike="noStrike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SKILLS</a:t>
                      </a:r>
                      <a:endParaRPr lang="en-GB" sz="1800" b="1" u="none" strike="noStrike" dirty="0">
                        <a:latin typeface="Arial Black" panose="020B0A04020102020204" pitchFamily="34" charset="0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b="1" u="none" strike="noStrike" dirty="0">
                          <a:latin typeface="Arial Black" panose="020B0A04020102020204" pitchFamily="34" charset="0"/>
                        </a:rPr>
                        <a:t>3.2: </a:t>
                      </a:r>
                      <a:r>
                        <a:rPr lang="en-GB" sz="1800" b="1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TRAINING CENTRES</a:t>
                      </a:r>
                      <a:endParaRPr lang="en-GB" sz="1800" b="1" u="none" strike="noStrike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420366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639526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8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8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</a:tr>
              <a:tr h="838573"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19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9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9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Scheduled Programmes</a:t>
                      </a:r>
                      <a:endParaRPr lang="en-GB" sz="19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44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72.72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44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136.36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712956"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9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9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Unscheduled</a:t>
                      </a:r>
                      <a:endParaRPr lang="en-GB" sz="19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9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Programmes</a:t>
                      </a:r>
                      <a:endParaRPr lang="en-GB" sz="19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30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210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30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153.33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842883"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9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9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Newly</a:t>
                      </a:r>
                      <a:r>
                        <a:rPr lang="en-GB" sz="1900" b="1" i="0" u="none" strike="noStrike" baseline="0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 Developed Programmes</a:t>
                      </a:r>
                      <a:endParaRPr lang="en-GB" sz="19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30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30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23.33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223949"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Arial Black" panose="020B0A04020102020204" pitchFamily="34" charset="0"/>
                        </a:rPr>
                        <a:t>4</a:t>
                      </a:r>
                      <a:endParaRPr lang="en-US" sz="19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9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Programmes/</a:t>
                      </a:r>
                      <a:endParaRPr lang="en-GB" sz="19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900" b="1" i="0" u="none" strike="noStrike" dirty="0">
                          <a:solidFill>
                            <a:srgbClr val="000000"/>
                          </a:solidFill>
                          <a:latin typeface="Arial Black" panose="020B0A04020102020204" pitchFamily="34" charset="0"/>
                        </a:rPr>
                        <a:t>Packages Reviewed</a:t>
                      </a:r>
                      <a:endParaRPr lang="en-GB" sz="19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30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113.33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30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707" y="365125"/>
            <a:ext cx="11459584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TRAINING CENTRES:</a:t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sz="2400" dirty="0">
                <a:latin typeface="Arial Black" panose="020B0A04020102020204" pitchFamily="34" charset="0"/>
              </a:rPr>
              <a:t>SCHEDULED, UNSCHEDULED TRAINING,  NEWLY DEVELOPED PROGRAMMES AND PROGRAMMES/PACKAGES REVIEWED</a:t>
            </a:r>
            <a:endParaRPr lang="en-US" sz="24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9892" y="1780381"/>
          <a:ext cx="11201399" cy="4486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01706" y="179911"/>
          <a:ext cx="11733620" cy="617643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78841"/>
                <a:gridCol w="2811965"/>
                <a:gridCol w="1185251"/>
                <a:gridCol w="1436823"/>
                <a:gridCol w="1217280"/>
                <a:gridCol w="1250503"/>
                <a:gridCol w="1682670"/>
                <a:gridCol w="1470287"/>
              </a:tblGrid>
              <a:tr h="1255516">
                <a:tc gridSpan="8">
                  <a:txBody>
                    <a:bodyPr/>
                    <a:lstStyle/>
                    <a:p>
                      <a:pPr marL="2225675" marR="0" indent="-798830" algn="just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487170" algn="l"/>
                        </a:tabLst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676650" marR="0" indent="-3146425" algn="just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023870" algn="l"/>
                        </a:tabLst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4: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SETTING TRAINING STANDARDS</a:t>
                      </a: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 AND CERTIFICATION</a:t>
                      </a:r>
                      <a:endParaRPr lang="en-GB" sz="2000" u="none" strike="noStrike" baseline="0" dirty="0">
                        <a:latin typeface="Arial Black" panose="020B0A04020102020204" pitchFamily="34" charset="0"/>
                      </a:endParaRPr>
                    </a:p>
                    <a:p>
                      <a:pPr marL="3676650" marR="0" indent="-3146425" algn="just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                          4.1 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TRAINING STANDARDS</a:t>
                      </a: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 AND CERTIFICATION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420123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baseline="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80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679971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7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7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111818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Arial Black" panose="020B0A04020102020204" pitchFamily="34" charset="0"/>
                        </a:rPr>
                        <a:t>Number</a:t>
                      </a:r>
                      <a:r>
                        <a:rPr lang="en-US" sz="1700" baseline="0" dirty="0">
                          <a:latin typeface="Arial Black" panose="020B0A04020102020204" pitchFamily="34" charset="0"/>
                        </a:rPr>
                        <a:t> of Vocational Centres Identified for Accreditation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500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259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51.8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500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17647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Number</a:t>
                      </a:r>
                      <a:r>
                        <a:rPr lang="en-US" sz="1800" baseline="0" dirty="0">
                          <a:latin typeface="Arial Black" panose="020B0A04020102020204" pitchFamily="34" charset="0"/>
                        </a:rPr>
                        <a:t> of Vocational Centres Accredited</a:t>
                      </a:r>
                      <a:endParaRPr lang="en-US" dirty="0"/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200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259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129.5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200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anose="020B0A04020102020204" pitchFamily="34" charset="0"/>
                        </a:rPr>
                        <a:t>809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anose="020B0A04020102020204" pitchFamily="34" charset="0"/>
                        </a:rPr>
                        <a:t>405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52617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Number</a:t>
                      </a:r>
                      <a:r>
                        <a:rPr lang="en-US" baseline="0" dirty="0">
                          <a:latin typeface="Arial Black" panose="020B0A04020102020204" pitchFamily="34" charset="0"/>
                        </a:rPr>
                        <a:t> of Centres that attended Effective Trainers Workshop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200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100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Arial Black" panose="020B0A04020102020204" pitchFamily="34" charset="0"/>
                        </a:rPr>
                        <a:t>50.00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200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anose="020B0A04020102020204" pitchFamily="34" charset="0"/>
                        </a:rPr>
                        <a:t>376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anose="020B0A04020102020204" pitchFamily="34" charset="0"/>
                        </a:rPr>
                        <a:t>188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167" y="365125"/>
            <a:ext cx="10457329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Arial Black" panose="020B0A04020102020204" pitchFamily="34" charset="0"/>
              </a:rPr>
              <a:t>TRAINING STANDARDS AND CERTIFICATION</a:t>
            </a:r>
            <a:endParaRPr lang="en-US" sz="28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2388" y="1289154"/>
          <a:ext cx="11456894" cy="4887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7423" y="207607"/>
          <a:ext cx="11806256" cy="638323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83043"/>
                <a:gridCol w="2829373"/>
                <a:gridCol w="1192589"/>
                <a:gridCol w="1358362"/>
                <a:gridCol w="1312170"/>
                <a:gridCol w="1258244"/>
                <a:gridCol w="1324422"/>
                <a:gridCol w="1848053"/>
              </a:tblGrid>
              <a:tr h="1244533">
                <a:tc gridSpan="8">
                  <a:txBody>
                    <a:bodyPr/>
                    <a:lstStyle/>
                    <a:p>
                      <a:pPr marL="2225675" marR="0" indent="-8477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TRAINING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676650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4: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SETTING TRAINING STANDARDS</a:t>
                      </a: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 AND CERTIFICATION</a:t>
                      </a:r>
                      <a:endParaRPr lang="en-GB" sz="2000" u="none" strike="noStrike" baseline="0" dirty="0">
                        <a:latin typeface="Arial Black" panose="020B0A04020102020204" pitchFamily="34" charset="0"/>
                      </a:endParaRPr>
                    </a:p>
                    <a:p>
                      <a:pPr marL="3316605" marR="0" indent="-29559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4.2 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APPRENTICESHIP ACTIVITIES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18026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</a:t>
                      </a:r>
                      <a:r>
                        <a:rPr lang="en-US" sz="17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PERFORMANCE INDICATORS</a:t>
                      </a:r>
                      <a:endParaRPr lang="en-US" sz="17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504949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7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7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7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7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/>
                </a:tc>
              </a:tr>
              <a:tr h="109645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Arial Black" panose="020B0A04020102020204" pitchFamily="34" charset="0"/>
                        </a:rPr>
                        <a:t>Appraisal of In-company</a:t>
                      </a:r>
                      <a:r>
                        <a:rPr lang="en-US" sz="1700" baseline="0" dirty="0">
                          <a:latin typeface="Arial Black" panose="020B0A04020102020204" pitchFamily="34" charset="0"/>
                        </a:rPr>
                        <a:t>  Apprenticeship  Scheme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189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222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117.46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189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184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97.35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09645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Arial Black" panose="020B0A04020102020204" pitchFamily="34" charset="0"/>
                        </a:rPr>
                        <a:t>Installation of In-company Apprenticeship scheme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131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189.86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79.71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109645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Arial Black" panose="020B0A04020102020204" pitchFamily="34" charset="0"/>
                        </a:rPr>
                        <a:t>Harmonization</a:t>
                      </a:r>
                      <a:r>
                        <a:rPr lang="en-US" sz="1700" baseline="0" dirty="0">
                          <a:latin typeface="Arial Black" panose="020B0A04020102020204" pitchFamily="34" charset="0"/>
                        </a:rPr>
                        <a:t> of In-company Apprenticeship </a:t>
                      </a:r>
                      <a:r>
                        <a:rPr lang="en-US" sz="1700" dirty="0">
                          <a:latin typeface="Arial Black" panose="020B0A04020102020204" pitchFamily="34" charset="0"/>
                        </a:rPr>
                        <a:t>scheme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93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134.78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94.20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84644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Black" panose="020B0A04020102020204" pitchFamily="34" charset="0"/>
                        </a:rPr>
                        <a:t>4</a:t>
                      </a:r>
                      <a:endParaRPr lang="en-US" sz="20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Arial Black" panose="020B0A04020102020204" pitchFamily="34" charset="0"/>
                        </a:rPr>
                        <a:t>Apprenticeship Scheme</a:t>
                      </a:r>
                      <a:r>
                        <a:rPr lang="en-US" sz="1700" baseline="0" dirty="0">
                          <a:latin typeface="Arial Black" panose="020B0A04020102020204" pitchFamily="34" charset="0"/>
                        </a:rPr>
                        <a:t> Programmes Monitored</a:t>
                      </a:r>
                      <a:endParaRPr lang="en-US" sz="1700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149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65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</a:rPr>
                        <a:t>43.62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149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66.44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3" y="365125"/>
            <a:ext cx="10295965" cy="1325563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APPRENTICESHIP ACTIVITIES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424066"/>
          <a:ext cx="10515600" cy="4752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68224" y="766685"/>
          <a:ext cx="11618976" cy="56341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47293"/>
                <a:gridCol w="6342736"/>
                <a:gridCol w="2265973"/>
                <a:gridCol w="2162974"/>
              </a:tblGrid>
              <a:tr h="396223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Arial Black" panose="020B0A04020102020204" pitchFamily="34" charset="0"/>
                        </a:rPr>
                        <a:t>S/N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 rowSpan="2"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GB" sz="1800" u="none" strike="noStrike" dirty="0">
                          <a:latin typeface="Arial Black" panose="020B0A04020102020204" pitchFamily="34" charset="0"/>
                        </a:rPr>
                        <a:t>ACTIVITIES</a:t>
                      </a:r>
                      <a:endParaRPr lang="en-GB" sz="1800" b="1" i="0" u="none" strike="noStrike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NUMBER TRAINED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 hMerge="1">
                  <a:tcPr/>
                </a:tc>
              </a:tr>
              <a:tr h="3563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2400" b="1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kern="1200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</a:tr>
              <a:tr h="5267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dirty="0">
                          <a:latin typeface="Arial Black" panose="020B0A04020102020204" pitchFamily="34" charset="0"/>
                        </a:rPr>
                        <a:t>SKILL-UP ARTISANS (SUPA) PROGRAMME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29,412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</a:tr>
              <a:tr h="714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dirty="0">
                          <a:latin typeface="Arial Black" panose="020B0A04020102020204" pitchFamily="34" charset="0"/>
                        </a:rPr>
                        <a:t>SKILLS DEVELOPMENT PROGRAMME FOR CERTIFICATION</a:t>
                      </a:r>
                      <a:r>
                        <a:rPr lang="en-GB" sz="1800" u="none" strike="noStrike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GB" sz="1800" u="none" strike="noStrike" dirty="0">
                          <a:latin typeface="Arial Black" panose="020B0A04020102020204" pitchFamily="34" charset="0"/>
                        </a:rPr>
                        <a:t>(SDPC)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4,520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4,000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</a:tr>
              <a:tr h="6882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800" u="none" strike="noStrike" dirty="0">
                          <a:latin typeface="Arial Black" panose="020B0A04020102020204" pitchFamily="34" charset="0"/>
                        </a:rPr>
                        <a:t>WOMEN SKILLS EMPOWERMENT PROGRAMME (WOSEP)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360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</a:tr>
              <a:tr h="10055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4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SKILLS TRAINING &amp; EMPOWERMENT PROGRAMME FOR THE PHYSICALLY CHALLENGED (STEPP-C)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180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  <a:tr h="5271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PASSION TO PROFESSION TRAINING (P2P)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240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125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  <a:tr h="7049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6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INFO TECH SKILLS EMPOWERMENT PROGRAMME (ISEP)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  <a:tr h="7147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TECHNICAL SKILLS DEVELOPMENT PROGRAMME (TSDP)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2,168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itle 1"/>
          <p:cNvSpPr txBox="1"/>
          <p:nvPr/>
        </p:nvSpPr>
        <p:spPr>
          <a:xfrm>
            <a:off x="348418" y="228599"/>
            <a:ext cx="103151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solidFill>
                  <a:srgbClr val="FF0000"/>
                </a:solidFill>
                <a:latin typeface="Arial Black" panose="020B0A04020102020204" pitchFamily="34" charset="0"/>
              </a:rPr>
              <a:t>KEY RESULT AREA </a:t>
            </a: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6:</a:t>
            </a:r>
            <a:r>
              <a:rPr lang="en-US" sz="2000" b="1" dirty="0">
                <a:latin typeface="Arial Black" panose="020B0A04020102020204" pitchFamily="34" charset="0"/>
              </a:rPr>
              <a:t> SPECIAL  SKILLS INTERVENTION PROGRAMMES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51313" y="333378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81476" y="766686"/>
          <a:ext cx="11539463" cy="580025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41495"/>
                <a:gridCol w="6299330"/>
                <a:gridCol w="2250466"/>
                <a:gridCol w="2148172"/>
              </a:tblGrid>
              <a:tr h="413512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Arial Black" panose="020B0A04020102020204" pitchFamily="34" charset="0"/>
                        </a:rPr>
                        <a:t>S/N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 rowSpan="2">
                  <a:txBody>
                    <a:bodyPr/>
                    <a:lstStyle/>
                    <a:p>
                      <a:pPr lvl="0" algn="ctr" fontAlgn="b">
                        <a:lnSpc>
                          <a:spcPct val="100000"/>
                        </a:lnSpc>
                      </a:pPr>
                      <a:r>
                        <a:rPr lang="en-GB" sz="1800" u="none" strike="noStrike" dirty="0">
                          <a:latin typeface="Arial Black" panose="020B0A04020102020204" pitchFamily="34" charset="0"/>
                        </a:rPr>
                        <a:t>ACTIVITIES</a:t>
                      </a:r>
                      <a:endParaRPr lang="en-GB" sz="1800" b="1" i="0" u="none" strike="noStrike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Black" panose="020B0A04020102020204" pitchFamily="34" charset="0"/>
                        </a:rPr>
                        <a:t>NUMBER TRAINED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 anchor="ctr"/>
                </a:tc>
                <a:tc hMerge="1">
                  <a:tcPr/>
                </a:tc>
              </a:tr>
              <a:tr h="37194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2400" b="1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kern="1200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766" marR="5766" marT="6589" marB="0"/>
                </a:tc>
              </a:tr>
              <a:tr h="593213"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latin typeface="Arial Black" panose="020B0A04020102020204" pitchFamily="34" charset="0"/>
                        </a:rPr>
                        <a:t>    8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AGRIC SKILLS EMPOWERMENT PROGRAMME (</a:t>
                      </a:r>
                      <a:r>
                        <a:rPr lang="en-US" sz="1800" dirty="0" err="1">
                          <a:latin typeface="Arial Black" panose="020B0A04020102020204" pitchFamily="34" charset="0"/>
                        </a:rPr>
                        <a:t>AgSEP</a:t>
                      </a:r>
                      <a:r>
                        <a:rPr lang="en-US" sz="1800" dirty="0">
                          <a:latin typeface="Arial Black" panose="020B0A04020102020204" pitchFamily="34" charset="0"/>
                        </a:rPr>
                        <a:t>)</a:t>
                      </a:r>
                      <a:endParaRPr lang="en-US" sz="1800" b="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580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  <a:tr h="54969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9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N-POWER (N-BUILD)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19,200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  <a:tr h="745364">
                <a:tc>
                  <a:txBody>
                    <a:bodyPr/>
                    <a:lstStyle/>
                    <a:p>
                      <a:pPr algn="ctr"/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  10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Black" panose="020B0A04020102020204" pitchFamily="34" charset="0"/>
                        </a:rPr>
                        <a:t>MODULAR SKILLS DEVELOPMENT</a:t>
                      </a:r>
                      <a:r>
                        <a:rPr lang="en-US" sz="1800" baseline="0" dirty="0">
                          <a:latin typeface="Arial Black" panose="020B0A04020102020204" pitchFamily="34" charset="0"/>
                        </a:rPr>
                        <a:t> PROGRAMME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976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  <a:tr h="71828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Arial Black" panose="020B0A04020102020204" pitchFamily="34" charset="0"/>
                        </a:rPr>
                        <a:t>SUMMER BOOT CAMP</a:t>
                      </a:r>
                      <a:endParaRPr lang="en-US" sz="1800" b="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195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  <a:tr h="92547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Arial Black" panose="020B0A04020102020204" pitchFamily="34" charset="0"/>
                        </a:rPr>
                        <a:t>SPECIAL </a:t>
                      </a:r>
                      <a:r>
                        <a:rPr lang="en-US" sz="1800" b="0" baseline="0" dirty="0">
                          <a:latin typeface="Arial Black" panose="020B0A04020102020204" pitchFamily="34" charset="0"/>
                        </a:rPr>
                        <a:t>SKILLS </a:t>
                      </a:r>
                      <a:r>
                        <a:rPr lang="en-US" sz="1800" b="0" dirty="0">
                          <a:latin typeface="Arial Black" panose="020B0A04020102020204" pitchFamily="34" charset="0"/>
                        </a:rPr>
                        <a:t>INTERVENTION PROGRAMME (SSIP)</a:t>
                      </a:r>
                      <a:endParaRPr lang="en-US" sz="1800" b="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1,301</a:t>
                      </a:r>
                      <a:endParaRPr lang="en-US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1,495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  <a:tr h="70014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Arial Black" panose="020B0A04020102020204" pitchFamily="34" charset="0"/>
                        </a:rPr>
                        <a:t>ITF-NATIONAL ECONOMY RECOVERY GROWTH PROGRAMME</a:t>
                      </a:r>
                      <a:endParaRPr lang="en-US" sz="1800" b="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4,000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  <a:tr h="735752">
                <a:tc gridSpan="2">
                  <a:txBody>
                    <a:bodyPr/>
                    <a:lstStyle/>
                    <a:p>
                      <a:r>
                        <a:rPr lang="en-US" sz="1800" b="1" dirty="0">
                          <a:latin typeface="Arial Black" panose="020B0A04020102020204" pitchFamily="34" charset="0"/>
                        </a:rPr>
                        <a:t>                                       TOTAL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Black" panose="020B0A04020102020204" pitchFamily="34" charset="0"/>
                        </a:rPr>
                        <a:t>21,672</a:t>
                      </a:r>
                      <a:endParaRPr lang="en-US" sz="1800" b="1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39,032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itle 1"/>
          <p:cNvSpPr txBox="1"/>
          <p:nvPr/>
        </p:nvSpPr>
        <p:spPr>
          <a:xfrm>
            <a:off x="348418" y="228599"/>
            <a:ext cx="103151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solidFill>
                  <a:srgbClr val="FF0000"/>
                </a:solidFill>
                <a:latin typeface="Arial Black" panose="020B0A04020102020204" pitchFamily="34" charset="0"/>
              </a:rPr>
              <a:t>KEY RESULT AREA </a:t>
            </a: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6:</a:t>
            </a:r>
            <a:r>
              <a:rPr lang="en-US" sz="2000" b="1" dirty="0">
                <a:latin typeface="Arial Black" panose="020B0A04020102020204" pitchFamily="34" charset="0"/>
              </a:rPr>
              <a:t> SPECIAL  SKILLS INTERVENTION PROGRAMMES…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51313" y="3333786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77593" y="206910"/>
          <a:ext cx="11763395" cy="653252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01039"/>
                <a:gridCol w="4427240"/>
                <a:gridCol w="2895774"/>
                <a:gridCol w="3439342"/>
              </a:tblGrid>
              <a:tr h="686017">
                <a:tc gridSpan="4">
                  <a:txBody>
                    <a:bodyPr/>
                    <a:lstStyle/>
                    <a:p>
                      <a:pPr marL="1427480" marR="0" indent="0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            COMPARATIVE</a:t>
                      </a:r>
                      <a:r>
                        <a:rPr lang="en-US" sz="1800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1800" dirty="0">
                          <a:latin typeface="Arial Black" panose="020B0A04020102020204" pitchFamily="34" charset="0"/>
                        </a:rPr>
                        <a:t>ANALYSIS OF 2023/2024 ACTIVITIES…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  <a:p>
                      <a:pPr marL="1024255" marR="0" indent="40322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KEY RESULT AREA</a:t>
                      </a:r>
                      <a:r>
                        <a:rPr lang="en-GB" sz="180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GB" sz="180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7: PROVIDING</a:t>
                      </a:r>
                      <a:r>
                        <a:rPr lang="en-GB" sz="180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ADMINISTRATIVE SUPPORT SERVICES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35179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S/N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PERFORMANCE INDICATORS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2023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2024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</a:tr>
              <a:tr h="351799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1.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Staff</a:t>
                      </a:r>
                      <a:r>
                        <a:rPr lang="en-GB" sz="160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Strength (Senior)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6301" marR="6301" marT="720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2,535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7343" marR="7343" marT="7342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2,671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343" marR="7343" marT="7342" marB="0"/>
                </a:tc>
              </a:tr>
              <a:tr h="35179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2.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Staff</a:t>
                      </a:r>
                      <a:r>
                        <a:rPr lang="en-GB" sz="160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Strength (Junior)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6301" marR="6301" marT="720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133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7343" marR="7343" marT="7342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107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343" marR="7343" marT="7342" marB="0"/>
                </a:tc>
              </a:tr>
              <a:tr h="37775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3.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Staff Recruitment (Junior &amp; Senior)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6301" marR="6301" marT="720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196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</a:tr>
              <a:tr h="49056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4.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Staff Promotion</a:t>
                      </a:r>
                      <a:endParaRPr lang="en-GB" sz="1600" u="none" strike="noStrike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endParaRPr lang="en-GB" sz="1600" b="0" i="0" u="none" strike="noStrike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6301" marR="6301" marT="720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799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750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</a:tr>
              <a:tr h="154931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5.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marL="0" marR="0" lvl="0" indent="0" algn="l" defTabSz="1316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Staff Turnover: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l" defTabSz="1316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Statutory Retirement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l" defTabSz="1316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Voluntary Retirement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l" defTabSz="1316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Termination/Dismissal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l" defTabSz="1316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Resignation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marL="0" marR="0" lvl="0" indent="0" algn="l" defTabSz="13163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Death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6301" marR="6301" marT="7200" marB="0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30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56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14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11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</a:tr>
              <a:tr h="134997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6.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Capacity Building:  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Short</a:t>
                      </a: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 term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Long Term 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International Programmes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Professional Bodies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6301" marR="6301" marT="7200" marB="0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1,394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117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31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dirty="0">
                          <a:latin typeface="Arial Black" panose="020B0A04020102020204" pitchFamily="34" charset="0"/>
                        </a:rPr>
                        <a:t>58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1,056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142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9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100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</a:tr>
              <a:tr h="100554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7.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Staff Welfare: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Housing Loan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r>
                        <a:rPr lang="en-GB" sz="1600" b="0" i="0" u="none" strike="noStrike" baseline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Motor Vehicle Loan</a:t>
                      </a: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  <a:p>
                      <a:pPr lvl="0" algn="l" fontAlgn="b">
                        <a:lnSpc>
                          <a:spcPct val="100000"/>
                        </a:lnSpc>
                      </a:pPr>
                      <a:endParaRPr lang="en-GB" sz="1600" b="0" i="0" u="none" strike="noStrike" baseline="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6301" marR="6301" marT="7200" marB="0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25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74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49882" y="275842"/>
          <a:ext cx="11553360" cy="628384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68412"/>
                <a:gridCol w="2768766"/>
                <a:gridCol w="1167043"/>
                <a:gridCol w="1240799"/>
                <a:gridCol w="1269900"/>
                <a:gridCol w="1356880"/>
                <a:gridCol w="1496047"/>
                <a:gridCol w="1585513"/>
              </a:tblGrid>
              <a:tr h="806430">
                <a:tc gridSpan="8">
                  <a:txBody>
                    <a:bodyPr/>
                    <a:lstStyle/>
                    <a:p>
                      <a:pPr marL="2406650" marR="0" indent="62547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>
                          <a:latin typeface="Arial Black" panose="020B0A04020102020204" pitchFamily="34" charset="0"/>
                        </a:rPr>
                        <a:t>COMPARATIVE ANALYSIS OF 2023/2024 ACTIVITIES…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  <a:p>
                      <a:pPr marL="738505" marR="0" indent="-690880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8:</a:t>
                      </a:r>
                      <a:r>
                        <a:rPr lang="en-GB" sz="1800" u="none" strike="noStrike" dirty="0">
                          <a:latin typeface="Arial Black" panose="020B0A04020102020204" pitchFamily="34" charset="0"/>
                        </a:rPr>
                        <a:t> REVENUE, FINANCIAL</a:t>
                      </a:r>
                      <a:r>
                        <a:rPr lang="en-GB" sz="1800" u="none" strike="noStrike" baseline="0" dirty="0">
                          <a:latin typeface="Arial Black" panose="020B0A04020102020204" pitchFamily="34" charset="0"/>
                        </a:rPr>
                        <a:t> AND AUDIT SERVICES</a:t>
                      </a:r>
                      <a:endParaRPr lang="en-GB" sz="1800" u="none" strike="noStrike" baseline="0" dirty="0">
                        <a:latin typeface="Arial Black" panose="020B0A04020102020204" pitchFamily="34" charset="0"/>
                      </a:endParaRPr>
                    </a:p>
                    <a:p>
                      <a:pPr marL="738505" marR="0" indent="-690880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800" u="none" strike="noStrike" baseline="0" dirty="0">
                          <a:latin typeface="Arial Black" panose="020B0A04020102020204" pitchFamily="34" charset="0"/>
                        </a:rPr>
                        <a:t>8.1 REVENUE GENERATION ACTIVITIES</a:t>
                      </a:r>
                      <a:endParaRPr lang="en-US" sz="1600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 marL="99917" marR="99917" marT="64812" marB="64812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298904">
                <a:tc rowSpan="2">
                  <a:txBody>
                    <a:bodyPr/>
                    <a:lstStyle/>
                    <a:p>
                      <a:pPr marL="0" indent="0" algn="ctr"/>
                      <a:r>
                        <a:rPr lang="en-US" sz="1700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S/N</a:t>
                      </a:r>
                      <a:endParaRPr lang="en-US" sz="1700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 PERFORMANCE</a:t>
                      </a:r>
                      <a:r>
                        <a:rPr lang="en-US" sz="16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INDICATORS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b="1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/>
                </a:tc>
                <a:tc hMerge="1">
                  <a:tcPr/>
                </a:tc>
                <a:tc hMerge="1">
                  <a:tcPr/>
                </a:tc>
              </a:tr>
              <a:tr h="706154">
                <a:tc vMerge="1">
                  <a:tcPr marL="99917" marR="99917" marT="64812" marB="64812"/>
                </a:tc>
                <a:tc vMerge="1">
                  <a:tcPr marL="99917" marR="99917" marT="64812" marB="64812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6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6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Annual</a:t>
                      </a:r>
                      <a:r>
                        <a:rPr lang="en-US" sz="1600" b="1" u="none" strike="noStrike" baseline="0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Actual 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  <a:tc>
                  <a:txBody>
                    <a:bodyPr/>
                    <a:lstStyle/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% </a:t>
                      </a:r>
                      <a:endParaRPr lang="en-US" sz="1600" b="1" u="none" strike="noStrike" dirty="0"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131572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08" marR="5108" marT="5108" marB="0" anchor="b"/>
                </a:tc>
              </a:tr>
              <a:tr h="474232"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1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Employers’ Registered to Date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241" marR="7241" marT="724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73,158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100,422</a:t>
                      </a:r>
                      <a:endParaRPr lang="en-US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137.27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73,158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114,391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156.36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708079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2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Number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 of Employers Contributing 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241" marR="7241" marT="724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93,185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39,600</a:t>
                      </a:r>
                      <a:endParaRPr lang="en-US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42.50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93,185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58,563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180" marR="5180" marT="5179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62.84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79173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3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Number of Employers Defaulting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7,614</a:t>
                      </a:r>
                      <a:endParaRPr lang="en-US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7,614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-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79173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4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Number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 of Employers Accounts Verified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19,700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1,002</a:t>
                      </a:r>
                      <a:endParaRPr lang="en-US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5.09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19,700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654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3.32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79173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5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baseline="0" dirty="0" smtClean="0">
                          <a:latin typeface="Arial Black" panose="020B0A04020102020204" pitchFamily="34" charset="0"/>
                        </a:rPr>
                        <a:t>Discovery </a:t>
                      </a:r>
                      <a:r>
                        <a:rPr lang="en-US" sz="1600" b="1" baseline="0" dirty="0">
                          <a:latin typeface="Arial Black" panose="020B0A04020102020204" pitchFamily="34" charset="0"/>
                        </a:rPr>
                        <a:t>of New Companies </a:t>
                      </a:r>
                      <a:r>
                        <a:rPr lang="en-US" sz="1600" b="1" baseline="0" dirty="0" smtClean="0">
                          <a:latin typeface="Arial Black" panose="020B0A04020102020204" pitchFamily="34" charset="0"/>
                        </a:rPr>
                        <a:t> 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2,380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9,893</a:t>
                      </a:r>
                      <a:endParaRPr lang="en-US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415.67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2,380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10,833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455.17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  <a:tr h="79173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 Black" panose="020B0A04020102020204" pitchFamily="34" charset="0"/>
                        </a:rPr>
                        <a:t>6</a:t>
                      </a:r>
                      <a:endParaRPr lang="en-US" sz="17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Number of New Companies Registered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77018" marR="77018" marT="49959" marB="4995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2,380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9,893</a:t>
                      </a:r>
                      <a:endParaRPr lang="en-US" b="1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415.67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2,380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3136" marR="3136" marT="358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10,833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</a:rPr>
                        <a:t>455.17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marL="54330" marR="54330" marT="35242" marB="35242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365125"/>
            <a:ext cx="10345271" cy="1325563"/>
          </a:xfrm>
        </p:spPr>
        <p:txBody>
          <a:bodyPr>
            <a:noAutofit/>
          </a:bodyPr>
          <a:lstStyle/>
          <a:p>
            <a:pPr algn="ctr"/>
            <a:r>
              <a:rPr lang="en-GB" sz="2800" dirty="0">
                <a:latin typeface="Arial Black" panose="020B0A04020102020204" pitchFamily="34" charset="0"/>
              </a:rPr>
              <a:t>REVENUE GENERATION ACTIVITIES</a:t>
            </a:r>
            <a:endParaRPr lang="en-US" sz="28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349116"/>
          <a:ext cx="10515600" cy="4827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48417" y="159508"/>
          <a:ext cx="11692571" cy="639470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46458"/>
                <a:gridCol w="1633123"/>
                <a:gridCol w="2019059"/>
                <a:gridCol w="1992316"/>
                <a:gridCol w="708676"/>
                <a:gridCol w="2072544"/>
                <a:gridCol w="1873771"/>
                <a:gridCol w="946624"/>
              </a:tblGrid>
              <a:tr h="1333115">
                <a:tc gridSpan="8">
                  <a:txBody>
                    <a:bodyPr/>
                    <a:lstStyle/>
                    <a:p>
                      <a:pPr marL="2225675" marR="0" indent="116205" algn="l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Arial Black" panose="020B0A04020102020204" pitchFamily="34" charset="0"/>
                        </a:rPr>
                        <a:t>COMPARATIVE ANALYSIS OF 2023/2024 ACTIVITIES…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  <a:p>
                      <a:pPr marL="3146425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KEY RESULT AREA 8:</a:t>
                      </a:r>
                      <a:r>
                        <a:rPr lang="en-GB" sz="2000" u="none" strike="noStrike" dirty="0">
                          <a:latin typeface="Arial Black" panose="020B0A04020102020204" pitchFamily="34" charset="0"/>
                        </a:rPr>
                        <a:t> REVENUE, FINANCIAL</a:t>
                      </a: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 &amp; AUDIT SERVICES…</a:t>
                      </a:r>
                      <a:endParaRPr lang="en-GB" sz="2000" u="none" strike="noStrike" baseline="0" dirty="0">
                        <a:latin typeface="Arial Black" panose="020B0A04020102020204" pitchFamily="34" charset="0"/>
                      </a:endParaRPr>
                    </a:p>
                    <a:p>
                      <a:pPr marL="3146425" marR="0" indent="-3146425" algn="ctr" defTabSz="1316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u="none" strike="noStrike" baseline="0" dirty="0">
                          <a:latin typeface="Arial Black" panose="020B0A04020102020204" pitchFamily="34" charset="0"/>
                        </a:rPr>
                        <a:t>8.1 </a:t>
                      </a:r>
                      <a:r>
                        <a:rPr lang="en-GB" sz="2000" dirty="0">
                          <a:latin typeface="Arial Black" panose="020B0A04020102020204" pitchFamily="34" charset="0"/>
                        </a:rPr>
                        <a:t>REVENUE GENERATION ACTIVITIES…</a:t>
                      </a:r>
                      <a:endParaRPr lang="en-US" sz="2400" dirty="0">
                        <a:latin typeface="Arial Black" panose="020B0A04020102020204" pitchFamily="34" charset="0"/>
                      </a:endParaRPr>
                    </a:p>
                  </a:txBody>
                  <a:tcPr marL="6301" marR="6301" marT="9341" marB="0" anchor="ctr"/>
                </a:tc>
                <a:tc hMerge="1">
                  <a:tcPr marL="6301" marR="6301" marT="9341" marB="0" anchor="ctr"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  <a:tc hMerge="1">
                  <a:tcPr marL="99917" marR="99917" marT="64812" marB="64812"/>
                </a:tc>
                <a:tc hMerge="1">
                  <a:tcPr/>
                </a:tc>
                <a:tc hMerge="1">
                  <a:tcPr/>
                </a:tc>
              </a:tr>
              <a:tr h="62686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latin typeface="Arial Black" panose="020B0A04020102020204" pitchFamily="34" charset="0"/>
                        </a:rPr>
                        <a:t>S/N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6301" marR="6301" marT="9341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KEY PERFORMANCE</a:t>
                      </a:r>
                      <a:r>
                        <a:rPr lang="en-US" sz="1400" b="1" baseline="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INDICATORS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6301" marR="6301" marT="9341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2023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2024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 hMerge="1">
                  <a:tcPr/>
                </a:tc>
                <a:tc hMerge="1">
                  <a:tcPr/>
                </a:tc>
              </a:tr>
              <a:tr h="717265">
                <a:tc vMerge="1">
                  <a:tcPr/>
                </a:tc>
                <a:tc vMerge="1">
                  <a:tcPr marL="5766" marR="5766" marT="658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</a:rPr>
                        <a:t>Annual</a:t>
                      </a:r>
                      <a:r>
                        <a:rPr lang="en-US" sz="1600" b="1" u="none" strike="noStrike" baseline="0" dirty="0">
                          <a:effectLst/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</a:rPr>
                        <a:t>Target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394" marR="9394" marT="93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</a:rPr>
                        <a:t>Actual 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394" marR="9394" marT="93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</a:rPr>
                        <a:t>%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394" marR="9394" marT="93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</a:rPr>
                        <a:t>Annual</a:t>
                      </a:r>
                      <a:r>
                        <a:rPr lang="en-US" sz="1600" b="1" u="none" strike="noStrike" baseline="0" dirty="0">
                          <a:effectLst/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</a:rPr>
                        <a:t>Target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394" marR="9394" marT="93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</a:rPr>
                        <a:t>Actual Achieved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394" marR="9394" marT="939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Arial Black" panose="020B0A04020102020204" pitchFamily="34" charset="0"/>
                        </a:rPr>
                        <a:t>%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9394" marR="9394" marT="9394" marB="0" anchor="ctr"/>
                </a:tc>
              </a:tr>
              <a:tr h="124261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7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1400" u="none" strike="noStrike" dirty="0">
                          <a:latin typeface="Arial Black" panose="020B0A04020102020204" pitchFamily="34" charset="0"/>
                        </a:rPr>
                        <a:t>Training</a:t>
                      </a:r>
                      <a:r>
                        <a:rPr lang="en-GB" sz="1400" u="none" strike="noStrike" baseline="0" dirty="0">
                          <a:latin typeface="Arial Black" panose="020B0A04020102020204" pitchFamily="34" charset="0"/>
                        </a:rPr>
                        <a:t> </a:t>
                      </a:r>
                      <a:r>
                        <a:rPr lang="en-GB" sz="1400" u="none" strike="noStrike" dirty="0">
                          <a:latin typeface="Arial Black" panose="020B0A04020102020204" pitchFamily="34" charset="0"/>
                        </a:rPr>
                        <a:t>Contribution</a:t>
                      </a:r>
                      <a:endParaRPr lang="en-GB" sz="1400" u="none" strike="noStrike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46,077,025,000.00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58,042,432,002.87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125.97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Black" panose="020B0A04020102020204" pitchFamily="34" charset="0"/>
                        </a:rPr>
                        <a:t>58,298,300,000.00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Black" panose="020B0A04020102020204" pitchFamily="34" charset="0"/>
                        </a:rPr>
                        <a:t>64,531,248,612.64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</a:rPr>
                        <a:t>110.69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</a:tr>
              <a:tr h="123224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8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u="none" strike="noStrike" dirty="0">
                          <a:latin typeface="Arial Black" panose="020B0A04020102020204" pitchFamily="34" charset="0"/>
                        </a:rPr>
                        <a:t>Course</a:t>
                      </a:r>
                      <a:r>
                        <a:rPr lang="en-GB" sz="1500" u="none" strike="noStrike" baseline="0" dirty="0">
                          <a:latin typeface="Arial Black" panose="020B0A04020102020204" pitchFamily="34" charset="0"/>
                        </a:rPr>
                        <a:t> Fee</a:t>
                      </a:r>
                      <a:endParaRPr lang="en-GB" sz="1500" u="none" strike="noStrike" baseline="0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1,312,600,000.00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1,063,145,518.92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81.00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Black" panose="020B0A04020102020204" pitchFamily="34" charset="0"/>
                        </a:rPr>
                        <a:t>2,139,600,000.00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Black" panose="020B0A04020102020204" pitchFamily="34" charset="0"/>
                        </a:rPr>
                        <a:t>1,119,054,665.76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</a:rPr>
                        <a:t>52.30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</a:tr>
              <a:tr h="124261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 Black" panose="020B0A04020102020204" pitchFamily="34" charset="0"/>
                        </a:rPr>
                        <a:t>9</a:t>
                      </a:r>
                      <a:endParaRPr lang="en-US" sz="1600" b="1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u="none" strike="noStrike" dirty="0">
                          <a:latin typeface="Arial Black" panose="020B0A04020102020204" pitchFamily="34" charset="0"/>
                        </a:rPr>
                        <a:t>Other Income</a:t>
                      </a:r>
                      <a:endParaRPr lang="en-GB" sz="1500" u="none" strike="noStrike" dirty="0">
                        <a:latin typeface="Arial Black" panose="020B0A04020102020204" pitchFamily="34" charset="0"/>
                      </a:endParaRPr>
                    </a:p>
                    <a:p>
                      <a:pPr algn="ctr"/>
                      <a:endParaRPr lang="en-US" sz="1500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213,620,000.00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155,680,613.74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 Black" panose="020B0A04020102020204" pitchFamily="34" charset="0"/>
                        </a:rPr>
                        <a:t>72.88</a:t>
                      </a:r>
                      <a:endParaRPr lang="en-US" sz="1400" b="1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Black" panose="020B0A04020102020204" pitchFamily="34" charset="0"/>
                        </a:rPr>
                        <a:t>856,120,000.00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99917" marR="99917" marT="64812" marB="64812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Black" panose="020B0A04020102020204" pitchFamily="34" charset="0"/>
                        </a:rPr>
                        <a:t>46,606,040.70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</a:rPr>
                        <a:t>5.44</a:t>
                      </a:r>
                      <a:endParaRPr lang="en-US" sz="1400" dirty="0">
                        <a:latin typeface="Arial Black" panose="020B0A04020102020204" pitchFamily="34" charset="0"/>
                      </a:endParaRPr>
                    </a:p>
                  </a:txBody>
                  <a:tcPr marL="9526" marR="9526" marT="9525" marB="0" anchor="ctr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589168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Arial Black" panose="020B0A04020102020204" pitchFamily="34" charset="0"/>
              </a:rPr>
              <a:t>REVENUE GENERATION ACTIVITIES…</a:t>
            </a:r>
            <a:endParaRPr lang="en-US" sz="28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838200" y="1334126"/>
          <a:ext cx="10515600" cy="4842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22AFA-50A3-4156-984F-61758D2C441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24323</Words>
  <Application>WPS Presentation</Application>
  <PresentationFormat>Widescreen</PresentationFormat>
  <Paragraphs>2074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7" baseType="lpstr">
      <vt:lpstr>Arial</vt:lpstr>
      <vt:lpstr>SimSun</vt:lpstr>
      <vt:lpstr>Wingdings</vt:lpstr>
      <vt:lpstr>Monotype Corsiva</vt:lpstr>
      <vt:lpstr>Mongolian Baiti</vt:lpstr>
      <vt:lpstr>Copperplate Gothic Light</vt:lpstr>
      <vt:lpstr>Segoe Print</vt:lpstr>
      <vt:lpstr>Aharoni</vt:lpstr>
      <vt:lpstr>Arial Unicode MS</vt:lpstr>
      <vt:lpstr>MS PGothic</vt:lpstr>
      <vt:lpstr>Calibri</vt:lpstr>
      <vt:lpstr>Tahoma</vt:lpstr>
      <vt:lpstr>Garamond</vt:lpstr>
      <vt:lpstr>PMingLiU-ExtB</vt:lpstr>
      <vt:lpstr>Yu Gothic UI Semibold</vt:lpstr>
      <vt:lpstr>Microsoft YaHei</vt:lpstr>
      <vt:lpstr>Arial Unicode MS</vt:lpstr>
      <vt:lpstr>Calibri Light</vt:lpstr>
      <vt:lpstr>Arial Black</vt:lpstr>
      <vt:lpstr>Bell MT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	PROMOTING TRAINING CONSCIOUSNESS</vt:lpstr>
      <vt:lpstr>PowerPoint 演示文稿</vt:lpstr>
      <vt:lpstr>	PROMOTING TRAINING CONSCIOUSNESS</vt:lpstr>
      <vt:lpstr>PowerPoint 演示文稿</vt:lpstr>
      <vt:lpstr>	    TRAINING NEEDS ASSESSMENT (TNA)</vt:lpstr>
      <vt:lpstr>PowerPoint 演示文稿</vt:lpstr>
      <vt:lpstr>	NEW PROGRAMMES DEVELOPED</vt:lpstr>
      <vt:lpstr>PowerPoint 演示文稿</vt:lpstr>
      <vt:lpstr>      IN-DEPTH DIAGNOSTIC STUDY OF MSMEs</vt:lpstr>
      <vt:lpstr>PowerPoint 演示文稿</vt:lpstr>
      <vt:lpstr>                    IN-COMPANY SAFETY</vt:lpstr>
      <vt:lpstr>PowerPoint 演示文稿</vt:lpstr>
      <vt:lpstr>                  RESOURCE CONSULTANCY</vt:lpstr>
      <vt:lpstr>PowerPoint 演示文稿</vt:lpstr>
      <vt:lpstr>    PERFORMANCE AND PRODUCTIVITY IMPROVEMENT TRAINING (PPIT)</vt:lpstr>
      <vt:lpstr>PowerPoint 演示文稿</vt:lpstr>
      <vt:lpstr>AREA OFFICES: SCHEDULED, UNSCHEDULED TRAINING AND LEARNING &amp; DEVELOPENT CERTIFICATION</vt:lpstr>
      <vt:lpstr>PowerPoint 演示文稿</vt:lpstr>
      <vt:lpstr>TRAINING CENTRES: SCHEDULED, UNSCHEDULED TRAINING,  NEWLY DEVELOPED PROGRAMMES AND PROGRAMMES/PACKAGES REVIEWED</vt:lpstr>
      <vt:lpstr>PowerPoint 演示文稿</vt:lpstr>
      <vt:lpstr>TRAINING STANDARDS AND CERTIFICATION</vt:lpstr>
      <vt:lpstr>PowerPoint 演示文稿</vt:lpstr>
      <vt:lpstr>APPRENTICESHIP ACTIVITIES</vt:lpstr>
      <vt:lpstr>PowerPoint 演示文稿</vt:lpstr>
      <vt:lpstr>PowerPoint 演示文稿</vt:lpstr>
      <vt:lpstr>PowerPoint 演示文稿</vt:lpstr>
      <vt:lpstr>PowerPoint 演示文稿</vt:lpstr>
      <vt:lpstr>REVENUE GENERATION ACTIVITIES</vt:lpstr>
      <vt:lpstr>PowerPoint 演示文稿</vt:lpstr>
      <vt:lpstr>REVENUE GENERATION ACTIVITIES…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Azubuko Peter</cp:lastModifiedBy>
  <cp:revision>2350</cp:revision>
  <cp:lastPrinted>2024-04-18T08:05:00Z</cp:lastPrinted>
  <dcterms:created xsi:type="dcterms:W3CDTF">2021-09-06T19:10:00Z</dcterms:created>
  <dcterms:modified xsi:type="dcterms:W3CDTF">2026-07-09T15:43:51Z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8C80A8023D7C4D0C897B239FC4737F2C_13</vt:lpwstr>
  </property>
</Properties>
</file>