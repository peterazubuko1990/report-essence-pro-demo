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7"/>
  </p:notesMasterIdLst>
  <p:handoutMasterIdLst>
    <p:handoutMasterId r:id="rId23"/>
  </p:handoutMasterIdLst>
  <p:sldIdLst>
    <p:sldId id="529" r:id="rId3"/>
    <p:sldId id="420" r:id="rId4"/>
    <p:sldId id="421" r:id="rId5"/>
    <p:sldId id="422" r:id="rId6"/>
    <p:sldId id="477" r:id="rId8"/>
    <p:sldId id="423" r:id="rId9"/>
    <p:sldId id="424" r:id="rId10"/>
    <p:sldId id="425" r:id="rId11"/>
    <p:sldId id="478" r:id="rId12"/>
    <p:sldId id="426" r:id="rId13"/>
    <p:sldId id="427" r:id="rId14"/>
    <p:sldId id="428" r:id="rId15"/>
    <p:sldId id="429" r:id="rId16"/>
    <p:sldId id="430" r:id="rId17"/>
    <p:sldId id="431" r:id="rId18"/>
    <p:sldId id="479" r:id="rId19"/>
    <p:sldId id="432" r:id="rId20"/>
    <p:sldId id="433" r:id="rId21"/>
    <p:sldId id="480" r:id="rId22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浅色样式 3 - 强调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42" autoAdjust="0"/>
    <p:restoredTop sz="94434" autoAdjust="0"/>
  </p:normalViewPr>
  <p:slideViewPr>
    <p:cSldViewPr snapToGrid="0" showGuides="1">
      <p:cViewPr varScale="1">
        <p:scale>
          <a:sx n="65" d="100"/>
          <a:sy n="65" d="100"/>
        </p:scale>
        <p:origin x="66" y="45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2787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handoutMaster" Target="handoutMasters/handoutMaster1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3" Type="http://schemas.microsoft.com/office/2011/relationships/chartColorStyle" Target="colors3.xml"/><Relationship Id="rId2" Type="http://schemas.microsoft.com/office/2011/relationships/chartStyle" Target="style3.xml"/><Relationship Id="rId1" Type="http://schemas.openxmlformats.org/officeDocument/2006/relationships/package" Target="../embeddings/Workbook3.xlsx"/></Relationships>
</file>

<file path=ppt/charts/_rels/chart4.xml.rels><?xml version="1.0" encoding="UTF-8" standalone="yes"?>
<Relationships xmlns="http://schemas.openxmlformats.org/package/2006/relationships"><Relationship Id="rId3" Type="http://schemas.microsoft.com/office/2011/relationships/chartColorStyle" Target="colors4.xml"/><Relationship Id="rId2" Type="http://schemas.microsoft.com/office/2011/relationships/chartStyle" Target="style4.xml"/><Relationship Id="rId1" Type="http://schemas.openxmlformats.org/officeDocument/2006/relationships/package" Target="../embeddings/Workbook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2023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p3d/>
          </c:spPr>
          <c:invertIfNegative val="0"/>
          <c:dLbls>
            <c:dLbl>
              <c:idx val="0"/>
              <c:layout>
                <c:manualLayout>
                  <c:x val="-0.0120772946859904"/>
                  <c:y val="-0.026267782461394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-0.00241545893719807"/>
                  <c:y val="-0.020430497469973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0"/>
                  <c:y val="-0.0145932124785526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 Black" panose="020B0A04020102020204" pitchFamily="34" charset="0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TRAINING CONTRIBUTION</c:v>
                </c:pt>
                <c:pt idx="1">
                  <c:v>COURSE FEE</c:v>
                </c:pt>
                <c:pt idx="2">
                  <c:v>OTHER INCOME</c:v>
                </c:pt>
              </c:strCache>
            </c:strRef>
          </c:cat>
          <c:val>
            <c:numRef>
              <c:f>Sheet1!$B$2:$B$4</c:f>
              <c:numCache>
                <c:formatCode>0.00%</c:formatCode>
                <c:ptCount val="3"/>
                <c:pt idx="0">
                  <c:v>12.0093</c:v>
                </c:pt>
                <c:pt idx="1">
                  <c:v>10.6935</c:v>
                </c:pt>
                <c:pt idx="2">
                  <c:v>26.5377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satMod val="103000"/>
                    <a:lumMod val="102000"/>
                    <a:tint val="94000"/>
                  </a:schemeClr>
                </a:gs>
                <a:gs pos="50000">
                  <a:schemeClr val="accent5">
                    <a:satMod val="110000"/>
                    <a:lumMod val="100000"/>
                    <a:shade val="100000"/>
                  </a:schemeClr>
                </a:gs>
                <a:gs pos="100000">
                  <a:schemeClr val="accent5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p3d/>
          </c:spPr>
          <c:invertIfNegative val="0"/>
          <c:dLbls>
            <c:dLbl>
              <c:idx val="0"/>
              <c:layout>
                <c:manualLayout>
                  <c:x val="0.0229468599033816"/>
                  <c:y val="-0.052535564922789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.039855072463768"/>
                  <c:y val="-0.0554542074184998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0.00120772946859903"/>
                  <c:y val="-0.0306457462049604"/>
                </c:manualLayout>
              </c:layout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lang="en-US" sz="14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 Black" panose="020B0A04020102020204" pitchFamily="34" charset="0"/>
                      <a:ea typeface="+mn-ea"/>
                      <a:cs typeface="+mn-cs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097463768115942"/>
                      <c:h val="0.0926524209335152"/>
                    </c:manualLayout>
                  </c15:layout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 Black" panose="020B0A04020102020204" pitchFamily="34" charset="0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TRAINING CONTRIBUTION</c:v>
                </c:pt>
                <c:pt idx="1">
                  <c:v>COURSE FEE</c:v>
                </c:pt>
                <c:pt idx="2">
                  <c:v>OTHER INCOME</c:v>
                </c:pt>
              </c:strCache>
            </c:strRef>
          </c:cat>
          <c:val>
            <c:numRef>
              <c:f>Sheet1!$C$2:$C$4</c:f>
              <c:numCache>
                <c:formatCode>0.00%</c:formatCode>
                <c:ptCount val="3"/>
                <c:pt idx="0">
                  <c:v>11.0012</c:v>
                </c:pt>
                <c:pt idx="1">
                  <c:v>7.8389</c:v>
                </c:pt>
                <c:pt idx="2">
                  <c:v>0.1492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843589776"/>
        <c:axId val="1843590320"/>
      </c:barChart>
      <c:catAx>
        <c:axId val="18435897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843590320"/>
        <c:crosses val="autoZero"/>
        <c:auto val="1"/>
        <c:lblAlgn val="ctr"/>
        <c:lblOffset val="100"/>
        <c:noMultiLvlLbl val="0"/>
      </c:catAx>
      <c:valAx>
        <c:axId val="1843590320"/>
        <c:scaling>
          <c:orientation val="minMax"/>
        </c:scaling>
        <c:delete val="0"/>
        <c:axPos val="l"/>
        <c:numFmt formatCode="0.00%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 Black" panose="020B0A04020102020204" pitchFamily="34" charset="0"/>
                <a:ea typeface="+mn-ea"/>
                <a:cs typeface="+mn-cs"/>
              </a:defRPr>
            </a:pPr>
          </a:p>
        </c:txPr>
        <c:crossAx val="1843589776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>
              <a:defRPr lang="en-US"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 Black" panose="020B0A04020102020204" pitchFamily="34" charset="0"/>
                <a:ea typeface="+mn-ea"/>
                <a:cs typeface="+mn-cs"/>
              </a:defRPr>
            </a:pPr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a206a29c-11aa-44d1-9bc9-7df626c69e32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2023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p3d/>
          </c:spPr>
          <c:invertIfNegative val="0"/>
          <c:dLbls>
            <c:dLbl>
              <c:idx val="0"/>
              <c:layout>
                <c:manualLayout>
                  <c:x val="-0.033816425120773"/>
                  <c:y val="-0.0204304974699736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-0.0169082125603865"/>
                  <c:y val="-0.0262677824613946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-0.0144927536231885"/>
                  <c:y val="-0.0291864249571051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 Black" panose="020B0A04020102020204" pitchFamily="34" charset="0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TRAINING CONTRIBUTION</c:v>
                </c:pt>
                <c:pt idx="1">
                  <c:v>COURSE FEE</c:v>
                </c:pt>
                <c:pt idx="2">
                  <c:v>OTHER INCOME</c:v>
                </c:pt>
              </c:strCache>
            </c:strRef>
          </c:cat>
          <c:val>
            <c:numRef>
              <c:f>Sheet1!$B$2:$B$4</c:f>
              <c:numCache>
                <c:formatCode>0.00%</c:formatCode>
                <c:ptCount val="3"/>
                <c:pt idx="0">
                  <c:v>13.2791</c:v>
                </c:pt>
                <c:pt idx="1">
                  <c:v>11.1792</c:v>
                </c:pt>
                <c:pt idx="2">
                  <c:v>24.836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satMod val="103000"/>
                    <a:lumMod val="102000"/>
                    <a:tint val="94000"/>
                  </a:schemeClr>
                </a:gs>
                <a:gs pos="50000">
                  <a:schemeClr val="accent5">
                    <a:satMod val="110000"/>
                    <a:lumMod val="100000"/>
                    <a:shade val="100000"/>
                  </a:schemeClr>
                </a:gs>
                <a:gs pos="100000">
                  <a:schemeClr val="accent5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p3d/>
          </c:spPr>
          <c:invertIfNegative val="0"/>
          <c:dLbls>
            <c:dLbl>
              <c:idx val="0"/>
              <c:layout>
                <c:manualLayout>
                  <c:x val="0.0253623188405797"/>
                  <c:y val="-0.0291864249571051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.0507246376811594"/>
                  <c:y val="-0.037942352444236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0.00362318840579701"/>
                  <c:y val="-0.0262677824613946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 Black" panose="020B0A04020102020204" pitchFamily="34" charset="0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TRAINING CONTRIBUTION</c:v>
                </c:pt>
                <c:pt idx="1">
                  <c:v>COURSE FEE</c:v>
                </c:pt>
                <c:pt idx="2">
                  <c:v>OTHER INCOME</c:v>
                </c:pt>
              </c:strCache>
            </c:strRef>
          </c:cat>
          <c:val>
            <c:numRef>
              <c:f>Sheet1!$C$2:$C$4</c:f>
              <c:numCache>
                <c:formatCode>0.00%</c:formatCode>
                <c:ptCount val="3"/>
                <c:pt idx="0">
                  <c:v>9.2092</c:v>
                </c:pt>
                <c:pt idx="1">
                  <c:v>6.3484</c:v>
                </c:pt>
                <c:pt idx="2">
                  <c:v>0.1519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906980416"/>
        <c:axId val="1906988032"/>
      </c:barChart>
      <c:catAx>
        <c:axId val="19069804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906988032"/>
        <c:crosses val="autoZero"/>
        <c:auto val="1"/>
        <c:lblAlgn val="ctr"/>
        <c:lblOffset val="100"/>
        <c:noMultiLvlLbl val="0"/>
      </c:catAx>
      <c:valAx>
        <c:axId val="1906988032"/>
        <c:scaling>
          <c:orientation val="minMax"/>
        </c:scaling>
        <c:delete val="0"/>
        <c:axPos val="l"/>
        <c:numFmt formatCode="0.00%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 Black" panose="020B0A04020102020204" pitchFamily="34" charset="0"/>
                <a:ea typeface="+mn-ea"/>
                <a:cs typeface="+mn-cs"/>
              </a:defRPr>
            </a:pPr>
          </a:p>
        </c:txPr>
        <c:crossAx val="1906980416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>
              <a:defRPr lang="en-US"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 Black" panose="020B0A04020102020204" pitchFamily="34" charset="0"/>
                <a:ea typeface="+mn-ea"/>
                <a:cs typeface="+mn-cs"/>
              </a:defRPr>
            </a:pPr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8bbc9822-c08e-40e7-b5f2-04c89c6e6b08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2023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p3d/>
          </c:spPr>
          <c:invertIfNegative val="0"/>
          <c:dLbls>
            <c:dLbl>
              <c:idx val="0"/>
              <c:layout>
                <c:manualLayout>
                  <c:x val="-0.0314009661835749"/>
                  <c:y val="-0.0233491399656841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.0199275362318841"/>
                  <c:y val="0.0171063799980222"/>
                </c:manualLayout>
              </c:layout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lang="en-US" sz="14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 Black" panose="020B0A04020102020204" pitchFamily="34" charset="0"/>
                      <a:ea typeface="+mn-ea"/>
                      <a:cs typeface="+mn-cs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0748792270531"/>
                      <c:h val="0.216497593697465"/>
                    </c:manualLayout>
                  </c15:layout>
                </c:ext>
              </c:extLst>
            </c:dLbl>
            <c:dLbl>
              <c:idx val="2"/>
              <c:layout>
                <c:manualLayout>
                  <c:x val="-0.00241545893719816"/>
                  <c:y val="-0.0233491399656841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 Black" panose="020B0A04020102020204" pitchFamily="34" charset="0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TRAINING CONTRIBUTION</c:v>
                </c:pt>
                <c:pt idx="1">
                  <c:v>COURSE FEE</c:v>
                </c:pt>
                <c:pt idx="2">
                  <c:v>OTHER INCOME</c:v>
                </c:pt>
              </c:strCache>
            </c:strRef>
          </c:cat>
          <c:val>
            <c:numRef>
              <c:f>Sheet1!$B$2:$B$4</c:f>
              <c:numCache>
                <c:formatCode>0.00%</c:formatCode>
                <c:ptCount val="3"/>
                <c:pt idx="0">
                  <c:v>30.1396</c:v>
                </c:pt>
                <c:pt idx="1">
                  <c:v>10.7147</c:v>
                </c:pt>
                <c:pt idx="2">
                  <c:v>88.2771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satMod val="103000"/>
                    <a:lumMod val="102000"/>
                    <a:tint val="94000"/>
                  </a:schemeClr>
                </a:gs>
                <a:gs pos="50000">
                  <a:schemeClr val="accent5">
                    <a:satMod val="110000"/>
                    <a:lumMod val="100000"/>
                    <a:shade val="100000"/>
                  </a:schemeClr>
                </a:gs>
                <a:gs pos="100000">
                  <a:schemeClr val="accent5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p3d/>
          </c:spPr>
          <c:invertIfNegative val="0"/>
          <c:dLbls>
            <c:dLbl>
              <c:idx val="0"/>
              <c:layout>
                <c:manualLayout>
                  <c:x val="0.0652173913043478"/>
                  <c:y val="-0.0145932124785526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.0338163775723687"/>
                  <c:y val="-0.036936228862445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noAutofit/>
                  </a:bodyPr>
                  <a:lstStyle/>
                  <a:p>
                    <a:pPr defTabSz="914400">
                      <a:defRPr lang="en-US" sz="1600" b="0" i="0" u="none" strike="noStrike" kern="120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 Black" panose="020B0A04020102020204" pitchFamily="34" charset="0"/>
                        <a:ea typeface="+mn-ea"/>
                        <a:cs typeface="+mn-cs"/>
                      </a:defRPr>
                    </a:pPr>
                    <a:fld id="{e4676cce-be5b-4892-8c88-aa2df4ada336}" type="VALUE">
                      <a:t>[VALUE]</a:t>
                    </a:fld>
                    <a:endParaRPr lang="en-US" sz="1400">
                      <a:latin typeface="Arial Black" panose="020B0A04020102020204" pitchFamily="34" charset="0"/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lang="en-US" sz="16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 Black" panose="020B0A04020102020204" pitchFamily="34" charset="0"/>
                      <a:ea typeface="+mn-ea"/>
                      <a:cs typeface="+mn-cs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0982608695652174"/>
                      <c:h val="0.0725932854270363"/>
                    </c:manualLayout>
                  </c15:layout>
                </c:ext>
              </c:extLst>
            </c:dLbl>
            <c:dLbl>
              <c:idx val="2"/>
              <c:layout>
                <c:manualLayout>
                  <c:x val="0.0422705314009662"/>
                  <c:y val="-0.0262677824613946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1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 Black" panose="020B0A04020102020204" pitchFamily="34" charset="0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TRAINING CONTRIBUTION</c:v>
                </c:pt>
                <c:pt idx="1">
                  <c:v>COURSE FEE</c:v>
                </c:pt>
                <c:pt idx="2">
                  <c:v>OTHER INCOME</c:v>
                </c:pt>
              </c:strCache>
            </c:strRef>
          </c:cat>
          <c:val>
            <c:numRef>
              <c:f>Sheet1!$C$2:$C$4</c:f>
              <c:numCache>
                <c:formatCode>0.00%</c:formatCode>
                <c:ptCount val="3"/>
                <c:pt idx="0">
                  <c:v>29.6301</c:v>
                </c:pt>
                <c:pt idx="1">
                  <c:v>7.1395</c:v>
                </c:pt>
                <c:pt idx="2">
                  <c:v>1.0206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906983136"/>
        <c:axId val="1906983680"/>
      </c:barChart>
      <c:catAx>
        <c:axId val="19069831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906983680"/>
        <c:crosses val="autoZero"/>
        <c:auto val="1"/>
        <c:lblAlgn val="ctr"/>
        <c:lblOffset val="100"/>
        <c:noMultiLvlLbl val="0"/>
      </c:catAx>
      <c:valAx>
        <c:axId val="1906983680"/>
        <c:scaling>
          <c:orientation val="minMax"/>
        </c:scaling>
        <c:delete val="0"/>
        <c:axPos val="l"/>
        <c:numFmt formatCode="0.00%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 Black" panose="020B0A04020102020204" pitchFamily="34" charset="0"/>
                <a:ea typeface="+mn-ea"/>
                <a:cs typeface="+mn-cs"/>
              </a:defRPr>
            </a:pPr>
          </a:p>
        </c:txPr>
        <c:crossAx val="1906983136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>
              <a:defRPr lang="en-US"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 Black" panose="020B0A04020102020204" pitchFamily="34" charset="0"/>
                <a:ea typeface="+mn-ea"/>
                <a:cs typeface="+mn-cs"/>
              </a:defRPr>
            </a:pPr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50448267-fe9e-424d-8fed-4c4424e7e334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2023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p3d/>
          </c:spPr>
          <c:invertIfNegative val="0"/>
          <c:dLbls>
            <c:dLbl>
              <c:idx val="0"/>
              <c:layout>
                <c:manualLayout>
                  <c:x val="-0.0169082125603865"/>
                  <c:y val="-0.0116745699828421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-0.0144927536231884"/>
                  <c:y val="-0.00583728499142114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 Black" panose="020B0A04020102020204" pitchFamily="34" charset="0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COURSE FEE</c:v>
                </c:pt>
                <c:pt idx="1">
                  <c:v>OTHER INCOME</c:v>
                </c:pt>
              </c:strCache>
            </c:strRef>
          </c:cat>
          <c:val>
            <c:numRef>
              <c:f>Sheet1!$B$2:$B$3</c:f>
              <c:numCache>
                <c:formatCode>0.00%</c:formatCode>
                <c:ptCount val="2"/>
                <c:pt idx="0">
                  <c:v>2.0881</c:v>
                </c:pt>
                <c:pt idx="1">
                  <c:v>3.9702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satMod val="103000"/>
                    <a:lumMod val="102000"/>
                    <a:tint val="94000"/>
                  </a:schemeClr>
                </a:gs>
                <a:gs pos="50000">
                  <a:schemeClr val="accent5">
                    <a:satMod val="110000"/>
                    <a:lumMod val="100000"/>
                    <a:shade val="100000"/>
                  </a:schemeClr>
                </a:gs>
                <a:gs pos="100000">
                  <a:schemeClr val="accent5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p3d/>
          </c:spPr>
          <c:invertIfNegative val="0"/>
          <c:dLbls>
            <c:dLbl>
              <c:idx val="0"/>
              <c:layout>
                <c:manualLayout>
                  <c:x val="0.0772946859903382"/>
                  <c:y val="0.00291864249571051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.0132850241545893"/>
                  <c:y val="-0.0262677824613946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/>
                  <a:lstStyle/>
                  <a:p>
                    <a:pPr defTabSz="914400">
                      <a:defRPr lang="en-US" sz="1600" b="0" i="0" u="none" strike="noStrike" kern="120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 Black" panose="020B0A04020102020204" pitchFamily="34" charset="0"/>
                        <a:ea typeface="+mn-ea"/>
                        <a:cs typeface="+mn-cs"/>
                      </a:defRPr>
                    </a:pPr>
                    <a:fld id="{762b86ba-43ad-4c9d-9258-c091ad7f739b}" type="VALUE">
                      <a:t>[VALUE]</a:t>
                    </a:fld>
                    <a:endParaRPr lang="en-US" sz="1400">
                      <a:latin typeface="Arial Black" panose="020B0A04020102020204" pitchFamily="34" charset="0"/>
                    </a:endParaRP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1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 Black" panose="020B0A04020102020204" pitchFamily="34" charset="0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COURSE FEE</c:v>
                </c:pt>
                <c:pt idx="1">
                  <c:v>OTHER INCOME</c:v>
                </c:pt>
              </c:strCache>
            </c:strRef>
          </c:cat>
          <c:val>
            <c:numRef>
              <c:f>Sheet1!$C$2:$C$3</c:f>
              <c:numCache>
                <c:formatCode>0.00%</c:formatCode>
                <c:ptCount val="2"/>
                <c:pt idx="0">
                  <c:v>0.8093</c:v>
                </c:pt>
                <c:pt idx="1">
                  <c:v>0.164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906986944"/>
        <c:axId val="1906987488"/>
      </c:barChart>
      <c:catAx>
        <c:axId val="19069869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906987488"/>
        <c:crosses val="autoZero"/>
        <c:auto val="1"/>
        <c:lblAlgn val="ctr"/>
        <c:lblOffset val="100"/>
        <c:noMultiLvlLbl val="0"/>
      </c:catAx>
      <c:valAx>
        <c:axId val="1906987488"/>
        <c:scaling>
          <c:orientation val="minMax"/>
        </c:scaling>
        <c:delete val="0"/>
        <c:axPos val="l"/>
        <c:numFmt formatCode="0.00%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 Black" panose="020B0A04020102020204" pitchFamily="34" charset="0"/>
                <a:ea typeface="+mn-ea"/>
                <a:cs typeface="+mn-cs"/>
              </a:defRPr>
            </a:pPr>
          </a:p>
        </c:txPr>
        <c:crossAx val="1906986944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>
              <a:defRPr lang="en-US"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 Black" panose="020B0A04020102020204" pitchFamily="34" charset="0"/>
                <a:ea typeface="+mn-ea"/>
                <a:cs typeface="+mn-cs"/>
              </a:defRPr>
            </a:pPr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b3fb5e7c-4f38-45b3-9e07-3b0fc5fca4ef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4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3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lt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34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3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lt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34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3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lt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34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3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lt1"/>
    </cs:fontRef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3" y="4"/>
            <a:ext cx="3038649" cy="466725"/>
          </a:xfrm>
          <a:prstGeom prst="rect">
            <a:avLst/>
          </a:prstGeom>
        </p:spPr>
        <p:txBody>
          <a:bodyPr vert="horz" lIns="92144" tIns="46072" rIns="92144" bIns="46072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136" y="4"/>
            <a:ext cx="3038648" cy="466725"/>
          </a:xfrm>
          <a:prstGeom prst="rect">
            <a:avLst/>
          </a:prstGeom>
        </p:spPr>
        <p:txBody>
          <a:bodyPr vert="horz" lIns="92144" tIns="46072" rIns="92144" bIns="46072" rtlCol="0"/>
          <a:lstStyle>
            <a:lvl1pPr algn="r">
              <a:defRPr sz="1300"/>
            </a:lvl1pPr>
          </a:lstStyle>
          <a:p>
            <a:fld id="{97A0745A-FB58-4F95-B051-39E0B6D431C5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3" y="8829680"/>
            <a:ext cx="3038649" cy="466725"/>
          </a:xfrm>
          <a:prstGeom prst="rect">
            <a:avLst/>
          </a:prstGeom>
        </p:spPr>
        <p:txBody>
          <a:bodyPr vert="horz" lIns="92144" tIns="46072" rIns="92144" bIns="46072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136" y="8829680"/>
            <a:ext cx="3038648" cy="466725"/>
          </a:xfrm>
          <a:prstGeom prst="rect">
            <a:avLst/>
          </a:prstGeom>
        </p:spPr>
        <p:txBody>
          <a:bodyPr vert="horz" lIns="92144" tIns="46072" rIns="92144" bIns="46072" rtlCol="0" anchor="b"/>
          <a:lstStyle>
            <a:lvl1pPr algn="r">
              <a:defRPr sz="1300"/>
            </a:lvl1pPr>
          </a:lstStyle>
          <a:p>
            <a:fld id="{97E14528-FBFE-482F-8AF4-BB4830DB20E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3037840" cy="466434"/>
          </a:xfrm>
          <a:prstGeom prst="rect">
            <a:avLst/>
          </a:prstGeom>
        </p:spPr>
        <p:txBody>
          <a:bodyPr vert="horz" lIns="93159" tIns="46580" rIns="93159" bIns="46580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9" y="1"/>
            <a:ext cx="3037840" cy="466434"/>
          </a:xfrm>
          <a:prstGeom prst="rect">
            <a:avLst/>
          </a:prstGeom>
        </p:spPr>
        <p:txBody>
          <a:bodyPr vert="horz" lIns="93159" tIns="46580" rIns="93159" bIns="46580" rtlCol="0"/>
          <a:lstStyle>
            <a:lvl1pPr algn="r">
              <a:defRPr sz="1300"/>
            </a:lvl1pPr>
          </a:lstStyle>
          <a:p>
            <a:fld id="{C472CFB3-4041-46C9-AE69-D2C0C4A13CB9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162050"/>
            <a:ext cx="5573712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59" tIns="46580" rIns="93159" bIns="4658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1" y="4473893"/>
            <a:ext cx="5608320" cy="3660458"/>
          </a:xfrm>
          <a:prstGeom prst="rect">
            <a:avLst/>
          </a:prstGeom>
        </p:spPr>
        <p:txBody>
          <a:bodyPr vert="horz" lIns="93159" tIns="46580" rIns="93159" bIns="4658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8829972"/>
            <a:ext cx="3037840" cy="466433"/>
          </a:xfrm>
          <a:prstGeom prst="rect">
            <a:avLst/>
          </a:prstGeom>
        </p:spPr>
        <p:txBody>
          <a:bodyPr vert="horz" lIns="93159" tIns="46580" rIns="93159" bIns="46580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9" y="8829972"/>
            <a:ext cx="3037840" cy="466433"/>
          </a:xfrm>
          <a:prstGeom prst="rect">
            <a:avLst/>
          </a:prstGeom>
        </p:spPr>
        <p:txBody>
          <a:bodyPr vert="horz" lIns="93159" tIns="46580" rIns="93159" bIns="46580" rtlCol="0" anchor="b"/>
          <a:lstStyle>
            <a:lvl1pPr algn="r">
              <a:defRPr sz="1300"/>
            </a:lvl1pPr>
          </a:lstStyle>
          <a:p>
            <a:fld id="{A4480885-5E4E-4DEE-BFCD-BDD8A9D051F2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80885-5E4E-4DEE-BFCD-BDD8A9D051F2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DAD0DC-F4C1-454A-8C8A-FAF6C0AB9107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DAD0DC-F4C1-454A-8C8A-FAF6C0AB9107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DAD0DC-F4C1-454A-8C8A-FAF6C0AB9107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DAD0DC-F4C1-454A-8C8A-FAF6C0AB9107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DAD0DC-F4C1-454A-8C8A-FAF6C0AB9107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DAD0DC-F4C1-454A-8C8A-FAF6C0AB9107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DAD0DC-F4C1-454A-8C8A-FAF6C0AB9107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DAD0DC-F4C1-454A-8C8A-FAF6C0AB9107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DAD0DC-F4C1-454A-8C8A-FAF6C0AB9107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480885-5E4E-4DEE-BFCD-BDD8A9D051F2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D8BEB-DE5D-4A65-9DFF-DB5527D62AF4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D944C-C7AB-4FA0-96DB-398BAC366CE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>
    <p:randomBar dir="vert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57336-F92F-4BC2-84D8-C4A906911638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D944C-C7AB-4FA0-96DB-398BAC366CE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>
    <p:randomBar dir="vert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C913E-12A4-409D-BDA7-6F47B50E19F7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D944C-C7AB-4FA0-96DB-398BAC366CE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>
    <p:randomBar dir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2895F-D947-40F5-ACE4-2C8C6D802671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D944C-C7AB-4FA0-96DB-398BAC366CE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>
    <p:randomBar dir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AED58-7E8C-410F-BC9F-E2542138CA2F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D944C-C7AB-4FA0-96DB-398BAC366CE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>
    <p:randomBar dir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80F63-EA3E-4ABD-B703-80F1CA1EEAA5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D944C-C7AB-4FA0-96DB-398BAC366CE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>
    <p:randomBar dir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11922-3866-4271-B001-A7C81F8D08C7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D944C-C7AB-4FA0-96DB-398BAC366CE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>
    <p:randomBar dir="vert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83E66-3B0F-467E-ACD9-C151CBC43FD8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D944C-C7AB-4FA0-96DB-398BAC366CE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>
    <p:randomBar dir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271EA-EC0A-4878-BEDE-EA4C0691EB45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D944C-C7AB-4FA0-96DB-398BAC366CE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>
    <p:randomBar dir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72035-4702-4C81-B0B0-ECF3F443C722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D944C-C7AB-4FA0-96DB-398BAC366CE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>
    <p:randomBar dir="vert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0EBCF-3C48-42DC-AB24-8CEBDF0529DB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D944C-C7AB-4FA0-96DB-398BAC366CE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>
    <p:randomBar dir="vert"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09EE62-0744-4460-A116-4BA4EF7C423A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56F188-32B8-47A2-B323-867F206814E7}" type="slidenum">
              <a:rPr lang="en-US" smtClean="0"/>
            </a:fld>
            <a:endParaRPr lang="en-US"/>
          </a:p>
        </p:txBody>
      </p:sp>
      <p:grpSp>
        <p:nvGrpSpPr>
          <p:cNvPr id="7" name="Group 6"/>
          <p:cNvGrpSpPr/>
          <p:nvPr userDrawn="1"/>
        </p:nvGrpSpPr>
        <p:grpSpPr>
          <a:xfrm>
            <a:off x="0" y="-5443"/>
            <a:ext cx="12192000" cy="6858000"/>
            <a:chOff x="0" y="0"/>
            <a:chExt cx="12192000" cy="6858000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76200" y="76200"/>
              <a:ext cx="12028714" cy="6694714"/>
            </a:xfrm>
            <a:prstGeom prst="rect">
              <a:avLst/>
            </a:prstGeom>
            <a:solidFill>
              <a:schemeClr val="tx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5058" y="174172"/>
              <a:ext cx="11811000" cy="6477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9381" y="185738"/>
            <a:ext cx="822036" cy="822036"/>
          </a:xfrm>
          <a:prstGeom prst="rect">
            <a:avLst/>
          </a:prstGeom>
        </p:spPr>
      </p:pic>
      <p:sp>
        <p:nvSpPr>
          <p:cNvPr id="12" name="Rectangle 11"/>
          <p:cNvSpPr/>
          <p:nvPr userDrawn="1"/>
        </p:nvSpPr>
        <p:spPr>
          <a:xfrm>
            <a:off x="0" y="6645728"/>
            <a:ext cx="12192000" cy="21227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lvl="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i="1" dirty="0">
                <a:solidFill>
                  <a:prstClr val="white"/>
                </a:solidFill>
                <a:latin typeface="Monotype Corsiva" panose="03010101010201010101" pitchFamily="66" charset="0"/>
              </a:rPr>
              <a:t>    ITF… Developing the Nation’s Human Resource</a:t>
            </a:r>
            <a:r>
              <a:rPr lang="en-US" sz="1400" dirty="0">
                <a:solidFill>
                  <a:prstClr val="white"/>
                </a:solidFill>
              </a:rPr>
              <a:t>						                 	                www.itf.gov.ng</a:t>
            </a:r>
            <a:endParaRPr lang="en-GB" sz="1400" dirty="0">
              <a:solidFill>
                <a:prstClr val="white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randomBar dir="vert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chart" Target="../charts/char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chart" Target="../charts/char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chart" Target="../charts/char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chart" Target="../charts/char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723331"/>
            <a:ext cx="10515600" cy="5453632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1500" dirty="0">
                <a:solidFill>
                  <a:srgbClr val="FF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PART TWO</a:t>
            </a:r>
            <a:endParaRPr lang="en-US" sz="8000" dirty="0">
              <a:solidFill>
                <a:srgbClr val="FF0000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marL="0" indent="0" algn="ctr">
              <a:buNone/>
            </a:pPr>
            <a:r>
              <a:rPr lang="en-US" sz="8000" dirty="0">
                <a:latin typeface="Aharoni" panose="02010803020104030203" pitchFamily="2" charset="-79"/>
                <a:cs typeface="Aharoni" panose="02010803020104030203" pitchFamily="2" charset="-79"/>
              </a:rPr>
              <a:t>COMPARATIVE ANALYSIS OF REVENUE GENERATED</a:t>
            </a:r>
            <a:endParaRPr lang="en-US" sz="80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D944C-C7AB-4FA0-96DB-398BAC366CE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7610" y="147727"/>
          <a:ext cx="11840533" cy="6369403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432028"/>
                <a:gridCol w="1469583"/>
                <a:gridCol w="2085474"/>
                <a:gridCol w="2069431"/>
                <a:gridCol w="862548"/>
                <a:gridCol w="1962840"/>
                <a:gridCol w="2083497"/>
                <a:gridCol w="875132"/>
              </a:tblGrid>
              <a:tr h="691722">
                <a:tc gridSpan="8">
                  <a:txBody>
                    <a:bodyPr/>
                    <a:lstStyle/>
                    <a:p>
                      <a:pPr marL="3657600" marR="0" indent="509905" algn="l" defTabSz="13163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GB" sz="2000" u="none" strike="noStrike" baseline="0" dirty="0">
                          <a:solidFill>
                            <a:srgbClr val="FF0000"/>
                          </a:solidFill>
                          <a:latin typeface="Arial Black" panose="020B0A04020102020204" pitchFamily="34" charset="0"/>
                        </a:rPr>
                        <a:t>TRAINING CONTRIBUTION</a:t>
                      </a:r>
                      <a:endParaRPr lang="en-GB" sz="2000" u="none" strike="noStrike" baseline="0" dirty="0">
                        <a:solidFill>
                          <a:srgbClr val="FF0000"/>
                        </a:solidFill>
                        <a:latin typeface="Arial Black" panose="020B0A04020102020204" pitchFamily="34" charset="0"/>
                      </a:endParaRPr>
                    </a:p>
                    <a:p>
                      <a:pPr marL="4403725" marR="0" indent="517525" algn="l" defTabSz="13163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GB" sz="2000" u="none" strike="noStrike" baseline="0" dirty="0">
                          <a:latin typeface="Arial Black" panose="020B0A04020102020204" pitchFamily="34" charset="0"/>
                        </a:rPr>
                        <a:t>CATEGORY A</a:t>
                      </a:r>
                      <a:endParaRPr lang="en-US" sz="20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/>
                </a:tc>
                <a:tc hMerge="1">
                  <a:tcPr/>
                </a:tc>
                <a:tc hMerge="1">
                  <a:tcPr marL="99917" marR="99917" marT="64812" marB="64812"/>
                </a:tc>
                <a:tc hMerge="1">
                  <a:tcPr/>
                </a:tc>
                <a:tc hMerge="1">
                  <a:tcPr/>
                </a:tc>
                <a:tc hMerge="1">
                  <a:tcPr marL="99917" marR="99917" marT="64812" marB="64812"/>
                </a:tc>
                <a:tc hMerge="1">
                  <a:tcPr/>
                </a:tc>
                <a:tc hMerge="1">
                  <a:tcPr/>
                </a:tc>
              </a:tr>
              <a:tr h="330067">
                <a:tc rowSpan="2">
                  <a:txBody>
                    <a:bodyPr/>
                    <a:lstStyle/>
                    <a:p>
                      <a:pPr marL="0" indent="0" algn="ctr"/>
                      <a:r>
                        <a:rPr lang="en-US" sz="1700" b="1" dirty="0"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S/N</a:t>
                      </a:r>
                      <a:endParaRPr lang="en-US" sz="1700" b="1" dirty="0"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4330" marR="54330" marT="35242" marB="35242" anchor="ctr"/>
                </a:tc>
                <a:tc rowSpan="2">
                  <a:txBody>
                    <a:bodyPr/>
                    <a:lstStyle/>
                    <a:p>
                      <a:pPr marL="0" indent="0" algn="ctr"/>
                      <a:r>
                        <a:rPr lang="en-US" sz="1600" b="1" dirty="0"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AREA OFFICE</a:t>
                      </a:r>
                      <a:endParaRPr lang="en-US" sz="1600" b="1" dirty="0"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4330" marR="54330" marT="35242" marB="35242"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700" b="1" dirty="0">
                          <a:latin typeface="Arial Black" panose="020B0A04020102020204" pitchFamily="34" charset="0"/>
                        </a:rPr>
                        <a:t>2023</a:t>
                      </a:r>
                      <a:endParaRPr lang="en-US" sz="1700" b="1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 hMerge="1">
                  <a:tcPr marL="54330" marR="54330" marT="35242" marB="35242"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700" b="1" dirty="0">
                          <a:latin typeface="Arial Black" panose="020B0A04020102020204" pitchFamily="34" charset="0"/>
                        </a:rPr>
                        <a:t>2024</a:t>
                      </a:r>
                      <a:endParaRPr lang="en-US" sz="1700" b="1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/>
                </a:tc>
                <a:tc hMerge="1">
                  <a:tcPr/>
                </a:tc>
                <a:tc hMerge="1">
                  <a:tcPr/>
                </a:tc>
              </a:tr>
              <a:tr h="543591">
                <a:tc vMerge="1">
                  <a:tcPr marL="99917" marR="99917" marT="64812" marB="64812"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700" b="1" dirty="0"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Annual</a:t>
                      </a:r>
                      <a:r>
                        <a:rPr lang="en-US" sz="1700" b="1" baseline="0" dirty="0"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 Target</a:t>
                      </a:r>
                      <a:endParaRPr lang="en-US" sz="1700" b="1" dirty="0"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7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Actual</a:t>
                      </a:r>
                      <a:endParaRPr lang="en-US" sz="1700" b="1" u="none" strike="noStrike" dirty="0"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7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Achieved</a:t>
                      </a:r>
                      <a:endParaRPr lang="en-US" sz="17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108" marR="5108" marT="5108" marB="0"/>
                </a:tc>
                <a:tc>
                  <a:txBody>
                    <a:bodyPr/>
                    <a:lstStyle/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7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% </a:t>
                      </a:r>
                      <a:endParaRPr lang="en-US" sz="1700" b="1" u="none" strike="noStrike" dirty="0"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2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Achieved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108" marR="5108" marT="5108" marB="0"/>
                </a:tc>
                <a:tc>
                  <a:txBody>
                    <a:bodyPr/>
                    <a:lstStyle/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7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Annual</a:t>
                      </a:r>
                      <a:endParaRPr lang="en-US" sz="1700" b="1" u="none" strike="noStrike" dirty="0"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7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Target</a:t>
                      </a:r>
                      <a:endParaRPr lang="en-US" sz="17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108" marR="5108" marT="5108" marB="0"/>
                </a:tc>
                <a:tc>
                  <a:txBody>
                    <a:bodyPr/>
                    <a:lstStyle/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7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Actual</a:t>
                      </a:r>
                      <a:endParaRPr lang="en-US" sz="1700" b="1" u="none" strike="noStrike" dirty="0"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7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Achieved</a:t>
                      </a:r>
                      <a:endParaRPr lang="en-US" sz="17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108" marR="5108" marT="5108" marB="0"/>
                </a:tc>
                <a:tc>
                  <a:txBody>
                    <a:bodyPr/>
                    <a:lstStyle/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7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% </a:t>
                      </a:r>
                      <a:endParaRPr lang="en-US" sz="1700" b="1" u="none" strike="noStrike" dirty="0"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2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Achieved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108" marR="5108" marT="5108" marB="0"/>
                </a:tc>
              </a:tr>
              <a:tr h="498796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Arial Black" panose="020B0A04020102020204" pitchFamily="34" charset="0"/>
                        </a:rPr>
                        <a:t>1</a:t>
                      </a:r>
                      <a:endParaRPr lang="en-GB" sz="1400" dirty="0">
                        <a:latin typeface="Arial Black" panose="020B0A04020102020204" pitchFamily="34" charset="0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Arial Black" panose="020B0A04020102020204" pitchFamily="34" charset="0"/>
                        </a:rPr>
                        <a:t>Abuja    </a:t>
                      </a:r>
                      <a:endParaRPr lang="en-GB" sz="1400" dirty="0">
                        <a:latin typeface="Arial Black" panose="020B0A04020102020204" pitchFamily="34" charset="0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latin typeface="Arial Black" panose="020B0A04020102020204" pitchFamily="34" charset="0"/>
                        </a:rPr>
                        <a:t>6,900,000,000.00</a:t>
                      </a:r>
                      <a:endParaRPr lang="en-US" sz="1500" b="1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latin typeface="Arial Black" panose="020B0A04020102020204" pitchFamily="34" charset="0"/>
                        </a:rPr>
                        <a:t>8,985,428,329.06</a:t>
                      </a:r>
                      <a:endParaRPr lang="en-US" sz="1500" b="1" dirty="0">
                        <a:latin typeface="Arial Black" panose="020B0A04020102020204" pitchFamily="34" charset="0"/>
                      </a:endParaRPr>
                    </a:p>
                  </a:txBody>
                  <a:tcPr marL="5180" marR="5180" marT="517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latin typeface="Arial Black" panose="020B0A04020102020204" pitchFamily="34" charset="0"/>
                        </a:rPr>
                        <a:t>130.22</a:t>
                      </a:r>
                      <a:endParaRPr lang="en-US" sz="1500" b="1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Arial Black" panose="020B0A04020102020204" pitchFamily="34" charset="0"/>
                        </a:rPr>
                        <a:t>9,000,000,000.00</a:t>
                      </a:r>
                      <a:endParaRPr lang="en-US" sz="1400" b="1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Arial Black" panose="020B0A04020102020204" pitchFamily="34" charset="0"/>
                        </a:rPr>
                        <a:t>9,569,441,953.79</a:t>
                      </a:r>
                      <a:endParaRPr lang="en-US" sz="1400" b="1" dirty="0">
                        <a:latin typeface="Arial Black" panose="020B0A04020102020204" pitchFamily="34" charset="0"/>
                      </a:endParaRPr>
                    </a:p>
                  </a:txBody>
                  <a:tcPr marL="5180" marR="5180" marT="5179" marB="0" anchor="ctr"/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Arial Black" panose="020B0A04020102020204" pitchFamily="34" charset="0"/>
                        </a:rPr>
                        <a:t>106.33</a:t>
                      </a:r>
                      <a:endParaRPr lang="en-US" sz="1400" b="1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  <a:tr h="511584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Arial Black" panose="020B0A04020102020204" pitchFamily="34" charset="0"/>
                        </a:rPr>
                        <a:t>2</a:t>
                      </a:r>
                      <a:endParaRPr lang="en-GB" sz="1400" dirty="0">
                        <a:latin typeface="Arial Black" panose="020B0A04020102020204" pitchFamily="34" charset="0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Arial Black" panose="020B0A04020102020204" pitchFamily="34" charset="0"/>
                        </a:rPr>
                        <a:t>Apapa     </a:t>
                      </a:r>
                      <a:endParaRPr lang="en-GB" sz="1400" dirty="0">
                        <a:latin typeface="Arial Black" panose="020B0A04020102020204" pitchFamily="34" charset="0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latin typeface="Arial Black" panose="020B0A04020102020204" pitchFamily="34" charset="0"/>
                        </a:rPr>
                        <a:t>2,500,000,000.00</a:t>
                      </a:r>
                      <a:endParaRPr lang="en-US" sz="1500" b="1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latin typeface="Arial Black" panose="020B0A04020102020204" pitchFamily="34" charset="0"/>
                        </a:rPr>
                        <a:t>3,013,297,375.65</a:t>
                      </a:r>
                      <a:endParaRPr lang="en-US" sz="1500" b="1" dirty="0">
                        <a:latin typeface="Arial Black" panose="020B0A04020102020204" pitchFamily="34" charset="0"/>
                      </a:endParaRPr>
                    </a:p>
                  </a:txBody>
                  <a:tcPr marL="5180" marR="5180" marT="517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latin typeface="Arial Black" panose="020B0A04020102020204" pitchFamily="34" charset="0"/>
                        </a:rPr>
                        <a:t>120.53</a:t>
                      </a:r>
                      <a:endParaRPr lang="en-US" sz="1500" b="1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Arial Black" panose="020B0A04020102020204" pitchFamily="34" charset="0"/>
                        </a:rPr>
                        <a:t>3,100,000,000.00</a:t>
                      </a:r>
                      <a:endParaRPr lang="en-US" sz="1400" b="1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Arial Black" panose="020B0A04020102020204" pitchFamily="34" charset="0"/>
                        </a:rPr>
                        <a:t>3,192,176,033.96</a:t>
                      </a:r>
                      <a:endParaRPr lang="en-US" sz="1400" b="1" dirty="0">
                        <a:latin typeface="Arial Black" panose="020B0A04020102020204" pitchFamily="34" charset="0"/>
                      </a:endParaRPr>
                    </a:p>
                  </a:txBody>
                  <a:tcPr marL="5180" marR="5180" marT="5179" marB="0" anchor="ctr"/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Arial Black" panose="020B0A04020102020204" pitchFamily="34" charset="0"/>
                        </a:rPr>
                        <a:t>102.97</a:t>
                      </a:r>
                      <a:endParaRPr lang="en-US" sz="1400" b="1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  <a:tr h="354848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Arial Black" panose="020B0A04020102020204" pitchFamily="34" charset="0"/>
                        </a:rPr>
                        <a:t>3</a:t>
                      </a:r>
                      <a:endParaRPr lang="en-GB" sz="1400" dirty="0">
                        <a:latin typeface="Arial Black" panose="020B0A04020102020204" pitchFamily="34" charset="0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Arial Black" panose="020B0A04020102020204" pitchFamily="34" charset="0"/>
                        </a:rPr>
                        <a:t>Benin</a:t>
                      </a:r>
                      <a:endParaRPr lang="en-GB" sz="1400" dirty="0">
                        <a:latin typeface="Arial Black" panose="020B0A04020102020204" pitchFamily="34" charset="0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latin typeface="Arial Black" panose="020B0A04020102020204" pitchFamily="34" charset="0"/>
                        </a:rPr>
                        <a:t>1,000,000,000.00</a:t>
                      </a:r>
                      <a:endParaRPr lang="en-US" sz="1500" b="1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latin typeface="Arial Black" panose="020B0A04020102020204" pitchFamily="34" charset="0"/>
                        </a:rPr>
                        <a:t>1,259,840,226.65</a:t>
                      </a:r>
                      <a:endParaRPr lang="en-US" sz="1500" b="1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latin typeface="Arial Black" panose="020B0A04020102020204" pitchFamily="34" charset="0"/>
                        </a:rPr>
                        <a:t>125.98</a:t>
                      </a:r>
                      <a:endParaRPr lang="en-US" sz="1500" b="1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Arial Black" panose="020B0A04020102020204" pitchFamily="34" charset="0"/>
                        </a:rPr>
                        <a:t>1,050,000,000.00</a:t>
                      </a:r>
                      <a:endParaRPr lang="en-US" sz="1400" b="1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Arial Black" panose="020B0A04020102020204" pitchFamily="34" charset="0"/>
                        </a:rPr>
                        <a:t>936,904,753.70</a:t>
                      </a:r>
                      <a:endParaRPr lang="en-US" sz="1400" b="1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Arial Black" panose="020B0A04020102020204" pitchFamily="34" charset="0"/>
                        </a:rPr>
                        <a:t>89.23</a:t>
                      </a:r>
                      <a:endParaRPr lang="en-US" sz="1400" b="1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  <a:tr h="354848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Arial Black" panose="020B0A04020102020204" pitchFamily="34" charset="0"/>
                        </a:rPr>
                        <a:t>4</a:t>
                      </a:r>
                      <a:endParaRPr lang="en-GB" sz="1400" dirty="0">
                        <a:latin typeface="Arial Black" panose="020B0A04020102020204" pitchFamily="34" charset="0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Arial Black" panose="020B0A04020102020204" pitchFamily="34" charset="0"/>
                        </a:rPr>
                        <a:t>Ikeja</a:t>
                      </a:r>
                      <a:endParaRPr lang="en-GB" sz="1400" dirty="0">
                        <a:latin typeface="Arial Black" panose="020B0A04020102020204" pitchFamily="34" charset="0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latin typeface="Arial Black" panose="020B0A04020102020204" pitchFamily="34" charset="0"/>
                        </a:rPr>
                        <a:t>3,300,000,000.00</a:t>
                      </a:r>
                      <a:endParaRPr lang="en-US" sz="1500" b="1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latin typeface="Arial Black" panose="020B0A04020102020204" pitchFamily="34" charset="0"/>
                        </a:rPr>
                        <a:t>4,068,653,963.82</a:t>
                      </a:r>
                      <a:endParaRPr lang="en-US" sz="1500" b="1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latin typeface="Arial Black" panose="020B0A04020102020204" pitchFamily="34" charset="0"/>
                        </a:rPr>
                        <a:t>123.29</a:t>
                      </a:r>
                      <a:endParaRPr lang="en-US" sz="1500" b="1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Arial Black" panose="020B0A04020102020204" pitchFamily="34" charset="0"/>
                        </a:rPr>
                        <a:t>3,900,000,000.00</a:t>
                      </a:r>
                      <a:endParaRPr lang="en-US" sz="1400" b="1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Arial Black" panose="020B0A04020102020204" pitchFamily="34" charset="0"/>
                        </a:rPr>
                        <a:t>4,762,389,958.01</a:t>
                      </a:r>
                      <a:endParaRPr lang="en-US" sz="1400" b="1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Arial Black" panose="020B0A04020102020204" pitchFamily="34" charset="0"/>
                        </a:rPr>
                        <a:t>122.11</a:t>
                      </a:r>
                      <a:endParaRPr lang="en-US" sz="1400" b="1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  <a:tr h="354848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Arial Black" panose="020B0A04020102020204" pitchFamily="34" charset="0"/>
                        </a:rPr>
                        <a:t>5</a:t>
                      </a:r>
                      <a:endParaRPr lang="en-GB" sz="1400" dirty="0">
                        <a:latin typeface="Arial Black" panose="020B0A04020102020204" pitchFamily="34" charset="0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Arial Black" panose="020B0A04020102020204" pitchFamily="34" charset="0"/>
                        </a:rPr>
                        <a:t>Isolo</a:t>
                      </a:r>
                      <a:endParaRPr lang="en-GB" sz="1400" dirty="0">
                        <a:latin typeface="Arial Black" panose="020B0A04020102020204" pitchFamily="34" charset="0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latin typeface="Arial Black" panose="020B0A04020102020204" pitchFamily="34" charset="0"/>
                        </a:rPr>
                        <a:t>1,400,000,000.00</a:t>
                      </a:r>
                      <a:endParaRPr lang="en-US" sz="1500" b="1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latin typeface="Arial Black" panose="020B0A04020102020204" pitchFamily="34" charset="0"/>
                        </a:rPr>
                        <a:t>1,729,622,269.50</a:t>
                      </a:r>
                      <a:endParaRPr lang="en-US" sz="1500" b="1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latin typeface="Arial Black" panose="020B0A04020102020204" pitchFamily="34" charset="0"/>
                        </a:rPr>
                        <a:t>123.54</a:t>
                      </a:r>
                      <a:endParaRPr lang="en-US" sz="1500" b="1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Arial Black" panose="020B0A04020102020204" pitchFamily="34" charset="0"/>
                        </a:rPr>
                        <a:t>1,850,000,000.00</a:t>
                      </a:r>
                      <a:endParaRPr lang="en-US" sz="1400" b="1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Arial Black" panose="020B0A04020102020204" pitchFamily="34" charset="0"/>
                        </a:rPr>
                        <a:t>2,060,340,866.19</a:t>
                      </a:r>
                      <a:endParaRPr lang="en-US" sz="1400" b="1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Arial Black" panose="020B0A04020102020204" pitchFamily="34" charset="0"/>
                        </a:rPr>
                        <a:t>111.37</a:t>
                      </a:r>
                      <a:endParaRPr lang="en-US" sz="1400" b="1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  <a:tr h="514569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Arial Black" panose="020B0A04020102020204" pitchFamily="34" charset="0"/>
                        </a:rPr>
                        <a:t>6</a:t>
                      </a:r>
                      <a:endParaRPr lang="en-GB" sz="1400" dirty="0">
                        <a:latin typeface="Arial Black" panose="020B0A04020102020204" pitchFamily="34" charset="0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Arial Black" panose="020B0A04020102020204" pitchFamily="34" charset="0"/>
                        </a:rPr>
                        <a:t>Lagos Island</a:t>
                      </a:r>
                      <a:endParaRPr lang="en-GB" sz="1400" dirty="0">
                        <a:latin typeface="Arial Black" panose="020B0A04020102020204" pitchFamily="34" charset="0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latin typeface="Arial Black" panose="020B0A04020102020204" pitchFamily="34" charset="0"/>
                        </a:rPr>
                        <a:t>6,800,000,000.00</a:t>
                      </a:r>
                      <a:endParaRPr lang="en-US" sz="1500" b="1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latin typeface="Arial Black" panose="020B0A04020102020204" pitchFamily="34" charset="0"/>
                        </a:rPr>
                        <a:t>8,191,123,532.50</a:t>
                      </a:r>
                      <a:endParaRPr lang="en-US" sz="1500" b="1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latin typeface="Arial Black" panose="020B0A04020102020204" pitchFamily="34" charset="0"/>
                        </a:rPr>
                        <a:t>120.46</a:t>
                      </a:r>
                      <a:endParaRPr lang="en-US" sz="1500" b="1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Arial Black" panose="020B0A04020102020204" pitchFamily="34" charset="0"/>
                        </a:rPr>
                        <a:t>8,500,000,000.00</a:t>
                      </a:r>
                      <a:endParaRPr lang="en-US" sz="1400" b="1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Arial Black" panose="020B0A04020102020204" pitchFamily="34" charset="0"/>
                        </a:rPr>
                        <a:t>9,441,068,833.99</a:t>
                      </a:r>
                      <a:endParaRPr lang="en-US" sz="1400" b="1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Arial Black" panose="020B0A04020102020204" pitchFamily="34" charset="0"/>
                        </a:rPr>
                        <a:t>111.07</a:t>
                      </a:r>
                      <a:endParaRPr lang="en-US" sz="1400" b="1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  <a:tr h="354848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Arial Black" panose="020B0A04020102020204" pitchFamily="34" charset="0"/>
                        </a:rPr>
                        <a:t>7</a:t>
                      </a:r>
                      <a:endParaRPr lang="en-GB" sz="1400" dirty="0">
                        <a:latin typeface="Arial Black" panose="020B0A04020102020204" pitchFamily="34" charset="0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Arial Black" panose="020B0A04020102020204" pitchFamily="34" charset="0"/>
                        </a:rPr>
                        <a:t>Lekki</a:t>
                      </a:r>
                      <a:endParaRPr lang="en-GB" sz="1400" dirty="0">
                        <a:latin typeface="Arial Black" panose="020B0A04020102020204" pitchFamily="34" charset="0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latin typeface="Arial Black" panose="020B0A04020102020204" pitchFamily="34" charset="0"/>
                        </a:rPr>
                        <a:t>3,300,000,000.00</a:t>
                      </a:r>
                      <a:endParaRPr lang="en-US" sz="1500" b="1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latin typeface="Arial Black" panose="020B0A04020102020204" pitchFamily="34" charset="0"/>
                        </a:rPr>
                        <a:t>3,747,893,816.85</a:t>
                      </a:r>
                      <a:endParaRPr lang="en-US" sz="1500" b="1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latin typeface="Arial Black" panose="020B0A04020102020204" pitchFamily="34" charset="0"/>
                        </a:rPr>
                        <a:t>113.57</a:t>
                      </a:r>
                      <a:endParaRPr lang="en-US" sz="1500" b="1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Arial Black" panose="020B0A04020102020204" pitchFamily="34" charset="0"/>
                        </a:rPr>
                        <a:t>3,600,000,000.00</a:t>
                      </a:r>
                      <a:endParaRPr lang="en-US" sz="1400" b="1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Arial Black" panose="020B0A04020102020204" pitchFamily="34" charset="0"/>
                        </a:rPr>
                        <a:t>5,119,259,519.64</a:t>
                      </a:r>
                      <a:endParaRPr lang="en-US" sz="1400" b="1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Arial Black" panose="020B0A04020102020204" pitchFamily="34" charset="0"/>
                        </a:rPr>
                        <a:t>142.20</a:t>
                      </a:r>
                      <a:endParaRPr lang="en-US" sz="1400" b="1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  <a:tr h="514569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Arial Black" panose="020B0A04020102020204" pitchFamily="34" charset="0"/>
                        </a:rPr>
                        <a:t>8</a:t>
                      </a:r>
                      <a:endParaRPr lang="en-GB" sz="1400" dirty="0">
                        <a:latin typeface="Arial Black" panose="020B0A04020102020204" pitchFamily="34" charset="0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Arial Black" panose="020B0A04020102020204" pitchFamily="34" charset="0"/>
                        </a:rPr>
                        <a:t>Port Harcourt</a:t>
                      </a:r>
                      <a:endParaRPr lang="en-GB" sz="1400" dirty="0">
                        <a:latin typeface="Arial Black" panose="020B0A04020102020204" pitchFamily="34" charset="0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latin typeface="Arial Black" panose="020B0A04020102020204" pitchFamily="34" charset="0"/>
                        </a:rPr>
                        <a:t>5,500,000,000.00</a:t>
                      </a:r>
                      <a:endParaRPr lang="en-US" sz="1500" b="1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latin typeface="Arial Black" panose="020B0A04020102020204" pitchFamily="34" charset="0"/>
                        </a:rPr>
                        <a:t>6,823,357,472.18</a:t>
                      </a:r>
                      <a:endParaRPr lang="en-US" sz="1500" b="1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latin typeface="Arial Black" panose="020B0A04020102020204" pitchFamily="34" charset="0"/>
                        </a:rPr>
                        <a:t>124.06</a:t>
                      </a:r>
                      <a:endParaRPr lang="en-US" sz="1500" b="1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Arial Black" panose="020B0A04020102020204" pitchFamily="34" charset="0"/>
                        </a:rPr>
                        <a:t>7,100,000,000.00</a:t>
                      </a:r>
                      <a:endParaRPr lang="en-US" sz="1400" b="1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Arial Black" panose="020B0A04020102020204" pitchFamily="34" charset="0"/>
                        </a:rPr>
                        <a:t>6,681,115,433.02</a:t>
                      </a:r>
                      <a:endParaRPr lang="en-US" sz="1400" b="1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Arial Black" panose="020B0A04020102020204" pitchFamily="34" charset="0"/>
                        </a:rPr>
                        <a:t>94.10</a:t>
                      </a:r>
                      <a:endParaRPr lang="en-US" sz="1400" b="1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  <a:tr h="514569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Arial Black" panose="020B0A04020102020204" pitchFamily="34" charset="0"/>
                        </a:rPr>
                        <a:t>9</a:t>
                      </a:r>
                      <a:endParaRPr lang="en-GB" sz="1400" dirty="0">
                        <a:latin typeface="Arial Black" panose="020B0A04020102020204" pitchFamily="34" charset="0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err="1">
                          <a:latin typeface="Arial Black" panose="020B0A04020102020204" pitchFamily="34" charset="0"/>
                        </a:rPr>
                        <a:t>Rumuokuta</a:t>
                      </a:r>
                      <a:endParaRPr lang="en-GB" sz="1400" dirty="0">
                        <a:latin typeface="Arial Black" panose="020B0A04020102020204" pitchFamily="34" charset="0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latin typeface="Arial Black" panose="020B0A04020102020204" pitchFamily="34" charset="0"/>
                        </a:rPr>
                        <a:t>1,700,000,000.00</a:t>
                      </a:r>
                      <a:endParaRPr lang="en-US" sz="1500" b="1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latin typeface="Arial Black" panose="020B0A04020102020204" pitchFamily="34" charset="0"/>
                        </a:rPr>
                        <a:t>1,432,147,273.19</a:t>
                      </a:r>
                      <a:endParaRPr lang="en-US" sz="1500" b="1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latin typeface="Arial Black" panose="020B0A04020102020204" pitchFamily="34" charset="0"/>
                        </a:rPr>
                        <a:t>84.24</a:t>
                      </a:r>
                      <a:endParaRPr lang="en-US" sz="1500" b="1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Arial Black" panose="020B0A04020102020204" pitchFamily="34" charset="0"/>
                        </a:rPr>
                        <a:t>1,800,000,000.00</a:t>
                      </a:r>
                      <a:endParaRPr lang="en-US" sz="1400" b="1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Arial Black" panose="020B0A04020102020204" pitchFamily="34" charset="0"/>
                        </a:rPr>
                        <a:t>1,932,079,532.36</a:t>
                      </a:r>
                      <a:endParaRPr lang="en-US" sz="1400" b="1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Arial Black" panose="020B0A04020102020204" pitchFamily="34" charset="0"/>
                        </a:rPr>
                        <a:t>107.34</a:t>
                      </a:r>
                      <a:endParaRPr lang="en-US" sz="1400" b="1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  <a:tr h="354848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Arial Black" panose="020B0A04020102020204" pitchFamily="34" charset="0"/>
                        </a:rPr>
                        <a:t>10</a:t>
                      </a:r>
                      <a:endParaRPr lang="en-GB" sz="1400" dirty="0">
                        <a:latin typeface="Arial Black" panose="020B0A04020102020204" pitchFamily="34" charset="0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Arial Black" panose="020B0A04020102020204" pitchFamily="34" charset="0"/>
                        </a:rPr>
                        <a:t>V/Island</a:t>
                      </a:r>
                      <a:endParaRPr lang="en-GB" sz="1400" dirty="0">
                        <a:latin typeface="Arial Black" panose="020B0A04020102020204" pitchFamily="34" charset="0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latin typeface="Arial Black" panose="020B0A04020102020204" pitchFamily="34" charset="0"/>
                        </a:rPr>
                        <a:t>9,000,000,000.00</a:t>
                      </a:r>
                      <a:endParaRPr lang="en-US" sz="1500" b="1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latin typeface="Arial Black" panose="020B0A04020102020204" pitchFamily="34" charset="0"/>
                        </a:rPr>
                        <a:t>12,153,351,728.94</a:t>
                      </a:r>
                      <a:endParaRPr lang="en-US" sz="1500" b="1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latin typeface="Arial Black" panose="020B0A04020102020204" pitchFamily="34" charset="0"/>
                        </a:rPr>
                        <a:t>135.04</a:t>
                      </a:r>
                      <a:endParaRPr lang="en-US" sz="1500" b="1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Arial Black" panose="020B0A04020102020204" pitchFamily="34" charset="0"/>
                        </a:rPr>
                        <a:t>12,000,000,000.00</a:t>
                      </a:r>
                      <a:endParaRPr lang="en-US" sz="1400" b="1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Arial Black" panose="020B0A04020102020204" pitchFamily="34" charset="0"/>
                        </a:rPr>
                        <a:t>13,608,457,884.68</a:t>
                      </a:r>
                      <a:endParaRPr lang="en-US" sz="1400" b="1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Arial Black" panose="020B0A04020102020204" pitchFamily="34" charset="0"/>
                        </a:rPr>
                        <a:t>113.40</a:t>
                      </a:r>
                      <a:endParaRPr lang="en-US" sz="1400" b="1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  <a:tr h="472105">
                <a:tc gridSpan="2">
                  <a:txBody>
                    <a:bodyPr/>
                    <a:lstStyle/>
                    <a:p>
                      <a:pPr algn="ctr"/>
                      <a:r>
                        <a:rPr lang="en-GB" sz="1550" dirty="0">
                          <a:latin typeface="Arial Black" panose="020B0A04020102020204" pitchFamily="34" charset="0"/>
                        </a:rPr>
                        <a:t>TOTAL</a:t>
                      </a:r>
                      <a:endParaRPr lang="en-GB" sz="1550" dirty="0">
                        <a:latin typeface="Arial Black" panose="020B0A04020102020204" pitchFamily="34" charset="0"/>
                      </a:endParaRPr>
                    </a:p>
                  </a:txBody>
                  <a:tcPr marL="91439" marR="91439" anchor="ctr"/>
                </a:tc>
                <a:tc hMerge="1">
                  <a:tcPr marL="91439" marR="91439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</a:rPr>
                        <a:t>41,400,000,000.00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</a:rPr>
                        <a:t>51,404,715,988.34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</a:rPr>
                        <a:t>1,200.93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</a:rPr>
                        <a:t>51,900,000,000.00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</a:rPr>
                        <a:t>57,303,234,769.34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</a:rPr>
                        <a:t>1,100.12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22AFA-50A3-4156-984F-61758D2C4411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142366" y="136525"/>
          <a:ext cx="11907267" cy="6521638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743903"/>
                <a:gridCol w="1459366"/>
                <a:gridCol w="1763388"/>
                <a:gridCol w="1800423"/>
                <a:gridCol w="1219093"/>
                <a:gridCol w="1925192"/>
                <a:gridCol w="1840558"/>
                <a:gridCol w="1155344"/>
              </a:tblGrid>
              <a:tr h="568013">
                <a:tc gridSpan="8">
                  <a:txBody>
                    <a:bodyPr/>
                    <a:lstStyle/>
                    <a:p>
                      <a:pPr marL="3657600" marR="0" indent="657225" algn="l" defTabSz="13163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GB" sz="2000" u="none" strike="noStrike" baseline="0" dirty="0">
                          <a:solidFill>
                            <a:srgbClr val="FF0000"/>
                          </a:solidFill>
                          <a:latin typeface="Arial Black" panose="020B0A04020102020204" pitchFamily="34" charset="0"/>
                        </a:rPr>
                        <a:t>COURSE FEE</a:t>
                      </a:r>
                      <a:endParaRPr lang="en-GB" sz="2000" u="none" strike="noStrike" baseline="0" dirty="0">
                        <a:solidFill>
                          <a:srgbClr val="FF0000"/>
                        </a:solidFill>
                        <a:latin typeface="Arial Black" panose="020B0A04020102020204" pitchFamily="34" charset="0"/>
                      </a:endParaRPr>
                    </a:p>
                    <a:p>
                      <a:pPr marL="4060825" marR="0" indent="106680" algn="l" defTabSz="13163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GB" sz="2000" u="none" strike="noStrike" baseline="0" dirty="0">
                          <a:latin typeface="Arial Black" panose="020B0A04020102020204" pitchFamily="34" charset="0"/>
                        </a:rPr>
                        <a:t>  CATEGORY A</a:t>
                      </a:r>
                      <a:endParaRPr lang="en-US" sz="20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/>
                </a:tc>
                <a:tc hMerge="1">
                  <a:tcPr/>
                </a:tc>
                <a:tc hMerge="1">
                  <a:tcPr marL="99917" marR="99917" marT="64812" marB="64812"/>
                </a:tc>
                <a:tc hMerge="1">
                  <a:tcPr/>
                </a:tc>
                <a:tc hMerge="1">
                  <a:tcPr/>
                </a:tc>
                <a:tc hMerge="1">
                  <a:tcPr marL="99917" marR="99917" marT="64812" marB="64812"/>
                </a:tc>
                <a:tc hMerge="1">
                  <a:tcPr/>
                </a:tc>
                <a:tc hMerge="1">
                  <a:tcPr/>
                </a:tc>
              </a:tr>
              <a:tr h="320199">
                <a:tc rowSpan="2">
                  <a:txBody>
                    <a:bodyPr/>
                    <a:lstStyle/>
                    <a:p>
                      <a:pPr marL="0" indent="0" algn="ctr"/>
                      <a:r>
                        <a:rPr lang="en-US" sz="1700" b="1" dirty="0"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S/N</a:t>
                      </a:r>
                      <a:endParaRPr lang="en-US" sz="1700" b="1" dirty="0"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4330" marR="54330" marT="35242" marB="35242" anchor="ctr"/>
                </a:tc>
                <a:tc rowSpan="2">
                  <a:txBody>
                    <a:bodyPr/>
                    <a:lstStyle/>
                    <a:p>
                      <a:pPr marL="0" indent="0" algn="ctr"/>
                      <a:r>
                        <a:rPr lang="en-US" sz="1600" b="1" dirty="0"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AREA OFFICE</a:t>
                      </a:r>
                      <a:endParaRPr lang="en-US" sz="1600" b="1" dirty="0"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4330" marR="54330" marT="35242" marB="35242"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700" b="1" dirty="0">
                          <a:latin typeface="Arial Black" panose="020B0A04020102020204" pitchFamily="34" charset="0"/>
                        </a:rPr>
                        <a:t>2023</a:t>
                      </a:r>
                      <a:endParaRPr lang="en-US" sz="1700" b="1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 hMerge="1">
                  <a:tcPr marL="54330" marR="54330" marT="35242" marB="35242"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700" b="1" dirty="0">
                          <a:latin typeface="Arial Black" panose="020B0A04020102020204" pitchFamily="34" charset="0"/>
                        </a:rPr>
                        <a:t>2024</a:t>
                      </a:r>
                      <a:endParaRPr lang="en-US" sz="1700" b="1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/>
                </a:tc>
                <a:tc hMerge="1">
                  <a:tcPr/>
                </a:tc>
                <a:tc hMerge="1">
                  <a:tcPr/>
                </a:tc>
              </a:tr>
              <a:tr h="533140">
                <a:tc vMerge="1">
                  <a:tcPr marL="99917" marR="99917" marT="64812" marB="64812"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b="1" dirty="0"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Annual</a:t>
                      </a:r>
                      <a:r>
                        <a:rPr lang="en-US" sz="1700" b="1" baseline="0" dirty="0"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 Target</a:t>
                      </a:r>
                      <a:endParaRPr lang="en-US" sz="1700" dirty="0"/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7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Actual Achieved</a:t>
                      </a:r>
                      <a:endParaRPr lang="en-US" sz="17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108" marR="5108" marT="5108" marB="0" anchor="b"/>
                </a:tc>
                <a:tc>
                  <a:txBody>
                    <a:bodyPr/>
                    <a:lstStyle/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7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% </a:t>
                      </a:r>
                      <a:endParaRPr lang="en-US" sz="1700" b="1" u="none" strike="noStrike" dirty="0"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7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Achieved</a:t>
                      </a:r>
                      <a:endParaRPr lang="en-US" sz="17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108" marR="5108" marT="5108" marB="0"/>
                </a:tc>
                <a:tc>
                  <a:txBody>
                    <a:bodyPr/>
                    <a:lstStyle/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7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Annual</a:t>
                      </a:r>
                      <a:r>
                        <a:rPr lang="en-US" sz="1700" b="1" u="none" strike="noStrike" baseline="0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7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Target</a:t>
                      </a:r>
                      <a:endParaRPr lang="en-US" sz="17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108" marR="5108" marT="5108" marB="0" anchor="b"/>
                </a:tc>
                <a:tc>
                  <a:txBody>
                    <a:bodyPr/>
                    <a:lstStyle/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7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Actual Achieved</a:t>
                      </a:r>
                      <a:endParaRPr lang="en-US" sz="17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108" marR="5108" marT="5108" marB="0" anchor="b"/>
                </a:tc>
                <a:tc>
                  <a:txBody>
                    <a:bodyPr/>
                    <a:lstStyle/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7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% </a:t>
                      </a:r>
                      <a:endParaRPr lang="en-US" sz="1700" b="1" u="none" strike="noStrike" dirty="0"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7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Achieved</a:t>
                      </a:r>
                      <a:endParaRPr lang="en-US" sz="17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108" marR="5108" marT="5108" marB="0"/>
                </a:tc>
              </a:tr>
              <a:tr h="422131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Arial Black" panose="020B0A04020102020204" pitchFamily="34" charset="0"/>
                        </a:rPr>
                        <a:t>1</a:t>
                      </a:r>
                      <a:endParaRPr lang="en-GB" sz="1400" dirty="0">
                        <a:latin typeface="Arial Black" panose="020B0A04020102020204" pitchFamily="34" charset="0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Arial Black" panose="020B0A04020102020204" pitchFamily="34" charset="0"/>
                        </a:rPr>
                        <a:t>Abuja</a:t>
                      </a:r>
                      <a:endParaRPr lang="en-GB" sz="1400" dirty="0">
                        <a:latin typeface="Arial Black" panose="020B0A04020102020204" pitchFamily="34" charset="0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Arial Black" panose="020B0A04020102020204" pitchFamily="34" charset="0"/>
                        </a:rPr>
                        <a:t>51,000,000.00</a:t>
                      </a:r>
                      <a:endParaRPr lang="en-US" sz="1600" b="1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Arial Black" panose="020B0A04020102020204" pitchFamily="34" charset="0"/>
                        </a:rPr>
                        <a:t>122,821,290.70</a:t>
                      </a:r>
                      <a:endParaRPr lang="en-US" sz="1600" b="1" dirty="0">
                        <a:latin typeface="Arial Black" panose="020B0A04020102020204" pitchFamily="34" charset="0"/>
                      </a:endParaRPr>
                    </a:p>
                  </a:txBody>
                  <a:tcPr marL="5180" marR="5180" marT="517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Arial Black" panose="020B0A04020102020204" pitchFamily="34" charset="0"/>
                        </a:rPr>
                        <a:t>240.83</a:t>
                      </a:r>
                      <a:endParaRPr lang="en-US" sz="1600" b="1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81,000,000.00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47,880,929.50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180" marR="5180" marT="517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59.11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  <a:tr h="450761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Arial Black" panose="020B0A04020102020204" pitchFamily="34" charset="0"/>
                        </a:rPr>
                        <a:t>2</a:t>
                      </a:r>
                      <a:endParaRPr lang="en-GB" sz="1400" dirty="0">
                        <a:latin typeface="Arial Black" panose="020B0A04020102020204" pitchFamily="34" charset="0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Arial Black" panose="020B0A04020102020204" pitchFamily="34" charset="0"/>
                        </a:rPr>
                        <a:t>Apapa</a:t>
                      </a:r>
                      <a:endParaRPr lang="en-GB" sz="1400" dirty="0">
                        <a:latin typeface="Arial Black" panose="020B0A04020102020204" pitchFamily="34" charset="0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Arial Black" panose="020B0A04020102020204" pitchFamily="34" charset="0"/>
                        </a:rPr>
                        <a:t>51,000,000.00</a:t>
                      </a:r>
                      <a:endParaRPr lang="en-US" sz="1600" b="1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Arial Black" panose="020B0A04020102020204" pitchFamily="34" charset="0"/>
                        </a:rPr>
                        <a:t>76,259,000.00</a:t>
                      </a:r>
                      <a:endParaRPr lang="en-US" sz="1600" b="1" dirty="0">
                        <a:latin typeface="Arial Black" panose="020B0A04020102020204" pitchFamily="34" charset="0"/>
                      </a:endParaRPr>
                    </a:p>
                  </a:txBody>
                  <a:tcPr marL="5180" marR="5180" marT="517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Arial Black" panose="020B0A04020102020204" pitchFamily="34" charset="0"/>
                        </a:rPr>
                        <a:t>149.53</a:t>
                      </a:r>
                      <a:endParaRPr lang="en-US" sz="1600" b="1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81,000,000.00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54,476,000.00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180" marR="5180" marT="517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67.25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  <a:tr h="427241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Arial Black" panose="020B0A04020102020204" pitchFamily="34" charset="0"/>
                        </a:rPr>
                        <a:t>3</a:t>
                      </a:r>
                      <a:endParaRPr lang="en-GB" sz="1400" dirty="0">
                        <a:latin typeface="Arial Black" panose="020B0A04020102020204" pitchFamily="34" charset="0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Arial Black" panose="020B0A04020102020204" pitchFamily="34" charset="0"/>
                        </a:rPr>
                        <a:t>Benin</a:t>
                      </a:r>
                      <a:endParaRPr lang="en-GB" sz="1400" dirty="0">
                        <a:latin typeface="Arial Black" panose="020B0A04020102020204" pitchFamily="34" charset="0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Arial Black" panose="020B0A04020102020204" pitchFamily="34" charset="0"/>
                        </a:rPr>
                        <a:t>41,000,000.00</a:t>
                      </a:r>
                      <a:endParaRPr lang="en-US" sz="1600" b="1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Arial Black" panose="020B0A04020102020204" pitchFamily="34" charset="0"/>
                        </a:rPr>
                        <a:t>27,550,000.00</a:t>
                      </a:r>
                      <a:endParaRPr lang="en-US" sz="1600" b="1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Arial Black" panose="020B0A04020102020204" pitchFamily="34" charset="0"/>
                        </a:rPr>
                        <a:t>67.20</a:t>
                      </a:r>
                      <a:endParaRPr lang="en-US" sz="1600" b="1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71,000,000.00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44,581,000.00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62.79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  <a:tr h="427241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Arial Black" panose="020B0A04020102020204" pitchFamily="34" charset="0"/>
                        </a:rPr>
                        <a:t>4</a:t>
                      </a:r>
                      <a:endParaRPr lang="en-GB" sz="1400" dirty="0">
                        <a:latin typeface="Arial Black" panose="020B0A04020102020204" pitchFamily="34" charset="0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Arial Black" panose="020B0A04020102020204" pitchFamily="34" charset="0"/>
                        </a:rPr>
                        <a:t>Ikeja</a:t>
                      </a:r>
                      <a:endParaRPr lang="en-GB" sz="1400" dirty="0">
                        <a:latin typeface="Arial Black" panose="020B0A04020102020204" pitchFamily="34" charset="0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Arial Black" panose="020B0A04020102020204" pitchFamily="34" charset="0"/>
                        </a:rPr>
                        <a:t>55,000,000.00</a:t>
                      </a:r>
                      <a:endParaRPr lang="en-US" sz="1600" b="1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Arial Black" panose="020B0A04020102020204" pitchFamily="34" charset="0"/>
                        </a:rPr>
                        <a:t>68,164,422.60</a:t>
                      </a:r>
                      <a:endParaRPr lang="en-US" sz="1600" b="1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Arial Black" panose="020B0A04020102020204" pitchFamily="34" charset="0"/>
                        </a:rPr>
                        <a:t>123.94</a:t>
                      </a:r>
                      <a:endParaRPr lang="en-US" sz="1600" b="1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65,000,000.00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70,825,000.00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108.96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  <a:tr h="427241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Arial Black" panose="020B0A04020102020204" pitchFamily="34" charset="0"/>
                        </a:rPr>
                        <a:t>5</a:t>
                      </a:r>
                      <a:endParaRPr lang="en-GB" sz="1400" dirty="0">
                        <a:latin typeface="Arial Black" panose="020B0A04020102020204" pitchFamily="34" charset="0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Arial Black" panose="020B0A04020102020204" pitchFamily="34" charset="0"/>
                        </a:rPr>
                        <a:t>Isolo</a:t>
                      </a:r>
                      <a:endParaRPr lang="en-GB" sz="1400" dirty="0">
                        <a:latin typeface="Arial Black" panose="020B0A04020102020204" pitchFamily="34" charset="0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Arial Black" panose="020B0A04020102020204" pitchFamily="34" charset="0"/>
                        </a:rPr>
                        <a:t>32,500,000.00</a:t>
                      </a:r>
                      <a:endParaRPr lang="en-US" sz="1600" b="1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Arial Black" panose="020B0A04020102020204" pitchFamily="34" charset="0"/>
                        </a:rPr>
                        <a:t>38,750,000.00</a:t>
                      </a:r>
                      <a:endParaRPr lang="en-US" sz="1600" b="1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Arial Black" panose="020B0A04020102020204" pitchFamily="34" charset="0"/>
                        </a:rPr>
                        <a:t>119.23</a:t>
                      </a:r>
                      <a:endParaRPr lang="en-US" sz="1600" b="1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62,500,000.00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39,245,522.50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62.79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  <a:tr h="577692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6</a:t>
                      </a:r>
                      <a:endParaRPr lang="en-GB" sz="1400" dirty="0">
                        <a:solidFill>
                          <a:schemeClr val="tx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Lagos Island</a:t>
                      </a:r>
                      <a:endParaRPr lang="en-GB" sz="1400" dirty="0">
                        <a:solidFill>
                          <a:schemeClr val="tx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51,000,000.00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59,557,478.56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116.78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61,000,000.00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106,050,000.00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173.85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  <a:tr h="427241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Arial Black" panose="020B0A04020102020204" pitchFamily="34" charset="0"/>
                        </a:rPr>
                        <a:t>7</a:t>
                      </a:r>
                      <a:endParaRPr lang="en-GB" sz="1400" dirty="0">
                        <a:latin typeface="Arial Black" panose="020B0A04020102020204" pitchFamily="34" charset="0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Arial Black" panose="020B0A04020102020204" pitchFamily="34" charset="0"/>
                        </a:rPr>
                        <a:t>Lekki</a:t>
                      </a:r>
                      <a:endParaRPr lang="en-GB" sz="1400" dirty="0">
                        <a:latin typeface="Arial Black" panose="020B0A04020102020204" pitchFamily="34" charset="0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Arial Black" panose="020B0A04020102020204" pitchFamily="34" charset="0"/>
                        </a:rPr>
                        <a:t>45,000,000.00</a:t>
                      </a:r>
                      <a:endParaRPr lang="en-US" sz="1600" b="1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Arial Black" panose="020B0A04020102020204" pitchFamily="34" charset="0"/>
                        </a:rPr>
                        <a:t>13,535,000.00</a:t>
                      </a:r>
                      <a:endParaRPr lang="en-US" sz="1600" b="1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Arial Black" panose="020B0A04020102020204" pitchFamily="34" charset="0"/>
                        </a:rPr>
                        <a:t>30.08</a:t>
                      </a:r>
                      <a:endParaRPr lang="en-US" sz="1600" b="1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75,000,000.00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33,655,000.00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44.87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  <a:tr h="289560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Arial Black" panose="020B0A04020102020204" pitchFamily="34" charset="0"/>
                        </a:rPr>
                        <a:t>8</a:t>
                      </a:r>
                      <a:endParaRPr lang="en-GB" sz="1400" dirty="0">
                        <a:latin typeface="Arial Black" panose="020B0A04020102020204" pitchFamily="34" charset="0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Arial Black" panose="020B0A04020102020204" pitchFamily="34" charset="0"/>
                        </a:rPr>
                        <a:t>Port Harcourt</a:t>
                      </a:r>
                      <a:endParaRPr lang="en-GB" sz="1400" dirty="0">
                        <a:latin typeface="Arial Black" panose="020B0A04020102020204" pitchFamily="34" charset="0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Arial Black" panose="020B0A04020102020204" pitchFamily="34" charset="0"/>
                        </a:rPr>
                        <a:t>51,000,000.00</a:t>
                      </a:r>
                      <a:endParaRPr lang="en-US" sz="1600" b="1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Arial Black" panose="020B0A04020102020204" pitchFamily="34" charset="0"/>
                        </a:rPr>
                        <a:t>19,310,161.25</a:t>
                      </a:r>
                      <a:endParaRPr lang="en-US" sz="1600" b="1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Arial Black" panose="020B0A04020102020204" pitchFamily="34" charset="0"/>
                        </a:rPr>
                        <a:t>37.86</a:t>
                      </a:r>
                      <a:endParaRPr lang="en-US" sz="1600" b="1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61,000,000.00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43,795,000.00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71.80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  <a:tr h="455777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Arial Black" panose="020B0A04020102020204" pitchFamily="34" charset="0"/>
                        </a:rPr>
                        <a:t>9</a:t>
                      </a:r>
                      <a:endParaRPr lang="en-GB" sz="1400" dirty="0">
                        <a:latin typeface="Arial Black" panose="020B0A04020102020204" pitchFamily="34" charset="0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Arial Black" panose="020B0A04020102020204" pitchFamily="34" charset="0"/>
                        </a:rPr>
                        <a:t>Rumuokwuta</a:t>
                      </a:r>
                      <a:endParaRPr lang="en-GB" sz="1400" dirty="0">
                        <a:latin typeface="Arial Black" panose="020B0A04020102020204" pitchFamily="34" charset="0"/>
                      </a:endParaRPr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Arial Black" panose="020B0A04020102020204" pitchFamily="34" charset="0"/>
                        </a:rPr>
                        <a:t>21,000,000.00</a:t>
                      </a:r>
                      <a:endParaRPr lang="en-US" sz="1600" b="1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Arial Black" panose="020B0A04020102020204" pitchFamily="34" charset="0"/>
                        </a:rPr>
                        <a:t>6,875,000.00</a:t>
                      </a:r>
                      <a:endParaRPr lang="en-US" sz="1600" b="1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Arial Black" panose="020B0A04020102020204" pitchFamily="34" charset="0"/>
                        </a:rPr>
                        <a:t>32.74</a:t>
                      </a:r>
                      <a:endParaRPr lang="en-US" sz="1600" b="1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51,000,000.00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16,340,000.00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32.04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  <a:tr h="362620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Arial Black" panose="020B0A04020102020204" pitchFamily="34" charset="0"/>
                        </a:rPr>
                        <a:t>10</a:t>
                      </a:r>
                      <a:endParaRPr lang="en-GB" sz="1400" dirty="0">
                        <a:latin typeface="Arial Black" panose="020B0A04020102020204" pitchFamily="34" charset="0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Arial Black" panose="020B0A04020102020204" pitchFamily="34" charset="0"/>
                        </a:rPr>
                        <a:t>V/Island</a:t>
                      </a:r>
                      <a:endParaRPr lang="en-GB" sz="1400" dirty="0">
                        <a:latin typeface="Arial Black" panose="020B0A04020102020204" pitchFamily="34" charset="0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Arial Black" panose="020B0A04020102020204" pitchFamily="34" charset="0"/>
                        </a:rPr>
                        <a:t>50,000,000.00</a:t>
                      </a:r>
                      <a:endParaRPr lang="en-US" sz="1600" b="1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Arial Black" panose="020B0A04020102020204" pitchFamily="34" charset="0"/>
                        </a:rPr>
                        <a:t>75,580,534.88</a:t>
                      </a:r>
                      <a:endParaRPr lang="en-US" sz="1600" b="1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Arial Black" panose="020B0A04020102020204" pitchFamily="34" charset="0"/>
                        </a:rPr>
                        <a:t>151.16</a:t>
                      </a:r>
                      <a:endParaRPr lang="en-US" sz="1600" b="1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80,000,000.00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80,347,765.00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100.43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  <a:tr h="427241">
                <a:tc gridSpan="2"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Arial Black" panose="020B0A04020102020204" pitchFamily="34" charset="0"/>
                        </a:rPr>
                        <a:t>TOTAL</a:t>
                      </a:r>
                      <a:endParaRPr lang="en-GB" sz="1600" dirty="0">
                        <a:latin typeface="Arial Black" panose="020B0A04020102020204" pitchFamily="34" charset="0"/>
                      </a:endParaRPr>
                    </a:p>
                  </a:txBody>
                  <a:tcPr marL="91439" marR="91439"/>
                </a:tc>
                <a:tc hMerge="1">
                  <a:tcPr marL="91439" marR="91439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</a:rPr>
                        <a:t>448,500,000.00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</a:rPr>
                        <a:t>508,402,887.99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</a:rPr>
                        <a:t>1,069.35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</a:rPr>
                        <a:t>688,500,000.00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</a:rPr>
                        <a:t>537,196,217.00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</a:rPr>
                        <a:t>783.89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22AFA-50A3-4156-984F-61758D2C4411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152399" y="115192"/>
          <a:ext cx="11815483" cy="6553832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625681"/>
                <a:gridCol w="1672872"/>
                <a:gridCol w="1597338"/>
                <a:gridCol w="1686613"/>
                <a:gridCol w="1258691"/>
                <a:gridCol w="1975358"/>
                <a:gridCol w="1725547"/>
                <a:gridCol w="1273383"/>
              </a:tblGrid>
              <a:tr h="543012">
                <a:tc gridSpan="8">
                  <a:txBody>
                    <a:bodyPr/>
                    <a:lstStyle/>
                    <a:p>
                      <a:pPr marL="3832225" marR="0" indent="409575" algn="l" defTabSz="13163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GB" sz="2000" u="none" strike="noStrike" baseline="0" dirty="0">
                          <a:solidFill>
                            <a:srgbClr val="FF0000"/>
                          </a:solidFill>
                          <a:latin typeface="Arial Black" panose="020B0A04020102020204" pitchFamily="34" charset="0"/>
                        </a:rPr>
                        <a:t>OTHER INCOME </a:t>
                      </a:r>
                      <a:endParaRPr lang="en-GB" sz="2000" u="none" strike="noStrike" baseline="0" dirty="0">
                        <a:solidFill>
                          <a:srgbClr val="FF0000"/>
                        </a:solidFill>
                        <a:latin typeface="Arial Black" panose="020B0A04020102020204" pitchFamily="34" charset="0"/>
                      </a:endParaRPr>
                    </a:p>
                    <a:p>
                      <a:pPr marL="3832225" marR="0" indent="409575" algn="l" defTabSz="13163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GB" sz="1700" u="none" strike="noStrike" baseline="0" dirty="0">
                          <a:latin typeface="Arial Black" panose="020B0A04020102020204" pitchFamily="34" charset="0"/>
                        </a:rPr>
                        <a:t>    CATEGORY A</a:t>
                      </a:r>
                      <a:endParaRPr lang="en-US" sz="17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/>
                </a:tc>
                <a:tc hMerge="1">
                  <a:tcPr/>
                </a:tc>
                <a:tc hMerge="1">
                  <a:tcPr marL="99917" marR="99917" marT="64812" marB="64812"/>
                </a:tc>
                <a:tc hMerge="1">
                  <a:tcPr/>
                </a:tc>
                <a:tc hMerge="1">
                  <a:tcPr/>
                </a:tc>
                <a:tc hMerge="1">
                  <a:tcPr marL="99917" marR="99917" marT="64812" marB="64812"/>
                </a:tc>
                <a:tc hMerge="1">
                  <a:tcPr/>
                </a:tc>
                <a:tc hMerge="1">
                  <a:tcPr/>
                </a:tc>
              </a:tr>
              <a:tr h="336861">
                <a:tc rowSpan="2">
                  <a:txBody>
                    <a:bodyPr/>
                    <a:lstStyle/>
                    <a:p>
                      <a:pPr marL="0" indent="0" algn="ctr"/>
                      <a:r>
                        <a:rPr lang="en-US" sz="1600" b="1" dirty="0"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S/N</a:t>
                      </a:r>
                      <a:endParaRPr lang="en-US" sz="1600" b="1" dirty="0"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4330" marR="54330" marT="35242" marB="35242" anchor="ctr"/>
                </a:tc>
                <a:tc rowSpan="2">
                  <a:txBody>
                    <a:bodyPr/>
                    <a:lstStyle/>
                    <a:p>
                      <a:pPr marL="0" indent="0" algn="ctr"/>
                      <a:r>
                        <a:rPr lang="en-US" sz="1600" b="1" dirty="0"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AREA OFFICE</a:t>
                      </a:r>
                      <a:endParaRPr lang="en-US" sz="1600" b="1" dirty="0"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4330" marR="54330" marT="35242" marB="35242"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700" b="1" dirty="0">
                          <a:latin typeface="Arial Black" panose="020B0A04020102020204" pitchFamily="34" charset="0"/>
                        </a:rPr>
                        <a:t>2023</a:t>
                      </a:r>
                      <a:endParaRPr lang="en-US" sz="1700" b="1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 hMerge="1">
                  <a:tcPr marL="54330" marR="54330" marT="35242" marB="35242"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700" b="1" dirty="0">
                          <a:latin typeface="Arial Black" panose="020B0A04020102020204" pitchFamily="34" charset="0"/>
                        </a:rPr>
                        <a:t>2024</a:t>
                      </a:r>
                      <a:endParaRPr lang="en-US" sz="1700" b="1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/>
                </a:tc>
                <a:tc hMerge="1">
                  <a:tcPr/>
                </a:tc>
                <a:tc hMerge="1">
                  <a:tcPr/>
                </a:tc>
              </a:tr>
              <a:tr h="510571">
                <a:tc vMerge="1">
                  <a:tcPr marL="99917" marR="99917" marT="64812" marB="64812"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700" b="1" dirty="0"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Annual</a:t>
                      </a:r>
                      <a:r>
                        <a:rPr lang="en-US" sz="1700" b="1" baseline="0" dirty="0"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 Target</a:t>
                      </a:r>
                      <a:endParaRPr lang="en-US" sz="1700" b="1" dirty="0"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4330" marR="54330" marT="35242" marB="35242"/>
                </a:tc>
                <a:tc>
                  <a:txBody>
                    <a:bodyPr/>
                    <a:lstStyle/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7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Actual Achieved</a:t>
                      </a:r>
                      <a:endParaRPr lang="en-US" sz="17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108" marR="5108" marT="5108" marB="0"/>
                </a:tc>
                <a:tc>
                  <a:txBody>
                    <a:bodyPr/>
                    <a:lstStyle/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7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% </a:t>
                      </a:r>
                      <a:endParaRPr lang="en-US" sz="1700" b="1" u="none" strike="noStrike" dirty="0"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7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Achieved</a:t>
                      </a:r>
                      <a:endParaRPr lang="en-US" sz="17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108" marR="5108" marT="5108" marB="0"/>
                </a:tc>
                <a:tc>
                  <a:txBody>
                    <a:bodyPr/>
                    <a:lstStyle/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7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Annual</a:t>
                      </a:r>
                      <a:endParaRPr lang="en-US" sz="1700" b="1" u="none" strike="noStrike" baseline="0" dirty="0"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7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Target</a:t>
                      </a:r>
                      <a:endParaRPr lang="en-US" sz="17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108" marR="5108" marT="5108" marB="0"/>
                </a:tc>
                <a:tc>
                  <a:txBody>
                    <a:bodyPr/>
                    <a:lstStyle/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7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Actual Achieved</a:t>
                      </a:r>
                      <a:endParaRPr lang="en-US" sz="17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108" marR="5108" marT="5108" marB="0"/>
                </a:tc>
                <a:tc>
                  <a:txBody>
                    <a:bodyPr/>
                    <a:lstStyle/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7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% </a:t>
                      </a:r>
                      <a:endParaRPr lang="en-US" sz="1700" b="1" u="none" strike="noStrike" dirty="0"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7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Achieved</a:t>
                      </a:r>
                      <a:endParaRPr lang="en-US" sz="17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108" marR="5108" marT="5108" marB="0"/>
                </a:tc>
              </a:tr>
              <a:tr h="365389"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>
                          <a:latin typeface="Arial Black" panose="020B0A04020102020204" pitchFamily="34" charset="0"/>
                        </a:rPr>
                        <a:t>1</a:t>
                      </a:r>
                      <a:endParaRPr lang="en-GB" sz="1600" b="1" dirty="0">
                        <a:latin typeface="Arial Black" panose="020B0A04020102020204" pitchFamily="34" charset="0"/>
                      </a:endParaRPr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>
                          <a:latin typeface="Arial Black" panose="020B0A04020102020204" pitchFamily="34" charset="0"/>
                        </a:rPr>
                        <a:t>Abuja</a:t>
                      </a:r>
                      <a:endParaRPr lang="en-GB" sz="1600" b="1" dirty="0">
                        <a:latin typeface="Arial Black" panose="020B0A04020102020204" pitchFamily="34" charset="0"/>
                      </a:endParaRPr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Arial Black" panose="020B0A04020102020204" pitchFamily="34" charset="0"/>
                        </a:rPr>
                        <a:t>1,000,000.00</a:t>
                      </a:r>
                      <a:endParaRPr lang="en-US" sz="1600" b="1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Arial Black" panose="020B0A04020102020204" pitchFamily="34" charset="0"/>
                        </a:rPr>
                        <a:t>240,000.00</a:t>
                      </a:r>
                      <a:endParaRPr lang="en-US" sz="1600" b="1" dirty="0">
                        <a:latin typeface="Arial Black" panose="020B0A04020102020204" pitchFamily="34" charset="0"/>
                      </a:endParaRPr>
                    </a:p>
                  </a:txBody>
                  <a:tcPr marL="5180" marR="5180" marT="517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Arial Black" panose="020B0A04020102020204" pitchFamily="34" charset="0"/>
                        </a:rPr>
                        <a:t>24.00</a:t>
                      </a:r>
                      <a:endParaRPr lang="en-US" sz="1600" b="1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100,000,000.00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580,000.00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180" marR="5180" marT="517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0.58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  <a:tr h="365389"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>
                          <a:latin typeface="Arial Black" panose="020B0A04020102020204" pitchFamily="34" charset="0"/>
                        </a:rPr>
                        <a:t>2</a:t>
                      </a:r>
                      <a:endParaRPr lang="en-GB" sz="1600" b="1" dirty="0">
                        <a:latin typeface="Arial Black" panose="020B0A04020102020204" pitchFamily="34" charset="0"/>
                      </a:endParaRPr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>
                          <a:latin typeface="Arial Black" panose="020B0A04020102020204" pitchFamily="34" charset="0"/>
                        </a:rPr>
                        <a:t>Apapa</a:t>
                      </a:r>
                      <a:endParaRPr lang="en-GB" sz="1600" b="1" dirty="0">
                        <a:latin typeface="Arial Black" panose="020B0A04020102020204" pitchFamily="34" charset="0"/>
                      </a:endParaRPr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Arial Black" panose="020B0A04020102020204" pitchFamily="34" charset="0"/>
                        </a:rPr>
                        <a:t>300,000.00</a:t>
                      </a:r>
                      <a:endParaRPr lang="en-US" sz="1600" b="1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Arial Black" panose="020B0A04020102020204" pitchFamily="34" charset="0"/>
                        </a:rPr>
                        <a:t>1,228,000.00</a:t>
                      </a:r>
                      <a:endParaRPr lang="en-US" sz="1600" b="1" dirty="0">
                        <a:latin typeface="Arial Black" panose="020B0A04020102020204" pitchFamily="34" charset="0"/>
                      </a:endParaRPr>
                    </a:p>
                  </a:txBody>
                  <a:tcPr marL="5180" marR="5180" marT="517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Arial Black" panose="020B0A04020102020204" pitchFamily="34" charset="0"/>
                        </a:rPr>
                        <a:t>409.33</a:t>
                      </a:r>
                      <a:endParaRPr lang="en-US" sz="1600" b="1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20,300,000.00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237,500.00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180" marR="5180" marT="517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1.17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  <a:tr h="435767"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>
                          <a:latin typeface="Arial Black" panose="020B0A04020102020204" pitchFamily="34" charset="0"/>
                        </a:rPr>
                        <a:t>3</a:t>
                      </a:r>
                      <a:endParaRPr lang="en-GB" sz="1600" b="1" dirty="0">
                        <a:latin typeface="Arial Black" panose="020B0A04020102020204" pitchFamily="34" charset="0"/>
                      </a:endParaRPr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>
                          <a:latin typeface="Arial Black" panose="020B0A04020102020204" pitchFamily="34" charset="0"/>
                        </a:rPr>
                        <a:t>Benin</a:t>
                      </a:r>
                      <a:endParaRPr lang="en-GB" sz="1600" b="1" dirty="0">
                        <a:latin typeface="Arial Black" panose="020B0A04020102020204" pitchFamily="34" charset="0"/>
                      </a:endParaRPr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Arial Black" panose="020B0A04020102020204" pitchFamily="34" charset="0"/>
                        </a:rPr>
                        <a:t>250,000.00</a:t>
                      </a:r>
                      <a:endParaRPr lang="en-US" sz="1600" b="1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Arial Black" panose="020B0A04020102020204" pitchFamily="34" charset="0"/>
                        </a:rPr>
                        <a:t>777,600.00</a:t>
                      </a:r>
                      <a:endParaRPr lang="en-US" sz="1600" b="1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Arial Black" panose="020B0A04020102020204" pitchFamily="34" charset="0"/>
                        </a:rPr>
                        <a:t>311.04</a:t>
                      </a:r>
                      <a:endParaRPr lang="en-US" sz="1600" b="1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20,250,000.00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45,000.00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0.22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  <a:tr h="435767"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>
                          <a:latin typeface="Arial Black" panose="020B0A04020102020204" pitchFamily="34" charset="0"/>
                        </a:rPr>
                        <a:t>4</a:t>
                      </a:r>
                      <a:endParaRPr lang="en-GB" sz="1600" b="1" dirty="0">
                        <a:latin typeface="Arial Black" panose="020B0A04020102020204" pitchFamily="34" charset="0"/>
                      </a:endParaRPr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>
                          <a:latin typeface="Arial Black" panose="020B0A04020102020204" pitchFamily="34" charset="0"/>
                        </a:rPr>
                        <a:t>Ikeja</a:t>
                      </a:r>
                      <a:endParaRPr lang="en-GB" sz="1600" b="1" dirty="0">
                        <a:latin typeface="Arial Black" panose="020B0A04020102020204" pitchFamily="34" charset="0"/>
                      </a:endParaRPr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Arial Black" panose="020B0A04020102020204" pitchFamily="34" charset="0"/>
                        </a:rPr>
                        <a:t>1,000,000.00</a:t>
                      </a:r>
                      <a:endParaRPr lang="en-US" sz="1600" b="1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Arial Black" panose="020B0A04020102020204" pitchFamily="34" charset="0"/>
                        </a:rPr>
                        <a:t>7,818,965.62</a:t>
                      </a:r>
                      <a:endParaRPr lang="en-US" sz="1600" b="1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Arial Black" panose="020B0A04020102020204" pitchFamily="34" charset="0"/>
                        </a:rPr>
                        <a:t>781.90</a:t>
                      </a:r>
                      <a:endParaRPr lang="en-US" sz="1600" b="1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100,000,000.00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3,845,335.00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3.85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  <a:tr h="435767"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>
                          <a:latin typeface="Arial Black" panose="020B0A04020102020204" pitchFamily="34" charset="0"/>
                        </a:rPr>
                        <a:t>5</a:t>
                      </a:r>
                      <a:endParaRPr lang="en-GB" sz="1600" b="1" dirty="0">
                        <a:latin typeface="Arial Black" panose="020B0A04020102020204" pitchFamily="34" charset="0"/>
                      </a:endParaRPr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>
                          <a:latin typeface="Arial Black" panose="020B0A04020102020204" pitchFamily="34" charset="0"/>
                        </a:rPr>
                        <a:t>Isolo</a:t>
                      </a:r>
                      <a:endParaRPr lang="en-GB" sz="1600" b="1" dirty="0">
                        <a:latin typeface="Arial Black" panose="020B0A04020102020204" pitchFamily="34" charset="0"/>
                      </a:endParaRPr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Arial Black" panose="020B0A04020102020204" pitchFamily="34" charset="0"/>
                        </a:rPr>
                        <a:t>200,000.00</a:t>
                      </a:r>
                      <a:endParaRPr lang="en-US" sz="1600" b="1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Arial Black" panose="020B0A04020102020204" pitchFamily="34" charset="0"/>
                        </a:rPr>
                        <a:t>384,000.00</a:t>
                      </a:r>
                      <a:endParaRPr lang="en-US" sz="1600" b="1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Arial Black" panose="020B0A04020102020204" pitchFamily="34" charset="0"/>
                        </a:rPr>
                        <a:t>192.00</a:t>
                      </a:r>
                      <a:endParaRPr lang="en-US" sz="1600" b="1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20,200,000.00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69,000.00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0.34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  <a:tr h="639431"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>
                          <a:latin typeface="Arial Black" panose="020B0A04020102020204" pitchFamily="34" charset="0"/>
                        </a:rPr>
                        <a:t>6</a:t>
                      </a:r>
                      <a:endParaRPr lang="en-GB" sz="1600" b="1" dirty="0">
                        <a:latin typeface="Arial Black" panose="020B0A04020102020204" pitchFamily="34" charset="0"/>
                      </a:endParaRPr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>
                          <a:latin typeface="Arial Black" panose="020B0A04020102020204" pitchFamily="34" charset="0"/>
                        </a:rPr>
                        <a:t>Lagos</a:t>
                      </a:r>
                      <a:endParaRPr lang="en-GB" sz="1600" b="1" dirty="0">
                        <a:latin typeface="Arial Black" panose="020B0A04020102020204" pitchFamily="34" charset="0"/>
                      </a:endParaRPr>
                    </a:p>
                    <a:p>
                      <a:pPr algn="ctr"/>
                      <a:r>
                        <a:rPr lang="en-GB" sz="1600" b="1" dirty="0">
                          <a:latin typeface="Arial Black" panose="020B0A04020102020204" pitchFamily="34" charset="0"/>
                        </a:rPr>
                        <a:t>Island</a:t>
                      </a:r>
                      <a:endParaRPr lang="en-GB" sz="1600" b="1" dirty="0">
                        <a:latin typeface="Arial Black" panose="020B0A04020102020204" pitchFamily="34" charset="0"/>
                      </a:endParaRPr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Arial Black" panose="020B0A04020102020204" pitchFamily="34" charset="0"/>
                        </a:rPr>
                        <a:t>75,000,000.00</a:t>
                      </a:r>
                      <a:endParaRPr lang="en-US" sz="1600" b="1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Arial Black" panose="020B0A04020102020204" pitchFamily="34" charset="0"/>
                        </a:rPr>
                        <a:t>57,517,000.00</a:t>
                      </a:r>
                      <a:endParaRPr lang="en-US" sz="1600" b="1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Arial Black" panose="020B0A04020102020204" pitchFamily="34" charset="0"/>
                        </a:rPr>
                        <a:t>76.69</a:t>
                      </a:r>
                      <a:endParaRPr lang="en-US" sz="1600" b="1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100,000,000.00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7,168,927.36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7.17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  <a:tr h="435767"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>
                          <a:latin typeface="Arial Black" panose="020B0A04020102020204" pitchFamily="34" charset="0"/>
                        </a:rPr>
                        <a:t>7</a:t>
                      </a:r>
                      <a:endParaRPr lang="en-GB" sz="1600" b="1" dirty="0">
                        <a:latin typeface="Arial Black" panose="020B0A04020102020204" pitchFamily="34" charset="0"/>
                      </a:endParaRPr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>
                          <a:latin typeface="Arial Black" panose="020B0A04020102020204" pitchFamily="34" charset="0"/>
                        </a:rPr>
                        <a:t>Lekki</a:t>
                      </a:r>
                      <a:endParaRPr lang="en-GB" sz="1600" b="1" dirty="0">
                        <a:latin typeface="Arial Black" panose="020B0A04020102020204" pitchFamily="34" charset="0"/>
                      </a:endParaRPr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Arial Black" panose="020B0A04020102020204" pitchFamily="34" charset="0"/>
                        </a:rPr>
                        <a:t>400,000.00</a:t>
                      </a:r>
                      <a:endParaRPr lang="en-US" sz="1600" b="1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Arial Black" panose="020B0A04020102020204" pitchFamily="34" charset="0"/>
                        </a:rPr>
                        <a:t>511,000.00</a:t>
                      </a:r>
                      <a:endParaRPr lang="en-US" sz="1600" b="1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Arial Black" panose="020B0A04020102020204" pitchFamily="34" charset="0"/>
                        </a:rPr>
                        <a:t>127.75</a:t>
                      </a:r>
                      <a:endParaRPr lang="en-US" sz="1600" b="1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20,400,000.00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22,000.00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0.11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  <a:tr h="591943"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>
                          <a:latin typeface="Arial Black" panose="020B0A04020102020204" pitchFamily="34" charset="0"/>
                        </a:rPr>
                        <a:t>8</a:t>
                      </a:r>
                      <a:endParaRPr lang="en-GB" sz="1600" b="1" dirty="0">
                        <a:latin typeface="Arial Black" panose="020B0A04020102020204" pitchFamily="34" charset="0"/>
                      </a:endParaRPr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>
                          <a:latin typeface="Arial Black" panose="020B0A04020102020204" pitchFamily="34" charset="0"/>
                        </a:rPr>
                        <a:t>Port -Harcourt</a:t>
                      </a:r>
                      <a:endParaRPr lang="en-GB" sz="1600" b="1" dirty="0">
                        <a:latin typeface="Arial Black" panose="020B0A04020102020204" pitchFamily="34" charset="0"/>
                      </a:endParaRPr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Arial Black" panose="020B0A04020102020204" pitchFamily="34" charset="0"/>
                        </a:rPr>
                        <a:t>150,000.00</a:t>
                      </a:r>
                      <a:endParaRPr lang="en-US" sz="1600" b="1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Arial Black" panose="020B0A04020102020204" pitchFamily="34" charset="0"/>
                        </a:rPr>
                        <a:t>234,460.00</a:t>
                      </a:r>
                      <a:endParaRPr lang="en-US" sz="1600" b="1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Arial Black" panose="020B0A04020102020204" pitchFamily="34" charset="0"/>
                        </a:rPr>
                        <a:t>156.31</a:t>
                      </a:r>
                      <a:endParaRPr lang="en-US" sz="1600" b="1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20,150,000.00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46,000.00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0.23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  <a:tr h="456736"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latin typeface="Arial Black" panose="020B0A04020102020204" pitchFamily="34" charset="0"/>
                        </a:rPr>
                        <a:t>9</a:t>
                      </a:r>
                      <a:endParaRPr lang="en-GB" sz="1500" dirty="0">
                        <a:latin typeface="Arial Black" panose="020B0A04020102020204" pitchFamily="34" charset="0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latin typeface="Arial Black" panose="020B0A04020102020204" pitchFamily="34" charset="0"/>
                        </a:rPr>
                        <a:t>Rumuokwuta</a:t>
                      </a:r>
                      <a:endParaRPr lang="en-GB" sz="1500" dirty="0">
                        <a:latin typeface="Arial Black" panose="020B0A04020102020204" pitchFamily="34" charset="0"/>
                      </a:endParaRPr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Arial Black" panose="020B0A04020102020204" pitchFamily="34" charset="0"/>
                        </a:rPr>
                        <a:t>100,000.00</a:t>
                      </a:r>
                      <a:endParaRPr lang="en-US" sz="1600" b="1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Arial Black" panose="020B0A04020102020204" pitchFamily="34" charset="0"/>
                        </a:rPr>
                        <a:t>170,000.00</a:t>
                      </a:r>
                      <a:endParaRPr lang="en-US" sz="1600" b="1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Arial Black" panose="020B0A04020102020204" pitchFamily="34" charset="0"/>
                        </a:rPr>
                        <a:t>170.00</a:t>
                      </a:r>
                      <a:endParaRPr lang="en-US" sz="1600" b="1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20,100,000.00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165,000.00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0.82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  <a:tr h="435767"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>
                          <a:latin typeface="Arial Black" panose="020B0A04020102020204" pitchFamily="34" charset="0"/>
                        </a:rPr>
                        <a:t>10</a:t>
                      </a:r>
                      <a:endParaRPr lang="en-GB" sz="1600" b="1" dirty="0">
                        <a:latin typeface="Arial Black" panose="020B0A04020102020204" pitchFamily="34" charset="0"/>
                      </a:endParaRPr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>
                          <a:latin typeface="Arial Black" panose="020B0A04020102020204" pitchFamily="34" charset="0"/>
                        </a:rPr>
                        <a:t>V/Island</a:t>
                      </a:r>
                      <a:endParaRPr lang="en-GB" sz="1600" b="1" dirty="0">
                        <a:latin typeface="Arial Black" panose="020B0A04020102020204" pitchFamily="34" charset="0"/>
                      </a:endParaRPr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Arial Black" panose="020B0A04020102020204" pitchFamily="34" charset="0"/>
                        </a:rPr>
                        <a:t>400,000.00</a:t>
                      </a:r>
                      <a:endParaRPr lang="en-US" sz="1600" b="1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Arial Black" panose="020B0A04020102020204" pitchFamily="34" charset="0"/>
                        </a:rPr>
                        <a:t>1,619,000.00</a:t>
                      </a:r>
                      <a:endParaRPr lang="en-US" sz="1600" b="1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Arial Black" panose="020B0A04020102020204" pitchFamily="34" charset="0"/>
                        </a:rPr>
                        <a:t>404.75</a:t>
                      </a:r>
                      <a:endParaRPr lang="en-US" sz="1600" b="1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20,400,000.00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88,000.00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0.43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  <a:tr h="347308">
                <a:tc gridSpan="2">
                  <a:txBody>
                    <a:bodyPr/>
                    <a:lstStyle/>
                    <a:p>
                      <a:pPr algn="ctr"/>
                      <a:r>
                        <a:rPr lang="en-GB" sz="2000" b="1" dirty="0">
                          <a:latin typeface="Arial Black" panose="020B0A04020102020204" pitchFamily="34" charset="0"/>
                        </a:rPr>
                        <a:t>TOTAL</a:t>
                      </a:r>
                      <a:endParaRPr lang="en-GB" sz="2000" b="1" dirty="0">
                        <a:latin typeface="Arial Black" panose="020B0A04020102020204" pitchFamily="34" charset="0"/>
                      </a:endParaRPr>
                    </a:p>
                  </a:txBody>
                  <a:tcPr marL="91439" marR="91439"/>
                </a:tc>
                <a:tc hMerge="1">
                  <a:tcPr marL="91439" marR="91439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</a:rPr>
                        <a:t>78,800,000.00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</a:rPr>
                        <a:t>70,500,025.62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</a:rPr>
                        <a:t>2,653.77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</a:rPr>
                        <a:t>441,800,000.00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</a:rPr>
                        <a:t>12,266,762.36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</a:rPr>
                        <a:t>14.92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22AFA-50A3-4156-984F-61758D2C4411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9308" y="241150"/>
            <a:ext cx="10442089" cy="1184238"/>
          </a:xfrm>
        </p:spPr>
        <p:txBody>
          <a:bodyPr>
            <a:noAutofit/>
          </a:bodyPr>
          <a:lstStyle/>
          <a:p>
            <a:pPr algn="ctr"/>
            <a:r>
              <a:rPr lang="en-GB" sz="2400" dirty="0">
                <a:latin typeface="Arial Black" panose="020B0A04020102020204" pitchFamily="34" charset="0"/>
              </a:rPr>
              <a:t>COMPARATIVE ANALYSIS </a:t>
            </a:r>
            <a:r>
              <a:rPr lang="en-US" sz="2400" dirty="0">
                <a:latin typeface="Arial Black" panose="020B0A04020102020204" pitchFamily="34" charset="0"/>
              </a:rPr>
              <a:t>OF TRAINING CONTRIBUTION, COURSE FEE &amp; OTHER INCOME</a:t>
            </a:r>
            <a:br>
              <a:rPr lang="en-US" sz="2400" dirty="0">
                <a:latin typeface="Arial Black" panose="020B0A04020102020204" pitchFamily="34" charset="0"/>
              </a:rPr>
            </a:br>
            <a:r>
              <a:rPr lang="en-US" sz="2400" dirty="0">
                <a:latin typeface="Arial Black" panose="020B0A04020102020204" pitchFamily="34" charset="0"/>
              </a:rPr>
              <a:t>CATEGORY A</a:t>
            </a:r>
            <a:endParaRPr lang="en-US" sz="2400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22AFA-50A3-4156-984F-61758D2C4411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282387" y="284176"/>
          <a:ext cx="11672048" cy="6129485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482835"/>
                <a:gridCol w="1453543"/>
                <a:gridCol w="1896035"/>
                <a:gridCol w="1837847"/>
                <a:gridCol w="1029331"/>
                <a:gridCol w="1866187"/>
                <a:gridCol w="1922929"/>
                <a:gridCol w="1183341"/>
              </a:tblGrid>
              <a:tr h="622772">
                <a:tc gridSpan="8">
                  <a:txBody>
                    <a:bodyPr/>
                    <a:lstStyle/>
                    <a:p>
                      <a:pPr marL="3657600" marR="0" indent="509905" algn="l" defTabSz="13163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GB" sz="2000" u="none" strike="noStrike" baseline="0" dirty="0">
                          <a:solidFill>
                            <a:srgbClr val="FF0000"/>
                          </a:solidFill>
                          <a:latin typeface="Arial Black" panose="020B0A04020102020204" pitchFamily="34" charset="0"/>
                        </a:rPr>
                        <a:t>TRAINING CONTRIBUTION</a:t>
                      </a:r>
                      <a:endParaRPr lang="en-GB" sz="2000" u="none" strike="noStrike" baseline="0" dirty="0">
                        <a:solidFill>
                          <a:srgbClr val="FF0000"/>
                        </a:solidFill>
                        <a:latin typeface="Arial Black" panose="020B0A04020102020204" pitchFamily="34" charset="0"/>
                      </a:endParaRPr>
                    </a:p>
                    <a:p>
                      <a:pPr marL="4403725" marR="0" indent="517525" algn="l" defTabSz="13163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GB" sz="2000" u="none" strike="noStrike" baseline="0" dirty="0">
                          <a:latin typeface="Arial Black" panose="020B0A04020102020204" pitchFamily="34" charset="0"/>
                        </a:rPr>
                        <a:t>CATEGORY B</a:t>
                      </a:r>
                      <a:endParaRPr lang="en-US" sz="20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/>
                </a:tc>
                <a:tc hMerge="1">
                  <a:tcPr/>
                </a:tc>
                <a:tc hMerge="1">
                  <a:tcPr marL="99917" marR="99917" marT="64812" marB="64812"/>
                </a:tc>
                <a:tc hMerge="1">
                  <a:tcPr/>
                </a:tc>
                <a:tc hMerge="1">
                  <a:tcPr/>
                </a:tc>
                <a:tc hMerge="1">
                  <a:tcPr marL="99917" marR="99917" marT="64812" marB="64812"/>
                </a:tc>
                <a:tc hMerge="1">
                  <a:tcPr/>
                </a:tc>
                <a:tc hMerge="1">
                  <a:tcPr/>
                </a:tc>
              </a:tr>
              <a:tr h="353772">
                <a:tc rowSpan="2">
                  <a:txBody>
                    <a:bodyPr/>
                    <a:lstStyle/>
                    <a:p>
                      <a:pPr marL="0" indent="0" algn="ctr"/>
                      <a:r>
                        <a:rPr lang="en-US" sz="1400" b="1" dirty="0"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S/N</a:t>
                      </a:r>
                      <a:endParaRPr lang="en-US" sz="1400" b="1" dirty="0"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4330" marR="54330" marT="35242" marB="35242" anchor="ctr"/>
                </a:tc>
                <a:tc rowSpan="2">
                  <a:txBody>
                    <a:bodyPr/>
                    <a:lstStyle/>
                    <a:p>
                      <a:pPr marL="0" indent="0" algn="ctr"/>
                      <a:r>
                        <a:rPr lang="en-US" sz="1400" b="1" dirty="0"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AREA OFFICE</a:t>
                      </a:r>
                      <a:endParaRPr lang="en-US" sz="1400" b="1" dirty="0"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4330" marR="54330" marT="35242" marB="35242"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700" b="1" dirty="0">
                          <a:latin typeface="Arial Black" panose="020B0A04020102020204" pitchFamily="34" charset="0"/>
                        </a:rPr>
                        <a:t>2023</a:t>
                      </a:r>
                      <a:endParaRPr lang="en-US" sz="1700" b="1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 hMerge="1">
                  <a:tcPr marL="54330" marR="54330" marT="35242" marB="35242"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700" b="1" dirty="0">
                          <a:latin typeface="Arial Black" panose="020B0A04020102020204" pitchFamily="34" charset="0"/>
                        </a:rPr>
                        <a:t>2024</a:t>
                      </a:r>
                      <a:endParaRPr lang="en-US" sz="1700" b="1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/>
                </a:tc>
                <a:tc hMerge="1">
                  <a:tcPr/>
                </a:tc>
                <a:tc hMerge="1">
                  <a:tcPr/>
                </a:tc>
              </a:tr>
              <a:tr h="790737">
                <a:tc vMerge="1">
                  <a:tcPr marL="99917" marR="99917" marT="64812" marB="64812"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600" b="1" dirty="0"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Annual</a:t>
                      </a:r>
                      <a:r>
                        <a:rPr lang="en-US" sz="1600" b="1" baseline="0" dirty="0"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 Target</a:t>
                      </a:r>
                      <a:endParaRPr lang="en-US" sz="1600" b="1" dirty="0"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6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Actual</a:t>
                      </a:r>
                      <a:endParaRPr lang="en-US" sz="1600" b="1" u="none" strike="noStrike" dirty="0"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6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Achieved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108" marR="5108" marT="5108" marB="0" anchor="b"/>
                </a:tc>
                <a:tc>
                  <a:txBody>
                    <a:bodyPr/>
                    <a:lstStyle/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1600" b="1" u="none" strike="noStrike" dirty="0"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6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% </a:t>
                      </a:r>
                      <a:endParaRPr lang="en-US" sz="1600" b="1" u="none" strike="noStrike" dirty="0"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6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Achieved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108" marR="5108" marT="5108" marB="0" anchor="ctr"/>
                </a:tc>
                <a:tc>
                  <a:txBody>
                    <a:bodyPr/>
                    <a:lstStyle/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6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Annual</a:t>
                      </a:r>
                      <a:endParaRPr lang="en-US" sz="1600" b="1" u="none" strike="noStrike" baseline="0" dirty="0"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6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Target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108" marR="5108" marT="5108" marB="0" anchor="b"/>
                </a:tc>
                <a:tc>
                  <a:txBody>
                    <a:bodyPr/>
                    <a:lstStyle/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6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Actual</a:t>
                      </a:r>
                      <a:endParaRPr lang="en-US" sz="1600" b="1" u="none" strike="noStrike" dirty="0"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6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Achieved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108" marR="5108" marT="5108" marB="0" anchor="b"/>
                </a:tc>
                <a:tc>
                  <a:txBody>
                    <a:bodyPr/>
                    <a:lstStyle/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1600" b="1" u="none" strike="noStrike" dirty="0"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6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% </a:t>
                      </a:r>
                      <a:endParaRPr lang="en-US" sz="1600" b="1" u="none" strike="noStrike" dirty="0"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6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Achieved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108" marR="5108" marT="5108" marB="0" anchor="ctr"/>
                </a:tc>
              </a:tr>
              <a:tr h="359136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Arial Black" panose="020B0A04020102020204" pitchFamily="34" charset="0"/>
                        </a:rPr>
                        <a:t>1</a:t>
                      </a:r>
                      <a:endParaRPr lang="en-GB" sz="1400" dirty="0">
                        <a:latin typeface="Arial Black" panose="020B0A04020102020204" pitchFamily="34" charset="0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lvl="0" algn="ctr" fontAlgn="b">
                        <a:lnSpc>
                          <a:spcPct val="150000"/>
                        </a:lnSpc>
                      </a:pPr>
                      <a:r>
                        <a:rPr lang="en-GB" sz="1400" u="none" strike="noStrike" dirty="0">
                          <a:latin typeface="Arial Black" panose="020B0A04020102020204" pitchFamily="34" charset="0"/>
                        </a:rPr>
                        <a:t>Abeokuta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5953" marR="5953" marT="6804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latin typeface="Arial Black" panose="020B0A04020102020204" pitchFamily="34" charset="0"/>
                        </a:rPr>
                        <a:t>475,000,000.00</a:t>
                      </a:r>
                      <a:endParaRPr lang="en-US" sz="1500" b="1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latin typeface="Arial Black" panose="020B0A04020102020204" pitchFamily="34" charset="0"/>
                        </a:rPr>
                        <a:t>760,199,807.09</a:t>
                      </a:r>
                      <a:endParaRPr lang="en-US" sz="1500" b="1" dirty="0">
                        <a:latin typeface="Arial Black" panose="020B0A04020102020204" pitchFamily="34" charset="0"/>
                      </a:endParaRPr>
                    </a:p>
                  </a:txBody>
                  <a:tcPr marL="5180" marR="5180" marT="517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latin typeface="Arial Black" panose="020B0A04020102020204" pitchFamily="34" charset="0"/>
                        </a:rPr>
                        <a:t>160.04</a:t>
                      </a:r>
                      <a:endParaRPr lang="en-US" sz="1500" b="1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700,000,000.00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1,032,960,460.58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5180" marR="5180" marT="517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147.57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  <a:tr h="359136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Arial Black" panose="020B0A04020102020204" pitchFamily="34" charset="0"/>
                        </a:rPr>
                        <a:t>2</a:t>
                      </a:r>
                      <a:endParaRPr lang="en-GB" sz="1400" dirty="0">
                        <a:latin typeface="Arial Black" panose="020B0A04020102020204" pitchFamily="34" charset="0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err="1">
                          <a:latin typeface="Arial Black" panose="020B0A04020102020204" pitchFamily="34" charset="0"/>
                        </a:rPr>
                        <a:t>Badagry</a:t>
                      </a:r>
                      <a:endParaRPr lang="en-GB" sz="1400" dirty="0">
                        <a:latin typeface="Arial Black" panose="020B0A04020102020204" pitchFamily="34" charset="0"/>
                      </a:endParaRPr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latin typeface="Arial Black" panose="020B0A04020102020204" pitchFamily="34" charset="0"/>
                        </a:rPr>
                        <a:t>150,000,000.00</a:t>
                      </a:r>
                      <a:endParaRPr lang="en-US" sz="1500" b="1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latin typeface="Arial Black" panose="020B0A04020102020204" pitchFamily="34" charset="0"/>
                        </a:rPr>
                        <a:t>158,300,658.52</a:t>
                      </a:r>
                      <a:endParaRPr lang="en-US" sz="1500" b="1" dirty="0">
                        <a:latin typeface="Arial Black" panose="020B0A04020102020204" pitchFamily="34" charset="0"/>
                      </a:endParaRPr>
                    </a:p>
                  </a:txBody>
                  <a:tcPr marL="5180" marR="5180" marT="517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latin typeface="Arial Black" panose="020B0A04020102020204" pitchFamily="34" charset="0"/>
                        </a:rPr>
                        <a:t>105.53</a:t>
                      </a:r>
                      <a:endParaRPr lang="en-US" sz="1500" b="1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150,000,000.00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165,629,039.40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5180" marR="5180" marT="517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110.42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  <a:tr h="373137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Arial Black" panose="020B0A04020102020204" pitchFamily="34" charset="0"/>
                        </a:rPr>
                        <a:t>3</a:t>
                      </a:r>
                      <a:endParaRPr lang="en-GB" sz="1400" dirty="0">
                        <a:latin typeface="Arial Black" panose="020B0A04020102020204" pitchFamily="34" charset="0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lvl="0" algn="ctr" fontAlgn="b">
                        <a:lnSpc>
                          <a:spcPct val="150000"/>
                        </a:lnSpc>
                      </a:pPr>
                      <a:r>
                        <a:rPr lang="en-GB" sz="1400" u="none" strike="noStrike" dirty="0">
                          <a:latin typeface="Arial Black" panose="020B0A04020102020204" pitchFamily="34" charset="0"/>
                        </a:rPr>
                        <a:t>Enugu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5953" marR="5953" marT="6804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latin typeface="Arial Black" panose="020B0A04020102020204" pitchFamily="34" charset="0"/>
                        </a:rPr>
                        <a:t>100,000,000.00</a:t>
                      </a:r>
                      <a:endParaRPr lang="en-US" sz="1500" b="1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latin typeface="Arial Black" panose="020B0A04020102020204" pitchFamily="34" charset="0"/>
                        </a:rPr>
                        <a:t>179,764,187.88</a:t>
                      </a:r>
                      <a:endParaRPr lang="en-US" sz="1500" b="1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latin typeface="Arial Black" panose="020B0A04020102020204" pitchFamily="34" charset="0"/>
                        </a:rPr>
                        <a:t>179.76</a:t>
                      </a:r>
                      <a:endParaRPr lang="en-US" sz="1500" b="1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150,000,000.00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148,148,767.31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98.77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  <a:tr h="552890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Arial Black" panose="020B0A04020102020204" pitchFamily="34" charset="0"/>
                        </a:rPr>
                        <a:t>4</a:t>
                      </a:r>
                      <a:endParaRPr lang="en-GB" sz="1400" dirty="0">
                        <a:latin typeface="Arial Black" panose="020B0A04020102020204" pitchFamily="34" charset="0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Arial Black" panose="020B0A04020102020204" pitchFamily="34" charset="0"/>
                        </a:rPr>
                        <a:t>Gwagwalada</a:t>
                      </a:r>
                      <a:endParaRPr lang="en-GB" sz="1400" dirty="0">
                        <a:latin typeface="Arial Black" panose="020B0A04020102020204" pitchFamily="34" charset="0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latin typeface="Arial Black" panose="020B0A04020102020204" pitchFamily="34" charset="0"/>
                        </a:rPr>
                        <a:t>300,000,000.00</a:t>
                      </a:r>
                      <a:endParaRPr lang="en-US" sz="1500" b="1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latin typeface="Arial Black" panose="020B0A04020102020204" pitchFamily="34" charset="0"/>
                        </a:rPr>
                        <a:t>654,231,463.13</a:t>
                      </a:r>
                      <a:endParaRPr lang="en-US" sz="1500" b="1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latin typeface="Arial Black" panose="020B0A04020102020204" pitchFamily="34" charset="0"/>
                        </a:rPr>
                        <a:t>218.08</a:t>
                      </a:r>
                      <a:endParaRPr lang="en-US" sz="1500" b="1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600,000,000.00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439,219,152.09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73.20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  <a:tr h="327189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Arial Black" panose="020B0A04020102020204" pitchFamily="34" charset="0"/>
                        </a:rPr>
                        <a:t>5</a:t>
                      </a:r>
                      <a:endParaRPr lang="en-GB" sz="1400" dirty="0">
                        <a:latin typeface="Arial Black" panose="020B0A04020102020204" pitchFamily="34" charset="0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 Black" panose="020B0A04020102020204" pitchFamily="34" charset="0"/>
                        </a:rPr>
                        <a:t>Ibadan</a:t>
                      </a:r>
                      <a:endParaRPr lang="en-US" sz="1400" dirty="0">
                        <a:latin typeface="Arial Black" panose="020B0A04020102020204" pitchFamily="34" charset="0"/>
                      </a:endParaRPr>
                    </a:p>
                  </a:txBody>
                  <a:tcPr marL="5953" marR="5953" marT="6804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latin typeface="Arial Black" panose="020B0A04020102020204" pitchFamily="34" charset="0"/>
                        </a:rPr>
                        <a:t>500,000,000.00</a:t>
                      </a:r>
                      <a:endParaRPr lang="en-US" sz="1500" b="1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latin typeface="Arial Black" panose="020B0A04020102020204" pitchFamily="34" charset="0"/>
                        </a:rPr>
                        <a:t>697,657,960.94</a:t>
                      </a:r>
                      <a:endParaRPr lang="en-US" sz="1500" b="1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latin typeface="Arial Black" panose="020B0A04020102020204" pitchFamily="34" charset="0"/>
                        </a:rPr>
                        <a:t>139.53</a:t>
                      </a:r>
                      <a:endParaRPr lang="en-US" sz="1500" b="1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660,000,000.00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865,459,676.19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131.13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  <a:tr h="373137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Arial Black" panose="020B0A04020102020204" pitchFamily="34" charset="0"/>
                        </a:rPr>
                        <a:t>6</a:t>
                      </a:r>
                      <a:endParaRPr lang="en-GB" sz="1400" dirty="0">
                        <a:latin typeface="Arial Black" panose="020B0A04020102020204" pitchFamily="34" charset="0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 Black" panose="020B0A04020102020204" pitchFamily="34" charset="0"/>
                        </a:rPr>
                        <a:t>Kaduna</a:t>
                      </a:r>
                      <a:endParaRPr lang="en-US" sz="1400" dirty="0">
                        <a:latin typeface="Arial Black" panose="020B0A04020102020204" pitchFamily="34" charset="0"/>
                      </a:endParaRPr>
                    </a:p>
                  </a:txBody>
                  <a:tcPr marL="5953" marR="5953" marT="6804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latin typeface="Arial Black" panose="020B0A04020102020204" pitchFamily="34" charset="0"/>
                        </a:rPr>
                        <a:t>450,000,000.00</a:t>
                      </a:r>
                      <a:endParaRPr lang="en-US" sz="1500" b="1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latin typeface="Arial Black" panose="020B0A04020102020204" pitchFamily="34" charset="0"/>
                        </a:rPr>
                        <a:t>622,470,250.59</a:t>
                      </a:r>
                      <a:endParaRPr lang="en-US" sz="1500" b="1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latin typeface="Arial Black" panose="020B0A04020102020204" pitchFamily="34" charset="0"/>
                        </a:rPr>
                        <a:t>138.33</a:t>
                      </a:r>
                      <a:endParaRPr lang="en-US" sz="1500" b="1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650,000,000.00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499,315,994.33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76.82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  <a:tr h="373137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Arial Black" panose="020B0A04020102020204" pitchFamily="34" charset="0"/>
                        </a:rPr>
                        <a:t>7</a:t>
                      </a:r>
                      <a:endParaRPr lang="en-GB" sz="1400" dirty="0">
                        <a:latin typeface="Arial Black" panose="020B0A04020102020204" pitchFamily="34" charset="0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 Black" panose="020B0A04020102020204" pitchFamily="34" charset="0"/>
                        </a:rPr>
                        <a:t>Kano</a:t>
                      </a:r>
                      <a:endParaRPr lang="en-US" sz="1400" dirty="0">
                        <a:latin typeface="Arial Black" panose="020B0A04020102020204" pitchFamily="34" charset="0"/>
                      </a:endParaRPr>
                    </a:p>
                  </a:txBody>
                  <a:tcPr marL="5953" marR="5953" marT="6804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latin typeface="Arial Black" panose="020B0A04020102020204" pitchFamily="34" charset="0"/>
                        </a:rPr>
                        <a:t>320,000,000.00</a:t>
                      </a:r>
                      <a:endParaRPr lang="en-US" sz="1500" b="1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latin typeface="Arial Black" panose="020B0A04020102020204" pitchFamily="34" charset="0"/>
                        </a:rPr>
                        <a:t>485,636,266.64</a:t>
                      </a:r>
                      <a:endParaRPr lang="en-US" sz="1500" b="1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latin typeface="Arial Black" panose="020B0A04020102020204" pitchFamily="34" charset="0"/>
                        </a:rPr>
                        <a:t>151.76</a:t>
                      </a:r>
                      <a:endParaRPr lang="en-US" sz="1500" b="1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450,000,000.00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414,641,028.05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92.14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  <a:tr h="556222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Arial Black" panose="020B0A04020102020204" pitchFamily="34" charset="0"/>
                        </a:rPr>
                        <a:t>8</a:t>
                      </a:r>
                      <a:endParaRPr lang="en-GB" sz="1400" dirty="0">
                        <a:latin typeface="Arial Black" panose="020B0A04020102020204" pitchFamily="34" charset="0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GB" sz="1400" b="0" i="0" u="none" strike="noStrike" dirty="0" err="1">
                          <a:solidFill>
                            <a:srgbClr val="000000"/>
                          </a:solidFill>
                          <a:latin typeface="Arial Black" panose="020B0A04020102020204" pitchFamily="34" charset="0"/>
                        </a:rPr>
                        <a:t>Lafia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5953" marR="5953" marT="6804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latin typeface="Arial Black" panose="020B0A04020102020204" pitchFamily="34" charset="0"/>
                        </a:rPr>
                        <a:t>380,000,000.00</a:t>
                      </a:r>
                      <a:endParaRPr lang="en-US" sz="1500" b="1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latin typeface="Arial Black" panose="020B0A04020102020204" pitchFamily="34" charset="0"/>
                        </a:rPr>
                        <a:t>552,950,948.44</a:t>
                      </a:r>
                      <a:endParaRPr lang="en-US" sz="1500" b="1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latin typeface="Arial Black" panose="020B0A04020102020204" pitchFamily="34" charset="0"/>
                        </a:rPr>
                        <a:t>145.51</a:t>
                      </a:r>
                      <a:endParaRPr lang="en-US" sz="1500" b="1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640,000,000.00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638,544,478.40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99.77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  <a:tr h="55622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GB" sz="1400" dirty="0">
                          <a:latin typeface="Arial Black" panose="020B0A04020102020204" pitchFamily="34" charset="0"/>
                        </a:rPr>
                        <a:t>9</a:t>
                      </a:r>
                      <a:endParaRPr lang="en-GB" sz="1400" dirty="0">
                        <a:latin typeface="Arial Black" panose="020B0A04020102020204" pitchFamily="34" charset="0"/>
                      </a:endParaRPr>
                    </a:p>
                    <a:p>
                      <a:pPr algn="ctr"/>
                      <a:endParaRPr lang="en-GB" sz="1400" dirty="0">
                        <a:latin typeface="Arial Black" panose="020B0A04020102020204" pitchFamily="34" charset="0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GB" sz="1400" u="none" strike="noStrike" dirty="0">
                          <a:latin typeface="Arial Black" panose="020B0A04020102020204" pitchFamily="34" charset="0"/>
                        </a:rPr>
                        <a:t>Warri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5953" marR="5953" marT="6804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latin typeface="Arial Black" panose="020B0A04020102020204" pitchFamily="34" charset="0"/>
                        </a:rPr>
                        <a:t>500,000,000.00</a:t>
                      </a:r>
                      <a:endParaRPr lang="en-US" sz="1500" b="1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latin typeface="Arial Black" panose="020B0A04020102020204" pitchFamily="34" charset="0"/>
                        </a:rPr>
                        <a:t>446,863,639.73</a:t>
                      </a:r>
                      <a:endParaRPr lang="en-US" sz="1500" b="1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latin typeface="Arial Black" panose="020B0A04020102020204" pitchFamily="34" charset="0"/>
                        </a:rPr>
                        <a:t>89.37</a:t>
                      </a:r>
                      <a:endParaRPr lang="en-US" sz="1500" b="1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600,000,000.00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546,583,304.99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91.10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  <a:tr h="474686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latin typeface="Arial Black" panose="020B0A04020102020204" pitchFamily="34" charset="0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latin typeface="Arial Black" panose="020B0A04020102020204" pitchFamily="34" charset="0"/>
                        </a:rPr>
                        <a:t>TOTAL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5953" marR="5953" marT="680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</a:rPr>
                        <a:t>3,175,000,000.00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</a:rPr>
                        <a:t>4,558,075,182.96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</a:rPr>
                        <a:t>1,327.91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</a:rPr>
                        <a:t>4,600,000,000.00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</a:rPr>
                        <a:t>4,750,501,901.34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</a:rPr>
                        <a:t>920.92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22AFA-50A3-4156-984F-61758D2C4411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215152" y="231251"/>
          <a:ext cx="11752729" cy="645191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507956"/>
                <a:gridCol w="1699362"/>
                <a:gridCol w="1770597"/>
                <a:gridCol w="1729130"/>
                <a:gridCol w="1097817"/>
                <a:gridCol w="1915653"/>
                <a:gridCol w="1717360"/>
                <a:gridCol w="1314854"/>
              </a:tblGrid>
              <a:tr h="683149">
                <a:tc gridSpan="8">
                  <a:txBody>
                    <a:bodyPr/>
                    <a:lstStyle/>
                    <a:p>
                      <a:pPr marL="4625975" marR="0" indent="-107950" algn="l" defTabSz="13163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GB" sz="2000" u="none" strike="noStrike" baseline="0" dirty="0">
                          <a:solidFill>
                            <a:srgbClr val="FF0000"/>
                          </a:solidFill>
                          <a:latin typeface="Arial Black" panose="020B0A04020102020204" pitchFamily="34" charset="0"/>
                        </a:rPr>
                        <a:t>COURSE FEE</a:t>
                      </a:r>
                      <a:endParaRPr lang="en-GB" sz="2000" u="none" strike="noStrike" baseline="0" dirty="0">
                        <a:solidFill>
                          <a:srgbClr val="FF0000"/>
                        </a:solidFill>
                        <a:latin typeface="Arial Black" panose="020B0A04020102020204" pitchFamily="34" charset="0"/>
                      </a:endParaRPr>
                    </a:p>
                    <a:p>
                      <a:pPr marL="4625975" marR="0" indent="-398780" algn="l" defTabSz="13163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GB" sz="1600" u="none" strike="noStrike" baseline="0" dirty="0">
                          <a:latin typeface="Arial Black" panose="020B0A04020102020204" pitchFamily="34" charset="0"/>
                        </a:rPr>
                        <a:t>    </a:t>
                      </a:r>
                      <a:r>
                        <a:rPr lang="en-GB" sz="2000" u="none" strike="noStrike" baseline="0" dirty="0">
                          <a:latin typeface="Arial Black" panose="020B0A04020102020204" pitchFamily="34" charset="0"/>
                        </a:rPr>
                        <a:t>CATEGORY B</a:t>
                      </a:r>
                      <a:endParaRPr lang="en-US" sz="20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/>
                </a:tc>
                <a:tc hMerge="1">
                  <a:tcPr/>
                </a:tc>
                <a:tc hMerge="1">
                  <a:tcPr marL="99917" marR="99917" marT="64812" marB="64812"/>
                </a:tc>
                <a:tc hMerge="1">
                  <a:tcPr/>
                </a:tc>
                <a:tc hMerge="1">
                  <a:tcPr/>
                </a:tc>
                <a:tc hMerge="1">
                  <a:tcPr marL="99917" marR="99917" marT="64812" marB="64812"/>
                </a:tc>
                <a:tc hMerge="1">
                  <a:tcPr/>
                </a:tc>
                <a:tc hMerge="1">
                  <a:tcPr/>
                </a:tc>
              </a:tr>
              <a:tr h="337892">
                <a:tc rowSpan="2">
                  <a:txBody>
                    <a:bodyPr/>
                    <a:lstStyle/>
                    <a:p>
                      <a:pPr marL="0" indent="0" algn="ctr"/>
                      <a:r>
                        <a:rPr lang="en-US" sz="1700" b="1" dirty="0"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S/N</a:t>
                      </a:r>
                      <a:endParaRPr lang="en-US" sz="1700" b="1" dirty="0"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4330" marR="54330" marT="35242" marB="35242" anchor="ctr"/>
                </a:tc>
                <a:tc rowSpan="2">
                  <a:txBody>
                    <a:bodyPr/>
                    <a:lstStyle/>
                    <a:p>
                      <a:pPr marL="0" indent="0" algn="ctr"/>
                      <a:r>
                        <a:rPr lang="en-US" sz="1800" b="1" dirty="0"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AREA OFFICE</a:t>
                      </a:r>
                      <a:endParaRPr lang="en-US" sz="1700" b="1" dirty="0"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4330" marR="54330" marT="35242" marB="35242"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700" b="1" dirty="0">
                          <a:latin typeface="Arial Black" panose="020B0A04020102020204" pitchFamily="34" charset="0"/>
                        </a:rPr>
                        <a:t>2023</a:t>
                      </a:r>
                      <a:endParaRPr lang="en-US" sz="1700" b="1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 hMerge="1">
                  <a:tcPr marL="54330" marR="54330" marT="35242" marB="35242"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700" b="1" dirty="0">
                          <a:latin typeface="Arial Black" panose="020B0A04020102020204" pitchFamily="34" charset="0"/>
                        </a:rPr>
                        <a:t>2024</a:t>
                      </a:r>
                      <a:endParaRPr lang="en-US" sz="1700" b="1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/>
                </a:tc>
                <a:tc hMerge="1">
                  <a:tcPr/>
                </a:tc>
                <a:tc hMerge="1">
                  <a:tcPr/>
                </a:tc>
              </a:tr>
              <a:tr h="619145">
                <a:tc vMerge="1">
                  <a:tcPr marL="99917" marR="99917" marT="64812" marB="64812"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1700" b="1" dirty="0"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700" b="1" dirty="0"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Annual </a:t>
                      </a:r>
                      <a:r>
                        <a:rPr lang="en-US" sz="1700" b="1" baseline="0" dirty="0"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Target</a:t>
                      </a:r>
                      <a:endParaRPr lang="en-US" sz="1700" b="1" dirty="0"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  <a:p>
                      <a:endParaRPr lang="en-US" sz="1800" dirty="0"/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7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Actual Achieved</a:t>
                      </a:r>
                      <a:endParaRPr lang="en-US" sz="17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108" marR="5108" marT="5108" marB="0" anchor="ctr"/>
                </a:tc>
                <a:tc>
                  <a:txBody>
                    <a:bodyPr/>
                    <a:lstStyle/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7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% </a:t>
                      </a:r>
                      <a:endParaRPr lang="en-US" sz="1700" b="1" u="none" strike="noStrike" dirty="0"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7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Achieved</a:t>
                      </a:r>
                      <a:endParaRPr lang="en-US" sz="17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108" marR="5108" marT="5108" marB="0" anchor="ctr"/>
                </a:tc>
                <a:tc>
                  <a:txBody>
                    <a:bodyPr/>
                    <a:lstStyle/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7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Annual</a:t>
                      </a:r>
                      <a:endParaRPr lang="en-US" sz="1700" b="1" u="none" strike="noStrike" baseline="0" dirty="0"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7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Target</a:t>
                      </a:r>
                      <a:endParaRPr lang="en-US" sz="17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108" marR="5108" marT="5108" marB="0" anchor="ctr"/>
                </a:tc>
                <a:tc>
                  <a:txBody>
                    <a:bodyPr/>
                    <a:lstStyle/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7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Actual Achieved</a:t>
                      </a:r>
                      <a:endParaRPr lang="en-US" sz="17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108" marR="5108" marT="5108" marB="0" anchor="ctr"/>
                </a:tc>
                <a:tc>
                  <a:txBody>
                    <a:bodyPr/>
                    <a:lstStyle/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7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% </a:t>
                      </a:r>
                      <a:endParaRPr lang="en-US" sz="1700" b="1" u="none" strike="noStrike" dirty="0"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7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Achieved</a:t>
                      </a:r>
                      <a:endParaRPr lang="en-US" sz="17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108" marR="5108" marT="5108" marB="0" anchor="ctr"/>
                </a:tc>
              </a:tr>
              <a:tr h="381979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Arial Black" panose="020B0A04020102020204" pitchFamily="34" charset="0"/>
                        </a:rPr>
                        <a:t>1</a:t>
                      </a:r>
                      <a:endParaRPr lang="en-GB" sz="1600" dirty="0">
                        <a:latin typeface="Arial Black" panose="020B0A04020102020204" pitchFamily="34" charset="0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lvl="0" algn="ctr" fontAlgn="b">
                        <a:lnSpc>
                          <a:spcPct val="150000"/>
                        </a:lnSpc>
                      </a:pPr>
                      <a:r>
                        <a:rPr lang="en-GB" sz="1600" u="none" strike="noStrike" dirty="0">
                          <a:latin typeface="Arial Black" panose="020B0A04020102020204" pitchFamily="34" charset="0"/>
                        </a:rPr>
                        <a:t>Abeokuta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5953" marR="5953" marT="6804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17,500,000.00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22,443,536.25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180" marR="5180" marT="517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128.25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37,500,000.00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63,256,279.02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180" marR="5180" marT="517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168.68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  <a:tr h="368199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Arial Black" panose="020B0A04020102020204" pitchFamily="34" charset="0"/>
                        </a:rPr>
                        <a:t>2</a:t>
                      </a:r>
                      <a:endParaRPr lang="en-GB" sz="1600" dirty="0">
                        <a:latin typeface="Arial Black" panose="020B0A04020102020204" pitchFamily="34" charset="0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Arial Black" panose="020B0A04020102020204" pitchFamily="34" charset="0"/>
                        </a:rPr>
                        <a:t>Badagry</a:t>
                      </a:r>
                      <a:endParaRPr lang="en-GB" sz="1600" dirty="0">
                        <a:latin typeface="Arial Black" panose="020B0A04020102020204" pitchFamily="34" charset="0"/>
                      </a:endParaRPr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41,000,000.00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3,310,361.25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180" marR="5180" marT="517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8.07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51,000,000.00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3,465,000.00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180" marR="5180" marT="517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6.79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  <a:tr h="381979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Arial Black" panose="020B0A04020102020204" pitchFamily="34" charset="0"/>
                        </a:rPr>
                        <a:t>3</a:t>
                      </a:r>
                      <a:endParaRPr lang="en-GB" sz="1600" dirty="0">
                        <a:latin typeface="Arial Black" panose="020B0A04020102020204" pitchFamily="34" charset="0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lvl="0" algn="ctr" fontAlgn="b">
                        <a:lnSpc>
                          <a:spcPct val="150000"/>
                        </a:lnSpc>
                      </a:pPr>
                      <a:r>
                        <a:rPr lang="en-GB" sz="1600" u="none" strike="noStrike" dirty="0">
                          <a:latin typeface="Arial Black" panose="020B0A04020102020204" pitchFamily="34" charset="0"/>
                        </a:rPr>
                        <a:t>Enugu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5953" marR="5953" marT="6804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22,500,000.00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3,155,000.00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14.02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32,500,000.00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3,550,000.00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10.92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  <a:tr h="343753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Arial Black" panose="020B0A04020102020204" pitchFamily="34" charset="0"/>
                        </a:rPr>
                        <a:t>4</a:t>
                      </a:r>
                      <a:endParaRPr lang="en-GB" sz="1600" dirty="0">
                        <a:latin typeface="Arial Black" panose="020B0A04020102020204" pitchFamily="34" charset="0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Arial Black" panose="020B0A04020102020204" pitchFamily="34" charset="0"/>
                        </a:rPr>
                        <a:t>Gwagwalada</a:t>
                      </a:r>
                      <a:endParaRPr lang="en-GB" sz="1600" dirty="0">
                        <a:latin typeface="Arial Black" panose="020B0A04020102020204" pitchFamily="34" charset="0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22,500,000.00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30,659,400.00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136.26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42,500,000.00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25,526,510.00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60.06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  <a:tr h="368199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Arial Black" panose="020B0A04020102020204" pitchFamily="34" charset="0"/>
                        </a:rPr>
                        <a:t>5</a:t>
                      </a:r>
                      <a:endParaRPr lang="en-GB" sz="1600" dirty="0">
                        <a:latin typeface="Arial Black" panose="020B0A04020102020204" pitchFamily="34" charset="0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Ibadan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953" marR="5953" marT="6804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30,000,000.00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17,408,000.00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58.03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50,000,000.00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31,340,465.12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62.68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  <a:tr h="368199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Arial Black" panose="020B0A04020102020204" pitchFamily="34" charset="0"/>
                        </a:rPr>
                        <a:t>6</a:t>
                      </a:r>
                      <a:endParaRPr lang="en-GB" sz="1600" dirty="0">
                        <a:latin typeface="Arial Black" panose="020B0A04020102020204" pitchFamily="34" charset="0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Kaduna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953" marR="5953" marT="6804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22,500,000.00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28,392,322.50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126.19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22,500,000.00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26,029,987.50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115.69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  <a:tr h="368199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Arial Black" panose="020B0A04020102020204" pitchFamily="34" charset="0"/>
                        </a:rPr>
                        <a:t>7</a:t>
                      </a:r>
                      <a:endParaRPr lang="en-GB" sz="1600" dirty="0">
                        <a:latin typeface="Arial Black" panose="020B0A04020102020204" pitchFamily="34" charset="0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Kano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953" marR="5953" marT="6804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15,000,000.00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15,449,000.00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102.99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35,000,000.00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20,115,000.00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57.47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  <a:tr h="58990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GB" sz="1600" dirty="0">
                          <a:latin typeface="Arial Black" panose="020B0A04020102020204" pitchFamily="34" charset="0"/>
                        </a:rPr>
                        <a:t>8</a:t>
                      </a:r>
                      <a:endParaRPr lang="en-GB" sz="1600" dirty="0">
                        <a:latin typeface="Arial Black" panose="020B0A04020102020204" pitchFamily="34" charset="0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GB" sz="1600" b="0" i="0" u="none" strike="noStrike" dirty="0" err="1">
                          <a:solidFill>
                            <a:srgbClr val="000000"/>
                          </a:solidFill>
                          <a:latin typeface="Arial Black" panose="020B0A04020102020204" pitchFamily="34" charset="0"/>
                        </a:rPr>
                        <a:t>Lafia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5953" marR="5953" marT="6804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12,500,000.00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60,904,100.00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487.23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32,500,000.00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38,440,000.00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118.28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  <a:tr h="58990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GB" sz="1600" dirty="0">
                          <a:latin typeface="Arial Black" panose="020B0A04020102020204" pitchFamily="34" charset="0"/>
                        </a:rPr>
                        <a:t>9</a:t>
                      </a:r>
                      <a:endParaRPr lang="en-GB" sz="1600" dirty="0">
                        <a:latin typeface="Arial Black" panose="020B0A04020102020204" pitchFamily="34" charset="0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GB" sz="1600" u="none" strike="noStrike" dirty="0">
                          <a:latin typeface="Arial Black" panose="020B0A04020102020204" pitchFamily="34" charset="0"/>
                        </a:rPr>
                        <a:t>Warri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5953" marR="5953" marT="6804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12,500,000.00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7,110,000.00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56.88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42,500,000.00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14,562,906.98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34.27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  <a:tr h="548502">
                <a:tc gridSpan="2"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latin typeface="Arial Black" panose="020B0A04020102020204" pitchFamily="34" charset="0"/>
                        </a:rPr>
                        <a:t>TOTAL</a:t>
                      </a:r>
                      <a:endParaRPr lang="en-GB" sz="1800" b="1" dirty="0">
                        <a:latin typeface="Arial Black" panose="020B0A04020102020204" pitchFamily="34" charset="0"/>
                      </a:endParaRPr>
                    </a:p>
                  </a:txBody>
                  <a:tcPr marL="91439" marR="91439" anchor="ctr"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</a:rPr>
                        <a:t>196,000,000.00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</a:rPr>
                        <a:t>188,831,720.00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</a:rPr>
                        <a:t>1,117.92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</a:rPr>
                        <a:t>346,000,000.00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</a:rPr>
                        <a:t>226,286,148.62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</a:rPr>
                        <a:t>634.84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22AFA-50A3-4156-984F-61758D2C4411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336489" y="331997"/>
          <a:ext cx="11537465" cy="623237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482778"/>
                <a:gridCol w="1597743"/>
                <a:gridCol w="1742197"/>
                <a:gridCol w="1742201"/>
                <a:gridCol w="1081366"/>
                <a:gridCol w="1847333"/>
                <a:gridCol w="1787258"/>
                <a:gridCol w="1256589"/>
              </a:tblGrid>
              <a:tr h="768776">
                <a:tc gridSpan="8">
                  <a:txBody>
                    <a:bodyPr/>
                    <a:lstStyle/>
                    <a:p>
                      <a:pPr marL="3832225" marR="0" indent="409575" algn="l" defTabSz="13163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GB" sz="2000" u="none" strike="noStrike" baseline="0" dirty="0">
                          <a:solidFill>
                            <a:srgbClr val="FF0000"/>
                          </a:solidFill>
                          <a:latin typeface="Arial Black" panose="020B0A04020102020204" pitchFamily="34" charset="0"/>
                        </a:rPr>
                        <a:t>OTHER INCOME</a:t>
                      </a:r>
                      <a:endParaRPr lang="en-GB" sz="2000" u="none" strike="noStrike" baseline="0" dirty="0">
                        <a:solidFill>
                          <a:srgbClr val="FF0000"/>
                        </a:solidFill>
                        <a:latin typeface="Arial Black" panose="020B0A04020102020204" pitchFamily="34" charset="0"/>
                      </a:endParaRPr>
                    </a:p>
                    <a:p>
                      <a:pPr marL="4464050" marR="0" indent="0" algn="l" defTabSz="13163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GB" sz="2000" u="none" strike="noStrike" baseline="0" dirty="0">
                          <a:latin typeface="Arial Black" panose="020B0A04020102020204" pitchFamily="34" charset="0"/>
                        </a:rPr>
                        <a:t>CATEGORY B</a:t>
                      </a:r>
                      <a:endParaRPr lang="en-US" sz="20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/>
                </a:tc>
                <a:tc hMerge="1">
                  <a:tcPr/>
                </a:tc>
                <a:tc hMerge="1">
                  <a:tcPr marL="99917" marR="99917" marT="64812" marB="64812"/>
                </a:tc>
                <a:tc hMerge="1">
                  <a:tcPr/>
                </a:tc>
                <a:tc hMerge="1">
                  <a:tcPr/>
                </a:tc>
                <a:tc hMerge="1">
                  <a:tcPr marL="99917" marR="99917" marT="64812" marB="64812"/>
                </a:tc>
                <a:tc hMerge="1">
                  <a:tcPr/>
                </a:tc>
                <a:tc hMerge="1">
                  <a:tcPr/>
                </a:tc>
              </a:tr>
              <a:tr h="361986">
                <a:tc rowSpan="2">
                  <a:txBody>
                    <a:bodyPr/>
                    <a:lstStyle/>
                    <a:p>
                      <a:pPr marL="0" indent="0" algn="ctr"/>
                      <a:r>
                        <a:rPr lang="en-US" sz="1500" b="1" dirty="0"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S/N</a:t>
                      </a:r>
                      <a:endParaRPr lang="en-US" sz="1500" b="1" dirty="0"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4330" marR="54330" marT="35242" marB="35242" anchor="ctr"/>
                </a:tc>
                <a:tc rowSpan="2">
                  <a:txBody>
                    <a:bodyPr/>
                    <a:lstStyle/>
                    <a:p>
                      <a:pPr marL="0" indent="0" algn="ctr"/>
                      <a:r>
                        <a:rPr lang="en-US" sz="1400" b="1" dirty="0"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AREA OFFICE</a:t>
                      </a:r>
                      <a:endParaRPr lang="en-US" sz="1500" b="1" dirty="0"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4330" marR="54330" marT="35242" marB="35242"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latin typeface="Arial Black" panose="020B0A04020102020204" pitchFamily="34" charset="0"/>
                        </a:rPr>
                        <a:t>2023</a:t>
                      </a:r>
                      <a:endParaRPr lang="en-US" sz="1500" b="1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 hMerge="1">
                  <a:tcPr marL="54330" marR="54330" marT="35242" marB="35242"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latin typeface="Arial Black" panose="020B0A04020102020204" pitchFamily="34" charset="0"/>
                        </a:rPr>
                        <a:t>2024</a:t>
                      </a:r>
                      <a:endParaRPr lang="en-US" sz="1500" b="1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/>
                </a:tc>
                <a:tc hMerge="1">
                  <a:tcPr/>
                </a:tc>
                <a:tc hMerge="1">
                  <a:tcPr/>
                </a:tc>
              </a:tr>
              <a:tr h="593986">
                <a:tc vMerge="1">
                  <a:tcPr marL="99917" marR="99917" marT="64812" marB="64812"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600" b="1" dirty="0"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Annual</a:t>
                      </a:r>
                      <a:endParaRPr lang="en-US" sz="1600" b="1" baseline="0" dirty="0"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600" b="1" baseline="0" dirty="0"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Target</a:t>
                      </a:r>
                      <a:endParaRPr lang="en-US" sz="1600" b="1" dirty="0"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  <a:p>
                      <a:pPr algn="ctr"/>
                      <a:endParaRPr lang="en-US" sz="1600" dirty="0"/>
                    </a:p>
                  </a:txBody>
                  <a:tcPr marL="54330" marR="54330" marT="35242" marB="35242"/>
                </a:tc>
                <a:tc>
                  <a:txBody>
                    <a:bodyPr/>
                    <a:lstStyle/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5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Actual</a:t>
                      </a:r>
                      <a:endParaRPr lang="en-US" sz="1500" b="1" u="none" strike="noStrike" dirty="0"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5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Achieved</a:t>
                      </a:r>
                      <a:endParaRPr lang="en-US" sz="15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108" marR="5108" marT="5108" marB="0"/>
                </a:tc>
                <a:tc>
                  <a:txBody>
                    <a:bodyPr/>
                    <a:lstStyle/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5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% </a:t>
                      </a:r>
                      <a:endParaRPr lang="en-US" sz="1500" b="1" u="none" strike="noStrike" dirty="0"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5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Achieved</a:t>
                      </a:r>
                      <a:endParaRPr lang="en-US" sz="15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108" marR="5108" marT="5108" marB="0"/>
                </a:tc>
                <a:tc>
                  <a:txBody>
                    <a:bodyPr/>
                    <a:lstStyle/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5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Annual</a:t>
                      </a:r>
                      <a:endParaRPr lang="en-US" sz="1500" b="1" u="none" strike="noStrike" baseline="0" dirty="0"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5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Target</a:t>
                      </a:r>
                      <a:endParaRPr lang="en-US" sz="15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108" marR="5108" marT="5108" marB="0"/>
                </a:tc>
                <a:tc>
                  <a:txBody>
                    <a:bodyPr/>
                    <a:lstStyle/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5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Actual</a:t>
                      </a:r>
                      <a:endParaRPr lang="en-US" sz="1500" b="1" u="none" strike="noStrike" dirty="0"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5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Achieved</a:t>
                      </a:r>
                      <a:endParaRPr lang="en-US" sz="15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108" marR="5108" marT="5108" marB="0"/>
                </a:tc>
                <a:tc>
                  <a:txBody>
                    <a:bodyPr/>
                    <a:lstStyle/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5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% </a:t>
                      </a:r>
                      <a:endParaRPr lang="en-US" sz="1500" b="1" u="none" strike="noStrike" dirty="0"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5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Achieved</a:t>
                      </a:r>
                      <a:endParaRPr lang="en-US" sz="15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108" marR="5108" marT="5108" marB="0"/>
                </a:tc>
              </a:tr>
              <a:tr h="439728">
                <a:tc>
                  <a:txBody>
                    <a:bodyPr/>
                    <a:lstStyle/>
                    <a:p>
                      <a:pPr algn="l"/>
                      <a:r>
                        <a:rPr lang="en-GB" sz="1500" dirty="0">
                          <a:latin typeface="Arial Black" panose="020B0A04020102020204" pitchFamily="34" charset="0"/>
                        </a:rPr>
                        <a:t>1</a:t>
                      </a:r>
                      <a:endParaRPr lang="en-GB" sz="1500" dirty="0">
                        <a:latin typeface="Arial Black" panose="020B0A04020102020204" pitchFamily="34" charset="0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lvl="0" algn="ctr" fontAlgn="b">
                        <a:lnSpc>
                          <a:spcPct val="150000"/>
                        </a:lnSpc>
                      </a:pPr>
                      <a:r>
                        <a:rPr lang="en-GB" sz="1500" u="none" strike="noStrike" dirty="0">
                          <a:latin typeface="Arial Black" panose="020B0A04020102020204" pitchFamily="34" charset="0"/>
                        </a:rPr>
                        <a:t>Abeokuta</a:t>
                      </a:r>
                      <a:endParaRPr lang="en-GB" sz="1500" b="0" i="0" u="none" strike="noStrike" dirty="0">
                        <a:solidFill>
                          <a:srgbClr val="000000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5953" marR="5953" marT="6804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200,000.00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553,735.14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180" marR="5180" marT="517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276.87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10,200,000.00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112,000.00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180" marR="5180" marT="517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1.10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  <a:tr h="439728">
                <a:tc>
                  <a:txBody>
                    <a:bodyPr/>
                    <a:lstStyle/>
                    <a:p>
                      <a:pPr algn="l"/>
                      <a:r>
                        <a:rPr lang="en-GB" sz="1500" dirty="0">
                          <a:latin typeface="Arial Black" panose="020B0A04020102020204" pitchFamily="34" charset="0"/>
                        </a:rPr>
                        <a:t>2</a:t>
                      </a:r>
                      <a:endParaRPr lang="en-GB" sz="1500" dirty="0">
                        <a:latin typeface="Arial Black" panose="020B0A04020102020204" pitchFamily="34" charset="0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latin typeface="Arial Black" panose="020B0A04020102020204" pitchFamily="34" charset="0"/>
                        </a:rPr>
                        <a:t>Badagry</a:t>
                      </a:r>
                      <a:endParaRPr lang="en-GB" sz="1500" dirty="0">
                        <a:latin typeface="Arial Black" panose="020B0A04020102020204" pitchFamily="34" charset="0"/>
                      </a:endParaRPr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100,000.00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422,000.00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180" marR="5180" marT="517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422.00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5,100,000.00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22,000.00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180" marR="5180" marT="517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0.43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  <a:tr h="439728">
                <a:tc>
                  <a:txBody>
                    <a:bodyPr/>
                    <a:lstStyle/>
                    <a:p>
                      <a:pPr algn="l"/>
                      <a:r>
                        <a:rPr lang="en-GB" sz="1500" dirty="0">
                          <a:latin typeface="Arial Black" panose="020B0A04020102020204" pitchFamily="34" charset="0"/>
                        </a:rPr>
                        <a:t>3</a:t>
                      </a:r>
                      <a:endParaRPr lang="en-GB" sz="1500" dirty="0">
                        <a:latin typeface="Arial Black" panose="020B0A04020102020204" pitchFamily="34" charset="0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lvl="0" algn="ctr" fontAlgn="b">
                        <a:lnSpc>
                          <a:spcPct val="150000"/>
                        </a:lnSpc>
                      </a:pPr>
                      <a:r>
                        <a:rPr lang="en-GB" sz="1500" u="none" strike="noStrike" dirty="0">
                          <a:latin typeface="Arial Black" panose="020B0A04020102020204" pitchFamily="34" charset="0"/>
                        </a:rPr>
                        <a:t>Enugu</a:t>
                      </a:r>
                      <a:endParaRPr lang="en-GB" sz="1500" b="0" i="0" u="none" strike="noStrike" dirty="0">
                        <a:solidFill>
                          <a:srgbClr val="000000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5953" marR="5953" marT="6804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400,000.00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1,785,932.77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446.48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5,400,000.00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235,000.00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4.35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  <a:tr h="439728">
                <a:tc>
                  <a:txBody>
                    <a:bodyPr/>
                    <a:lstStyle/>
                    <a:p>
                      <a:pPr algn="l"/>
                      <a:r>
                        <a:rPr lang="en-GB" sz="1500" dirty="0">
                          <a:latin typeface="Arial Black" panose="020B0A04020102020204" pitchFamily="34" charset="0"/>
                        </a:rPr>
                        <a:t>4</a:t>
                      </a:r>
                      <a:endParaRPr lang="en-GB" sz="1500" dirty="0">
                        <a:latin typeface="Arial Black" panose="020B0A04020102020204" pitchFamily="34" charset="0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latin typeface="Arial Black" panose="020B0A04020102020204" pitchFamily="34" charset="0"/>
                        </a:rPr>
                        <a:t>Gwagwalada</a:t>
                      </a:r>
                      <a:endParaRPr lang="en-GB" sz="1500" dirty="0">
                        <a:latin typeface="Arial Black" panose="020B0A04020102020204" pitchFamily="34" charset="0"/>
                      </a:endParaRPr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100,000.00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430,000.00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430.00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10,100,000.00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145,800.45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1.44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  <a:tr h="342052">
                <a:tc>
                  <a:txBody>
                    <a:bodyPr/>
                    <a:lstStyle/>
                    <a:p>
                      <a:r>
                        <a:rPr lang="en-GB" sz="1500" dirty="0">
                          <a:latin typeface="Arial Black" panose="020B0A04020102020204" pitchFamily="34" charset="0"/>
                        </a:rPr>
                        <a:t>5</a:t>
                      </a:r>
                      <a:endParaRPr lang="en-GB" sz="1500" dirty="0">
                        <a:latin typeface="Arial Black" panose="020B0A04020102020204" pitchFamily="34" charset="0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Ibadan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5953" marR="5953" marT="6804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150,000.00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397,500.00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265.00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10,150,000.00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136,000.00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1.34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  <a:tr h="439728">
                <a:tc>
                  <a:txBody>
                    <a:bodyPr/>
                    <a:lstStyle/>
                    <a:p>
                      <a:r>
                        <a:rPr lang="en-GB" sz="1500" dirty="0">
                          <a:latin typeface="Arial Black" panose="020B0A04020102020204" pitchFamily="34" charset="0"/>
                        </a:rPr>
                        <a:t>6</a:t>
                      </a:r>
                      <a:endParaRPr lang="en-GB" sz="1500" dirty="0">
                        <a:latin typeface="Arial Black" panose="020B0A04020102020204" pitchFamily="34" charset="0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Kaduna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5953" marR="5953" marT="6804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380,000.00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951,700.00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250.45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10,380,000.00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368,838.00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3.55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  <a:tr h="439728">
                <a:tc>
                  <a:txBody>
                    <a:bodyPr/>
                    <a:lstStyle/>
                    <a:p>
                      <a:r>
                        <a:rPr lang="en-GB" sz="1500" dirty="0">
                          <a:latin typeface="Arial Black" panose="020B0A04020102020204" pitchFamily="34" charset="0"/>
                        </a:rPr>
                        <a:t>7</a:t>
                      </a:r>
                      <a:endParaRPr lang="en-GB" sz="1500" dirty="0">
                        <a:latin typeface="Arial Black" panose="020B0A04020102020204" pitchFamily="34" charset="0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Kano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5953" marR="5953" marT="6804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250,000.00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482,000.00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192.80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10,250,000.00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43,000.00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0.42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  <a:tr h="439728">
                <a:tc>
                  <a:txBody>
                    <a:bodyPr/>
                    <a:lstStyle/>
                    <a:p>
                      <a:r>
                        <a:rPr lang="en-GB" sz="1500" dirty="0">
                          <a:latin typeface="Arial Black" panose="020B0A04020102020204" pitchFamily="34" charset="0"/>
                        </a:rPr>
                        <a:t>8</a:t>
                      </a:r>
                      <a:endParaRPr lang="en-GB" sz="1500" dirty="0">
                        <a:latin typeface="Arial Black" panose="020B0A04020102020204" pitchFamily="34" charset="0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GB" sz="1500" b="0" i="0" u="none" strike="noStrike" dirty="0" err="1">
                          <a:solidFill>
                            <a:srgbClr val="000000"/>
                          </a:solidFill>
                          <a:latin typeface="Arial Black" panose="020B0A04020102020204" pitchFamily="34" charset="0"/>
                        </a:rPr>
                        <a:t>Lafia</a:t>
                      </a:r>
                      <a:endParaRPr lang="en-GB" sz="1500" b="0" i="0" u="none" strike="noStrike" dirty="0">
                        <a:solidFill>
                          <a:srgbClr val="000000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5953" marR="5953" marT="6804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150,000.00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170,000.00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113.33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10,150,000.00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205,000.00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2.02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  <a:tr h="439728">
                <a:tc>
                  <a:txBody>
                    <a:bodyPr/>
                    <a:lstStyle/>
                    <a:p>
                      <a:r>
                        <a:rPr lang="en-GB" sz="1500" dirty="0">
                          <a:latin typeface="Arial Black" panose="020B0A04020102020204" pitchFamily="34" charset="0"/>
                        </a:rPr>
                        <a:t>9</a:t>
                      </a:r>
                      <a:endParaRPr lang="en-GB" sz="1500" dirty="0">
                        <a:latin typeface="Arial Black" panose="020B0A04020102020204" pitchFamily="34" charset="0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GB" sz="1500" u="none" strike="noStrike" dirty="0">
                          <a:latin typeface="Arial Black" panose="020B0A04020102020204" pitchFamily="34" charset="0"/>
                        </a:rPr>
                        <a:t>Warri</a:t>
                      </a:r>
                      <a:endParaRPr lang="en-GB" sz="1500" b="0" i="0" u="none" strike="noStrike" dirty="0">
                        <a:solidFill>
                          <a:srgbClr val="000000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5953" marR="5953" marT="6804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150,000.00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130,000.00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86.67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10,150,000.00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55,000.00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0.54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  <a:tr h="439728">
                <a:tc gridSpan="2"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latin typeface="Arial Black" panose="020B0A04020102020204" pitchFamily="34" charset="0"/>
                        </a:rPr>
                        <a:t>TOTAL</a:t>
                      </a:r>
                      <a:endParaRPr lang="en-GB" sz="1800" b="1" dirty="0">
                        <a:latin typeface="Arial Black" panose="020B0A04020102020204" pitchFamily="34" charset="0"/>
                      </a:endParaRPr>
                    </a:p>
                  </a:txBody>
                  <a:tcPr marL="91439" marR="91439" anchor="ctr"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</a:rPr>
                        <a:t>1,880,000.00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</a:rPr>
                        <a:t>5,322,867.91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</a:rPr>
                        <a:t>2,483.60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</a:rPr>
                        <a:t>81,880,000.00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</a:rPr>
                        <a:t>1,322,638.45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</a:rPr>
                        <a:t>15.19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22AFA-50A3-4156-984F-61758D2C4411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0735" y="254859"/>
            <a:ext cx="10072744" cy="1143635"/>
          </a:xfrm>
        </p:spPr>
        <p:txBody>
          <a:bodyPr>
            <a:noAutofit/>
          </a:bodyPr>
          <a:lstStyle/>
          <a:p>
            <a:pPr algn="ctr"/>
            <a:r>
              <a:rPr lang="en-GB" sz="2400" dirty="0">
                <a:latin typeface="Arial Black" panose="020B0A04020102020204" pitchFamily="34" charset="0"/>
              </a:rPr>
              <a:t>COMPARATIVE ANALYSIS</a:t>
            </a:r>
            <a:r>
              <a:rPr lang="en-US" sz="2400" dirty="0">
                <a:latin typeface="Arial Black" panose="020B0A04020102020204" pitchFamily="34" charset="0"/>
              </a:rPr>
              <a:t> OF TRAINING CONTRIBUTION, COURSE FEE &amp; OTHER INCOME</a:t>
            </a:r>
            <a:br>
              <a:rPr lang="en-US" sz="2400" dirty="0">
                <a:latin typeface="Arial Black" panose="020B0A04020102020204" pitchFamily="34" charset="0"/>
              </a:rPr>
            </a:br>
            <a:r>
              <a:rPr lang="en-US" sz="2400" dirty="0">
                <a:latin typeface="Arial Black" panose="020B0A04020102020204" pitchFamily="34" charset="0"/>
              </a:rPr>
              <a:t>CATEGORY B</a:t>
            </a:r>
            <a:endParaRPr lang="en-US" sz="2400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</p:nvPr>
        </p:nvGraphicFramePr>
        <p:xfrm>
          <a:off x="838200" y="1491916"/>
          <a:ext cx="10515600" cy="46850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22AFA-50A3-4156-984F-61758D2C4411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197535" y="253638"/>
          <a:ext cx="11743453" cy="6252092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607610"/>
                <a:gridCol w="1302020"/>
                <a:gridCol w="1793895"/>
                <a:gridCol w="1764961"/>
                <a:gridCol w="1120926"/>
                <a:gridCol w="2024111"/>
                <a:gridCol w="1716734"/>
                <a:gridCol w="1413196"/>
              </a:tblGrid>
              <a:tr h="702002">
                <a:tc gridSpan="8">
                  <a:txBody>
                    <a:bodyPr/>
                    <a:lstStyle/>
                    <a:p>
                      <a:pPr marL="3657600" marR="0" indent="509905" algn="l" defTabSz="13163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GB" sz="2000" u="none" strike="noStrike" baseline="0" dirty="0">
                          <a:solidFill>
                            <a:srgbClr val="FF0000"/>
                          </a:solidFill>
                          <a:latin typeface="Arial Black" panose="020B0A04020102020204" pitchFamily="34" charset="0"/>
                        </a:rPr>
                        <a:t>TRAINING CONTRIBUTION</a:t>
                      </a:r>
                      <a:endParaRPr lang="en-GB" sz="2000" u="none" strike="noStrike" baseline="0" dirty="0">
                        <a:solidFill>
                          <a:srgbClr val="FF0000"/>
                        </a:solidFill>
                        <a:latin typeface="Arial Black" panose="020B0A04020102020204" pitchFamily="34" charset="0"/>
                      </a:endParaRPr>
                    </a:p>
                    <a:p>
                      <a:pPr marL="4403725" marR="0" indent="517525" algn="l" defTabSz="13163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GB" sz="1800" u="none" strike="noStrike" baseline="0" dirty="0">
                          <a:latin typeface="Arial Black" panose="020B0A04020102020204" pitchFamily="34" charset="0"/>
                        </a:rPr>
                        <a:t>CATEGORY C</a:t>
                      </a:r>
                      <a:endParaRPr lang="en-US" sz="18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/>
                </a:tc>
                <a:tc hMerge="1">
                  <a:tcPr/>
                </a:tc>
                <a:tc hMerge="1">
                  <a:tcPr marL="99917" marR="99917" marT="64812" marB="64812"/>
                </a:tc>
                <a:tc hMerge="1">
                  <a:tcPr/>
                </a:tc>
                <a:tc hMerge="1">
                  <a:tcPr/>
                </a:tc>
                <a:tc hMerge="1">
                  <a:tcPr marL="99917" marR="99917" marT="64812" marB="64812"/>
                </a:tc>
                <a:tc hMerge="1">
                  <a:tcPr/>
                </a:tc>
                <a:tc hMerge="1">
                  <a:tcPr/>
                </a:tc>
              </a:tr>
              <a:tr h="326534">
                <a:tc rowSpan="2">
                  <a:txBody>
                    <a:bodyPr/>
                    <a:lstStyle/>
                    <a:p>
                      <a:pPr marL="0" indent="0" algn="ctr"/>
                      <a:r>
                        <a:rPr lang="en-US" sz="1500" b="1" dirty="0"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S/N</a:t>
                      </a:r>
                      <a:endParaRPr lang="en-US" sz="1500" b="1" dirty="0"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4330" marR="54330" marT="35242" marB="35242" anchor="ctr"/>
                </a:tc>
                <a:tc rowSpan="2">
                  <a:txBody>
                    <a:bodyPr/>
                    <a:lstStyle/>
                    <a:p>
                      <a:pPr marL="0" indent="0" algn="ctr"/>
                      <a:r>
                        <a:rPr lang="en-US" sz="1400" b="1" dirty="0"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AREA OFFICE</a:t>
                      </a:r>
                      <a:endParaRPr lang="en-US" sz="1500" b="1" dirty="0"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4330" marR="54330" marT="35242" marB="35242"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latin typeface="Arial Black" panose="020B0A04020102020204" pitchFamily="34" charset="0"/>
                        </a:rPr>
                        <a:t>2023</a:t>
                      </a:r>
                      <a:endParaRPr lang="en-US" sz="1500" b="1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 hMerge="1">
                  <a:tcPr marL="54330" marR="54330" marT="35242" marB="35242"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latin typeface="Arial Black" panose="020B0A04020102020204" pitchFamily="34" charset="0"/>
                        </a:rPr>
                        <a:t>2024</a:t>
                      </a:r>
                      <a:endParaRPr lang="en-US" sz="1500" b="1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/>
                </a:tc>
                <a:tc hMerge="1">
                  <a:tcPr/>
                </a:tc>
                <a:tc hMerge="1">
                  <a:tcPr/>
                </a:tc>
              </a:tr>
              <a:tr h="549442">
                <a:tc vMerge="1">
                  <a:tcPr marL="99917" marR="99917" marT="64812" marB="64812"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500" b="1" dirty="0"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Annual</a:t>
                      </a:r>
                      <a:endParaRPr lang="en-US" sz="1500" b="1" baseline="0" dirty="0"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500" b="1" baseline="0" dirty="0"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Target</a:t>
                      </a:r>
                      <a:endParaRPr lang="en-US" sz="1500" b="1" dirty="0"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4330" marR="54330" marT="35242" marB="35242"/>
                </a:tc>
                <a:tc>
                  <a:txBody>
                    <a:bodyPr/>
                    <a:lstStyle/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5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Actual</a:t>
                      </a:r>
                      <a:endParaRPr lang="en-US" sz="1500" b="1" u="none" strike="noStrike" dirty="0"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5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Achieved</a:t>
                      </a:r>
                      <a:endParaRPr lang="en-US" sz="15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108" marR="5108" marT="5108" marB="0"/>
                </a:tc>
                <a:tc>
                  <a:txBody>
                    <a:bodyPr/>
                    <a:lstStyle/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5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% </a:t>
                      </a:r>
                      <a:endParaRPr lang="en-US" sz="1500" b="1" u="none" strike="noStrike" dirty="0"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5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Achieved</a:t>
                      </a:r>
                      <a:endParaRPr lang="en-US" sz="15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108" marR="5108" marT="5108" marB="0"/>
                </a:tc>
                <a:tc>
                  <a:txBody>
                    <a:bodyPr/>
                    <a:lstStyle/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5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Annual</a:t>
                      </a:r>
                      <a:endParaRPr lang="en-US" sz="1500" b="1" u="none" strike="noStrike" baseline="0" dirty="0"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5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Target</a:t>
                      </a:r>
                      <a:endParaRPr lang="en-US" sz="15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108" marR="5108" marT="5108" marB="0"/>
                </a:tc>
                <a:tc>
                  <a:txBody>
                    <a:bodyPr/>
                    <a:lstStyle/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5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Actual</a:t>
                      </a:r>
                      <a:endParaRPr lang="en-US" sz="1500" b="1" u="none" strike="noStrike" dirty="0"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5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Achieved</a:t>
                      </a:r>
                      <a:endParaRPr lang="en-US" sz="15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108" marR="5108" marT="5108" marB="0"/>
                </a:tc>
                <a:tc>
                  <a:txBody>
                    <a:bodyPr/>
                    <a:lstStyle/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5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% </a:t>
                      </a:r>
                      <a:endParaRPr lang="en-US" sz="1500" b="1" u="none" strike="noStrike" dirty="0"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5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Achieved</a:t>
                      </a:r>
                      <a:endParaRPr lang="en-US" sz="15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108" marR="5108" marT="5108" marB="0"/>
                </a:tc>
              </a:tr>
              <a:tr h="389935"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latin typeface="Arial Black" panose="020B0A04020102020204" pitchFamily="34" charset="0"/>
                        </a:rPr>
                        <a:t>1</a:t>
                      </a:r>
                      <a:endParaRPr lang="en-GB" sz="1500" dirty="0">
                        <a:latin typeface="Arial Black" panose="020B0A04020102020204" pitchFamily="34" charset="0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lvl="0" algn="ctr" fontAlgn="b">
                        <a:lnSpc>
                          <a:spcPct val="150000"/>
                        </a:lnSpc>
                      </a:pPr>
                      <a:r>
                        <a:rPr lang="en-GB" sz="1500" u="none" strike="noStrike" dirty="0">
                          <a:latin typeface="Arial Black" panose="020B0A04020102020204" pitchFamily="34" charset="0"/>
                        </a:rPr>
                        <a:t>Aba </a:t>
                      </a:r>
                      <a:endParaRPr lang="en-GB" sz="1500" b="0" i="0" u="none" strike="noStrike" dirty="0">
                        <a:solidFill>
                          <a:srgbClr val="000000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5953" marR="5953" marT="6804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37,000,000.00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42,568,370.71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5180" marR="5180" marT="517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115.05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40,000,000.00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52,085,680.88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5180" marR="5180" marT="517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130.21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  <a:tr h="389935"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latin typeface="Arial Black" panose="020B0A04020102020204" pitchFamily="34" charset="0"/>
                        </a:rPr>
                        <a:t>2</a:t>
                      </a:r>
                      <a:endParaRPr lang="en-GB" sz="1500" dirty="0">
                        <a:latin typeface="Arial Black" panose="020B0A04020102020204" pitchFamily="34" charset="0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lvl="0" algn="ctr" fontAlgn="b">
                        <a:lnSpc>
                          <a:spcPct val="150000"/>
                        </a:lnSpc>
                      </a:pPr>
                      <a:r>
                        <a:rPr lang="en-GB" sz="1500" b="0" i="0" u="none" strike="noStrike" dirty="0" err="1">
                          <a:solidFill>
                            <a:srgbClr val="000000"/>
                          </a:solidFill>
                          <a:latin typeface="Arial Black" panose="020B0A04020102020204" pitchFamily="34" charset="0"/>
                        </a:rPr>
                        <a:t>Abakaliki</a:t>
                      </a:r>
                      <a:endParaRPr lang="en-GB" sz="1500" b="0" i="0" u="none" strike="noStrike" dirty="0">
                        <a:solidFill>
                          <a:srgbClr val="000000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5953" marR="5953" marT="6804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17,512,500.00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23,626,326.63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9526" marR="9526" marT="9525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134.91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20,500,000.00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25,235,976.40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9526" marR="9526" marT="9525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123.10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  <a:tr h="389935"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latin typeface="Arial Black" panose="020B0A04020102020204" pitchFamily="34" charset="0"/>
                        </a:rPr>
                        <a:t>3</a:t>
                      </a:r>
                      <a:endParaRPr lang="en-GB" sz="1500" dirty="0">
                        <a:latin typeface="Arial Black" panose="020B0A04020102020204" pitchFamily="34" charset="0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lvl="0" algn="ctr" fontAlgn="b">
                        <a:lnSpc>
                          <a:spcPct val="150000"/>
                        </a:lnSpc>
                      </a:pPr>
                      <a:r>
                        <a:rPr lang="en-GB" sz="1500" u="none" strike="noStrike" dirty="0" err="1">
                          <a:latin typeface="Arial Black" panose="020B0A04020102020204" pitchFamily="34" charset="0"/>
                        </a:rPr>
                        <a:t>Akure</a:t>
                      </a:r>
                      <a:endParaRPr lang="en-GB" sz="1500" b="0" i="0" u="none" strike="noStrike" dirty="0">
                        <a:solidFill>
                          <a:srgbClr val="000000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5953" marR="5953" marT="6804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50,000,000.00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59,777,006.61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5180" marR="5180" marT="517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119.55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50,000,000.00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101,249,554.93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5180" marR="5180" marT="517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202.50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  <a:tr h="369238"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latin typeface="Arial Black" panose="020B0A04020102020204" pitchFamily="34" charset="0"/>
                        </a:rPr>
                        <a:t>4</a:t>
                      </a:r>
                      <a:endParaRPr lang="en-GB" sz="1500" dirty="0">
                        <a:latin typeface="Arial Black" panose="020B0A04020102020204" pitchFamily="34" charset="0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lvl="0" algn="ctr" fontAlgn="b">
                        <a:lnSpc>
                          <a:spcPct val="150000"/>
                        </a:lnSpc>
                      </a:pPr>
                      <a:r>
                        <a:rPr lang="en-GB" sz="1500" u="none" strike="noStrike" dirty="0" err="1">
                          <a:latin typeface="Arial Black" panose="020B0A04020102020204" pitchFamily="34" charset="0"/>
                        </a:rPr>
                        <a:t>Awka</a:t>
                      </a:r>
                      <a:endParaRPr lang="en-GB" sz="1500" b="0" i="0" u="none" strike="noStrike" dirty="0">
                        <a:solidFill>
                          <a:srgbClr val="000000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5953" marR="5953" marT="6804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70,000,000.00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91,256,289.01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130.37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70,000,000.00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81,066,759.65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115.81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  <a:tr h="389935"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latin typeface="Arial Black" panose="020B0A04020102020204" pitchFamily="34" charset="0"/>
                        </a:rPr>
                        <a:t>5</a:t>
                      </a:r>
                      <a:endParaRPr lang="en-GB" sz="1500" dirty="0">
                        <a:latin typeface="Arial Black" panose="020B0A04020102020204" pitchFamily="34" charset="0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lvl="0" algn="ctr" fontAlgn="b">
                        <a:lnSpc>
                          <a:spcPct val="150000"/>
                        </a:lnSpc>
                      </a:pPr>
                      <a:r>
                        <a:rPr lang="en-GB" sz="1500" u="none" strike="noStrike" dirty="0" err="1">
                          <a:latin typeface="Arial Black" panose="020B0A04020102020204" pitchFamily="34" charset="0"/>
                        </a:rPr>
                        <a:t>Bauchi</a:t>
                      </a:r>
                      <a:endParaRPr lang="en-GB" sz="1500" b="0" i="0" u="none" strike="noStrike" dirty="0">
                        <a:solidFill>
                          <a:srgbClr val="000000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5953" marR="5953" marT="6804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50,000,000.00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90,550,578.14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181.10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80,000,000.00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175,317,432.86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219.15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  <a:tr h="337917"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latin typeface="Arial Black" panose="020B0A04020102020204" pitchFamily="34" charset="0"/>
                        </a:rPr>
                        <a:t>6</a:t>
                      </a:r>
                      <a:endParaRPr lang="en-GB" sz="1500" dirty="0">
                        <a:latin typeface="Arial Black" panose="020B0A04020102020204" pitchFamily="34" charset="0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err="1">
                          <a:latin typeface="Arial Black" panose="020B0A04020102020204" pitchFamily="34" charset="0"/>
                        </a:rPr>
                        <a:t>Calabar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5953" marR="5953" marT="6804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70,000,000.00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91,689,490.61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130.98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100,000,000.00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100,251,915.79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100.25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  <a:tr h="337917"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latin typeface="Arial Black" panose="020B0A04020102020204" pitchFamily="34" charset="0"/>
                        </a:rPr>
                        <a:t>7</a:t>
                      </a:r>
                      <a:endParaRPr lang="en-GB" sz="1500" dirty="0">
                        <a:latin typeface="Arial Black" panose="020B0A04020102020204" pitchFamily="34" charset="0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Gombe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5953" marR="5953" marT="6804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70,000,000.00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90,185,539.25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128.84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80,000,000.00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194,528,901.84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243.16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  <a:tr h="389935"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latin typeface="Arial Black" panose="020B0A04020102020204" pitchFamily="34" charset="0"/>
                        </a:rPr>
                        <a:t>8</a:t>
                      </a:r>
                      <a:endParaRPr lang="en-GB" sz="1500" dirty="0">
                        <a:latin typeface="Arial Black" panose="020B0A04020102020204" pitchFamily="34" charset="0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GB" sz="1500" u="none" strike="noStrike" dirty="0" err="1">
                          <a:latin typeface="Arial Black" panose="020B0A04020102020204" pitchFamily="34" charset="0"/>
                        </a:rPr>
                        <a:t>Gusau</a:t>
                      </a:r>
                      <a:endParaRPr lang="en-GB" sz="1500" b="0" i="0" u="none" strike="noStrike" dirty="0">
                        <a:solidFill>
                          <a:srgbClr val="000000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5953" marR="5953" marT="6804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10,512,500.00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11,356,980.42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108.03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12,800,000.00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16,624,562.10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129.88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  <a:tr h="389935"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latin typeface="Arial Black" panose="020B0A04020102020204" pitchFamily="34" charset="0"/>
                        </a:rPr>
                        <a:t>9</a:t>
                      </a:r>
                      <a:endParaRPr lang="en-GB" sz="1500" dirty="0">
                        <a:latin typeface="Arial Black" panose="020B0A04020102020204" pitchFamily="34" charset="0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lvl="0" algn="ctr" fontAlgn="b">
                        <a:lnSpc>
                          <a:spcPct val="150000"/>
                        </a:lnSpc>
                      </a:pPr>
                      <a:r>
                        <a:rPr lang="en-GB" sz="1500" u="none" strike="noStrike" dirty="0">
                          <a:latin typeface="Arial Black" panose="020B0A04020102020204" pitchFamily="34" charset="0"/>
                        </a:rPr>
                        <a:t>Ilorin</a:t>
                      </a:r>
                      <a:endParaRPr lang="en-GB" sz="1500" b="0" i="0" u="none" strike="noStrike" dirty="0">
                        <a:solidFill>
                          <a:srgbClr val="000000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5953" marR="5953" marT="6804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68,000,000.00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71,982,730.93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105.86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70,000,000.00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101,731,862.25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145.33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  <a:tr h="389935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Arial Black" panose="020B0A04020102020204" pitchFamily="34" charset="0"/>
                        </a:rPr>
                        <a:t>10</a:t>
                      </a:r>
                      <a:endParaRPr lang="en-GB" sz="1400" dirty="0">
                        <a:latin typeface="Arial Black" panose="020B0A04020102020204" pitchFamily="34" charset="0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 Black" panose="020B0A04020102020204" pitchFamily="34" charset="0"/>
                        </a:rPr>
                        <a:t>Ikorodu</a:t>
                      </a:r>
                      <a:endParaRPr lang="en-US" sz="1400" dirty="0">
                        <a:latin typeface="Arial Black" panose="020B0A04020102020204" pitchFamily="34" charset="0"/>
                      </a:endParaRPr>
                    </a:p>
                  </a:txBody>
                  <a:tcPr marL="5953" marR="5953" marT="6804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200,000,000.00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221,242,653.06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110.62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250,000,000.00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240,614,719.50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96.25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  <a:tr h="389935"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latin typeface="Arial Black" panose="020B0A04020102020204" pitchFamily="34" charset="0"/>
                        </a:rPr>
                        <a:t>11</a:t>
                      </a:r>
                      <a:endParaRPr lang="en-GB" sz="1500" dirty="0">
                        <a:latin typeface="Arial Black" panose="020B0A04020102020204" pitchFamily="34" charset="0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lvl="0" algn="ctr" fontAlgn="b">
                        <a:lnSpc>
                          <a:spcPct val="150000"/>
                        </a:lnSpc>
                      </a:pPr>
                      <a:r>
                        <a:rPr lang="en-GB" sz="1500" u="none" strike="noStrike" dirty="0">
                          <a:latin typeface="Arial Black" panose="020B0A04020102020204" pitchFamily="34" charset="0"/>
                        </a:rPr>
                        <a:t>Jos</a:t>
                      </a:r>
                      <a:endParaRPr lang="en-GB" sz="1500" b="0" i="0" u="none" strike="noStrike" dirty="0">
                        <a:solidFill>
                          <a:srgbClr val="000000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5953" marR="5953" marT="6804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150,000,000.00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182,726,626.51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121.82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160,000,000.00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177,910,863.74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111.19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  <a:tr h="509562"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latin typeface="Arial Black" panose="020B0A04020102020204" pitchFamily="34" charset="0"/>
                        </a:rPr>
                        <a:t>12</a:t>
                      </a:r>
                      <a:endParaRPr lang="en-GB" sz="1500" dirty="0">
                        <a:latin typeface="Arial Black" panose="020B0A04020102020204" pitchFamily="34" charset="0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GB" sz="1500" u="none" strike="noStrike" dirty="0" err="1">
                          <a:latin typeface="Arial Black" panose="020B0A04020102020204" pitchFamily="34" charset="0"/>
                        </a:rPr>
                        <a:t>Katsina</a:t>
                      </a:r>
                      <a:endParaRPr lang="en-GB" sz="1500" b="0" i="0" u="none" strike="noStrike" dirty="0">
                        <a:solidFill>
                          <a:srgbClr val="000000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5953" marR="5953" marT="6804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27,000,000.00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32,604,561.55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120.76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30,000,000.00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36,622,660.51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122.08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</a:tbl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22AFA-50A3-4156-984F-61758D2C4411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228599" y="217205"/>
          <a:ext cx="11766178" cy="6164885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537664"/>
                <a:gridCol w="1110623"/>
                <a:gridCol w="1940722"/>
                <a:gridCol w="1954016"/>
                <a:gridCol w="1103287"/>
                <a:gridCol w="2026897"/>
                <a:gridCol w="1967509"/>
                <a:gridCol w="1125460"/>
              </a:tblGrid>
              <a:tr h="765653">
                <a:tc gridSpan="8">
                  <a:txBody>
                    <a:bodyPr/>
                    <a:lstStyle/>
                    <a:p>
                      <a:pPr marL="3657600" marR="0" indent="225425" algn="l" defTabSz="13163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GB" sz="2000" u="none" strike="noStrike" baseline="0" dirty="0">
                          <a:solidFill>
                            <a:srgbClr val="FF0000"/>
                          </a:solidFill>
                          <a:latin typeface="Arial Black" panose="020B0A04020102020204" pitchFamily="34" charset="0"/>
                        </a:rPr>
                        <a:t>TRAINING CONTRIBUTION…</a:t>
                      </a:r>
                      <a:endParaRPr lang="en-GB" sz="2000" u="none" strike="noStrike" baseline="0" dirty="0">
                        <a:solidFill>
                          <a:srgbClr val="FF0000"/>
                        </a:solidFill>
                        <a:latin typeface="Arial Black" panose="020B0A04020102020204" pitchFamily="34" charset="0"/>
                      </a:endParaRPr>
                    </a:p>
                    <a:p>
                      <a:pPr marL="4403725" marR="0" indent="517525" algn="l" defTabSz="13163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GB" sz="1800" u="none" strike="noStrike" baseline="0" dirty="0">
                          <a:latin typeface="Arial Black" panose="020B0A04020102020204" pitchFamily="34" charset="0"/>
                        </a:rPr>
                        <a:t>CATEGORY C</a:t>
                      </a:r>
                      <a:endParaRPr lang="en-US" sz="18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/>
                </a:tc>
                <a:tc hMerge="1">
                  <a:tcPr/>
                </a:tc>
                <a:tc hMerge="1">
                  <a:tcPr marL="99917" marR="99917" marT="64812" marB="64812"/>
                </a:tc>
                <a:tc hMerge="1">
                  <a:tcPr/>
                </a:tc>
                <a:tc hMerge="1">
                  <a:tcPr/>
                </a:tc>
                <a:tc hMerge="1">
                  <a:tcPr marL="99917" marR="99917" marT="64812" marB="64812"/>
                </a:tc>
                <a:tc hMerge="1">
                  <a:tcPr/>
                </a:tc>
                <a:tc hMerge="1">
                  <a:tcPr/>
                </a:tc>
              </a:tr>
              <a:tr h="356103">
                <a:tc rowSpan="2">
                  <a:txBody>
                    <a:bodyPr/>
                    <a:lstStyle/>
                    <a:p>
                      <a:pPr marL="0" indent="0" algn="ctr"/>
                      <a:r>
                        <a:rPr lang="en-US" sz="1700" b="1" dirty="0"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S/N</a:t>
                      </a:r>
                      <a:endParaRPr lang="en-US" sz="1700" b="1" dirty="0"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4330" marR="54330" marT="35242" marB="35242" anchor="ctr"/>
                </a:tc>
                <a:tc rowSpan="2">
                  <a:txBody>
                    <a:bodyPr/>
                    <a:lstStyle/>
                    <a:p>
                      <a:pPr marL="0" indent="0" algn="ctr"/>
                      <a:r>
                        <a:rPr lang="en-US" sz="1400" b="1" dirty="0"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AREA OFFICE</a:t>
                      </a:r>
                      <a:endParaRPr lang="en-US" sz="1300" b="1" dirty="0"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700" b="1" dirty="0"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4330" marR="54330" marT="35242" marB="35242"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700" b="1" dirty="0">
                          <a:latin typeface="Arial Black" panose="020B0A04020102020204" pitchFamily="34" charset="0"/>
                        </a:rPr>
                        <a:t>2023</a:t>
                      </a:r>
                      <a:endParaRPr lang="en-US" sz="1700" b="1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700" b="1" dirty="0">
                          <a:latin typeface="Arial Black" panose="020B0A04020102020204" pitchFamily="34" charset="0"/>
                        </a:rPr>
                        <a:t>2024</a:t>
                      </a:r>
                      <a:endParaRPr lang="en-US" sz="1700" b="1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/>
                </a:tc>
                <a:tc hMerge="1">
                  <a:tcPr/>
                </a:tc>
                <a:tc hMerge="1">
                  <a:tcPr/>
                </a:tc>
              </a:tr>
              <a:tr h="562903">
                <a:tc vMerge="1">
                  <a:tcPr marL="99917" marR="99917" marT="64812" marB="64812"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700" b="1" dirty="0"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Annual</a:t>
                      </a:r>
                      <a:endParaRPr lang="en-US" sz="1700" b="1" baseline="0" dirty="0"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700" b="1" baseline="0" dirty="0"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Target</a:t>
                      </a:r>
                      <a:endParaRPr lang="en-US" sz="1700" b="1" dirty="0"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4330" marR="54330" marT="35242" marB="35242" anchor="b"/>
                </a:tc>
                <a:tc>
                  <a:txBody>
                    <a:bodyPr/>
                    <a:lstStyle/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7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Actual</a:t>
                      </a:r>
                      <a:endParaRPr lang="en-US" sz="1700" b="1" u="none" strike="noStrike" dirty="0"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7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Achieved</a:t>
                      </a:r>
                      <a:endParaRPr lang="en-US" sz="17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108" marR="5108" marT="5108" marB="0" anchor="b"/>
                </a:tc>
                <a:tc>
                  <a:txBody>
                    <a:bodyPr/>
                    <a:lstStyle/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7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% </a:t>
                      </a:r>
                      <a:endParaRPr lang="en-US" sz="1700" b="1" u="none" strike="noStrike" dirty="0"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7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Achieved</a:t>
                      </a:r>
                      <a:endParaRPr lang="en-US" sz="17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108" marR="5108" marT="5108" marB="0"/>
                </a:tc>
                <a:tc>
                  <a:txBody>
                    <a:bodyPr/>
                    <a:lstStyle/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7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Annual</a:t>
                      </a:r>
                      <a:endParaRPr lang="en-US" sz="1700" b="1" u="none" strike="noStrike" baseline="0" dirty="0"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7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Target</a:t>
                      </a:r>
                      <a:endParaRPr lang="en-US" sz="17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108" marR="5108" marT="5108" marB="0" anchor="b"/>
                </a:tc>
                <a:tc>
                  <a:txBody>
                    <a:bodyPr/>
                    <a:lstStyle/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7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Actual</a:t>
                      </a:r>
                      <a:endParaRPr lang="en-US" sz="1700" b="1" u="none" strike="noStrike" dirty="0"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7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Achieved</a:t>
                      </a:r>
                      <a:endParaRPr lang="en-US" sz="17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108" marR="5108" marT="5108" marB="0" anchor="b"/>
                </a:tc>
                <a:tc>
                  <a:txBody>
                    <a:bodyPr/>
                    <a:lstStyle/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7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% </a:t>
                      </a:r>
                      <a:endParaRPr lang="en-US" sz="1700" b="1" u="none" strike="noStrike" dirty="0"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7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Achieved</a:t>
                      </a:r>
                      <a:endParaRPr lang="en-US" sz="17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108" marR="5108" marT="5108" marB="0"/>
                </a:tc>
              </a:tr>
              <a:tr h="360676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13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Lokoja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200,000,000.00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272,895,653.62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136.45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250,000,000.00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385,297,966.14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154.12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  <a:tr h="432583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14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GB" sz="1600" u="none" strike="noStrike" dirty="0">
                          <a:latin typeface="Arial Black" panose="020B0A04020102020204" pitchFamily="34" charset="0"/>
                        </a:rPr>
                        <a:t>Maiduguri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5953" marR="5953" marT="6804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30,000,000.00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31,117,169.50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180" marR="5180" marT="517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103.72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30,000,000.00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43,363,244.71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180" marR="5180" marT="517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144.54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  <a:tr h="432583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15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GB" sz="1600" u="none" strike="noStrike" dirty="0">
                          <a:latin typeface="Arial Black" panose="020B0A04020102020204" pitchFamily="34" charset="0"/>
                        </a:rPr>
                        <a:t>Makurdi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5953" marR="5953" marT="6804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50,000,000.00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77,200,365.40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180" marR="5180" marT="517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154.40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60,000,000.00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106,210,535.88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180" marR="5180" marT="517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177.02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  <a:tr h="432583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16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GB" sz="1600" u="none" strike="noStrike" dirty="0">
                          <a:latin typeface="Arial Black" panose="020B0A04020102020204" pitchFamily="34" charset="0"/>
                        </a:rPr>
                        <a:t>Minna 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5953" marR="5953" marT="6804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80,000,000.00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83,660,697.55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104.58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70,000,000.00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102,000,629.84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145.72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  <a:tr h="53286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17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lvl="0" algn="ctr" fontAlgn="b">
                        <a:lnSpc>
                          <a:spcPct val="150000"/>
                        </a:lnSpc>
                      </a:pPr>
                      <a:r>
                        <a:rPr lang="en-GB" sz="1600" u="none" strike="noStrike" dirty="0">
                          <a:latin typeface="Arial Black" panose="020B0A04020102020204" pitchFamily="34" charset="0"/>
                        </a:rPr>
                        <a:t>Owerri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5953" marR="5953" marT="6804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42,000,000.00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71,204,827.90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169.54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50,000,000.00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118,735,488.34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237.47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  <a:tr h="432583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18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lvl="0" algn="ctr" fontAlgn="b">
                        <a:lnSpc>
                          <a:spcPct val="150000"/>
                        </a:lnSpc>
                      </a:pPr>
                      <a:r>
                        <a:rPr lang="en-GB" sz="1600" u="none" strike="noStrike" dirty="0">
                          <a:latin typeface="Arial Black" panose="020B0A04020102020204" pitchFamily="34" charset="0"/>
                        </a:rPr>
                        <a:t>Sokoto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5953" marR="5953" marT="6804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55,000,000.00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85,745,638.86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155.90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75,000,000.00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118,548,189.24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158.06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  <a:tr h="432583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19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GB" sz="1600" u="none" strike="noStrike" dirty="0">
                          <a:latin typeface="Arial Black" panose="020B0A04020102020204" pitchFamily="34" charset="0"/>
                        </a:rPr>
                        <a:t>Uyo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5953" marR="5953" marT="6804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85,000,000.00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210,174,814.30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247.26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120,000,000.00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96,028,295.76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Arial Black" panose="020B0A04020102020204" pitchFamily="34" charset="0"/>
                        </a:rPr>
                        <a:t>80.02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  <a:tr h="432583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20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GB" sz="1600" u="none" strike="noStrike" dirty="0">
                          <a:latin typeface="Arial Black" panose="020B0A04020102020204" pitchFamily="34" charset="0"/>
                        </a:rPr>
                        <a:t>Yenagoa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5953" marR="5953" marT="6804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30,000,000.00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89,588,348.09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298.63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60,000,000.00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44,521,687.15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74.20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  <a:tr h="432583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21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GB" sz="1600" u="none" strike="noStrike" dirty="0">
                          <a:latin typeface="Arial Black" panose="020B0A04020102020204" pitchFamily="34" charset="0"/>
                        </a:rPr>
                        <a:t>Yola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5953" marR="5953" marT="6804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110,000,000.00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148,486,162.92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134.99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120,000,000.00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159,565,014.46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132.97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  <a:tr h="532864"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Arial Black" panose="020B0A04020102020204" pitchFamily="34" charset="0"/>
                        </a:rPr>
                        <a:t>TOTAL</a:t>
                      </a:r>
                      <a:endParaRPr lang="en-US" sz="1600" b="1" dirty="0">
                        <a:latin typeface="Arial Black" panose="020B0A04020102020204" pitchFamily="34" charset="0"/>
                      </a:endParaRPr>
                    </a:p>
                  </a:txBody>
                  <a:tcPr marL="91439" marR="91439" anchor="b"/>
                </a:tc>
                <a:tc hMerge="1">
                  <a:tcPr marL="5953" marR="5953" marT="6804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</a:rPr>
                        <a:t>1,502,025,000.00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</a:rPr>
                        <a:t>2,079,640,831.57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</a:rPr>
                        <a:t>3,013.96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</a:rPr>
                        <a:t>1,798,300,000.00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</a:rPr>
                        <a:t>2,477,511,941.97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</a:rPr>
                        <a:t>2,963.01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22AFA-50A3-4156-984F-61758D2C4411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193358" y="209351"/>
          <a:ext cx="11774523" cy="6226099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598703"/>
                <a:gridCol w="1362054"/>
                <a:gridCol w="1960758"/>
                <a:gridCol w="1721276"/>
                <a:gridCol w="1174689"/>
                <a:gridCol w="1834236"/>
                <a:gridCol w="1840582"/>
                <a:gridCol w="1282225"/>
              </a:tblGrid>
              <a:tr h="780000">
                <a:tc gridSpan="8">
                  <a:txBody>
                    <a:bodyPr/>
                    <a:lstStyle/>
                    <a:p>
                      <a:pPr marL="3657600" marR="0" indent="657225" algn="l" defTabSz="13163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GB" sz="2000" u="none" strike="noStrike" baseline="0" dirty="0">
                          <a:solidFill>
                            <a:srgbClr val="FF0000"/>
                          </a:solidFill>
                          <a:latin typeface="Arial Black" panose="020B0A04020102020204" pitchFamily="34" charset="0"/>
                        </a:rPr>
                        <a:t>COURSE FEE</a:t>
                      </a:r>
                      <a:endParaRPr lang="en-GB" sz="2000" u="none" strike="noStrike" baseline="0" dirty="0">
                        <a:solidFill>
                          <a:srgbClr val="FF0000"/>
                        </a:solidFill>
                        <a:latin typeface="Arial Black" panose="020B0A04020102020204" pitchFamily="34" charset="0"/>
                      </a:endParaRPr>
                    </a:p>
                    <a:p>
                      <a:pPr marL="4060825" marR="0" indent="279400" algn="l" defTabSz="13163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GB" sz="1800" u="none" strike="noStrike" baseline="0" dirty="0">
                          <a:latin typeface="Arial Black" panose="020B0A04020102020204" pitchFamily="34" charset="0"/>
                        </a:rPr>
                        <a:t>CATEGORY C</a:t>
                      </a:r>
                      <a:endParaRPr lang="en-US" sz="18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/>
                </a:tc>
                <a:tc hMerge="1">
                  <a:tcPr/>
                </a:tc>
                <a:tc hMerge="1">
                  <a:tcPr marL="99917" marR="99917" marT="64812" marB="64812"/>
                </a:tc>
                <a:tc hMerge="1">
                  <a:tcPr/>
                </a:tc>
                <a:tc hMerge="1">
                  <a:tcPr/>
                </a:tc>
                <a:tc hMerge="1">
                  <a:tcPr marL="99917" marR="99917" marT="64812" marB="64812"/>
                </a:tc>
                <a:tc hMerge="1">
                  <a:tcPr/>
                </a:tc>
                <a:tc hMerge="1">
                  <a:tcPr/>
                </a:tc>
              </a:tr>
              <a:tr h="327106">
                <a:tc rowSpan="2">
                  <a:txBody>
                    <a:bodyPr/>
                    <a:lstStyle/>
                    <a:p>
                      <a:pPr marL="0" indent="0" algn="ctr"/>
                      <a:r>
                        <a:rPr lang="en-US" sz="1500" b="1" dirty="0"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S/N</a:t>
                      </a:r>
                      <a:endParaRPr lang="en-US" sz="1500" b="1" dirty="0"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4330" marR="54330" marT="35242" marB="35242" anchor="ctr"/>
                </a:tc>
                <a:tc rowSpan="2">
                  <a:txBody>
                    <a:bodyPr/>
                    <a:lstStyle/>
                    <a:p>
                      <a:pPr marL="0" indent="0" algn="ctr"/>
                      <a:r>
                        <a:rPr lang="en-US" sz="1400" b="1" dirty="0"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AREA OFFICE</a:t>
                      </a:r>
                      <a:endParaRPr lang="en-US" sz="1500" b="1" dirty="0"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4330" marR="54330" marT="35242" marB="35242"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latin typeface="Arial Black" panose="020B0A04020102020204" pitchFamily="34" charset="0"/>
                        </a:rPr>
                        <a:t>2023</a:t>
                      </a:r>
                      <a:endParaRPr lang="en-US" sz="1500" b="1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 hMerge="1">
                  <a:tcPr marL="54330" marR="54330" marT="35242" marB="35242"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latin typeface="Arial Black" panose="020B0A04020102020204" pitchFamily="34" charset="0"/>
                        </a:rPr>
                        <a:t>2024</a:t>
                      </a:r>
                      <a:endParaRPr lang="en-US" sz="1500" b="1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/>
                </a:tc>
                <a:tc hMerge="1">
                  <a:tcPr/>
                </a:tc>
                <a:tc hMerge="1">
                  <a:tcPr/>
                </a:tc>
              </a:tr>
              <a:tr h="519366">
                <a:tc vMerge="1">
                  <a:tcPr marL="99917" marR="99917" marT="64812" marB="64812"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500" b="1" dirty="0"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Annual</a:t>
                      </a:r>
                      <a:endParaRPr lang="en-US" sz="1500" b="1" baseline="0" dirty="0"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500" b="1" baseline="0" dirty="0"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Target</a:t>
                      </a:r>
                      <a:endParaRPr lang="en-US" sz="1500" b="1" dirty="0"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4330" marR="54330" marT="35242" marB="35242"/>
                </a:tc>
                <a:tc>
                  <a:txBody>
                    <a:bodyPr/>
                    <a:lstStyle/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5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Actual</a:t>
                      </a:r>
                      <a:endParaRPr lang="en-US" sz="1500" b="1" u="none" strike="noStrike" dirty="0"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5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Achieved</a:t>
                      </a:r>
                      <a:endParaRPr lang="en-US" sz="15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108" marR="5108" marT="5108" marB="0"/>
                </a:tc>
                <a:tc>
                  <a:txBody>
                    <a:bodyPr/>
                    <a:lstStyle/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5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% </a:t>
                      </a:r>
                      <a:endParaRPr lang="en-US" sz="1500" b="1" u="none" strike="noStrike" dirty="0"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5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Achieved</a:t>
                      </a:r>
                      <a:endParaRPr lang="en-US" sz="15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108" marR="5108" marT="5108" marB="0"/>
                </a:tc>
                <a:tc>
                  <a:txBody>
                    <a:bodyPr/>
                    <a:lstStyle/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5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Annual</a:t>
                      </a:r>
                      <a:endParaRPr lang="en-US" sz="1500" b="1" u="none" strike="noStrike" baseline="0" dirty="0"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5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Target</a:t>
                      </a:r>
                      <a:endParaRPr lang="en-US" sz="15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108" marR="5108" marT="5108" marB="0"/>
                </a:tc>
                <a:tc>
                  <a:txBody>
                    <a:bodyPr/>
                    <a:lstStyle/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5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Actual</a:t>
                      </a:r>
                      <a:endParaRPr lang="en-US" sz="1500" b="1" u="none" strike="noStrike" dirty="0"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5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Achieved</a:t>
                      </a:r>
                      <a:endParaRPr lang="en-US" sz="15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108" marR="5108" marT="5108" marB="0"/>
                </a:tc>
                <a:tc>
                  <a:txBody>
                    <a:bodyPr/>
                    <a:lstStyle/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5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% </a:t>
                      </a:r>
                      <a:endParaRPr lang="en-US" sz="1500" b="1" u="none" strike="noStrike" dirty="0"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5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Achieved</a:t>
                      </a:r>
                      <a:endParaRPr lang="en-US" sz="15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108" marR="5108" marT="5108" marB="0"/>
                </a:tc>
              </a:tr>
              <a:tr h="400141"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latin typeface="Arial Black" panose="020B0A04020102020204" pitchFamily="34" charset="0"/>
                        </a:rPr>
                        <a:t>1</a:t>
                      </a:r>
                      <a:endParaRPr lang="en-GB" sz="1500" dirty="0">
                        <a:latin typeface="Arial Black" panose="020B0A04020102020204" pitchFamily="34" charset="0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lvl="0" algn="ctr" fontAlgn="b">
                        <a:lnSpc>
                          <a:spcPct val="150000"/>
                        </a:lnSpc>
                      </a:pPr>
                      <a:r>
                        <a:rPr lang="en-GB" sz="1500" b="1" u="none" strike="noStrike" dirty="0">
                          <a:latin typeface="Arial Black" panose="020B0A04020102020204" pitchFamily="34" charset="0"/>
                        </a:rPr>
                        <a:t>Aba </a:t>
                      </a:r>
                      <a:endParaRPr lang="en-GB" sz="1500" b="1" i="0" u="none" strike="noStrike" dirty="0">
                        <a:solidFill>
                          <a:srgbClr val="000000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5953" marR="5953" marT="6804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12,500,</a:t>
                      </a:r>
                      <a:r>
                        <a:rPr lang="en-US" sz="1600" baseline="0" dirty="0">
                          <a:latin typeface="Arial Black" panose="020B0A04020102020204" pitchFamily="34" charset="0"/>
                        </a:rPr>
                        <a:t>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9,520,000.00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180" marR="5180" marT="517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76.16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22,500,000.00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10,575,000.00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180" marR="5180" marT="517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47.00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  <a:tr h="400141"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latin typeface="Arial Black" panose="020B0A04020102020204" pitchFamily="34" charset="0"/>
                        </a:rPr>
                        <a:t>2</a:t>
                      </a:r>
                      <a:endParaRPr lang="en-GB" sz="1500" dirty="0">
                        <a:latin typeface="Arial Black" panose="020B0A04020102020204" pitchFamily="34" charset="0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lvl="0" algn="ctr" fontAlgn="b">
                        <a:lnSpc>
                          <a:spcPct val="150000"/>
                        </a:lnSpc>
                      </a:pPr>
                      <a:r>
                        <a:rPr lang="en-GB" sz="1500" b="1" i="0" u="none" strike="noStrike" dirty="0" err="1">
                          <a:solidFill>
                            <a:srgbClr val="000000"/>
                          </a:solidFill>
                          <a:latin typeface="Arial Black" panose="020B0A04020102020204" pitchFamily="34" charset="0"/>
                        </a:rPr>
                        <a:t>Abakaliki</a:t>
                      </a:r>
                      <a:endParaRPr lang="en-GB" sz="1500" b="1" i="0" u="none" strike="noStrike" dirty="0">
                        <a:solidFill>
                          <a:srgbClr val="000000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5953" marR="5953" marT="6804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12,500,000.00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4,530,000.00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180" marR="5180" marT="517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36.24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22,500,000.00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3,680,009.00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180" marR="5180" marT="517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16.36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  <a:tr h="400141"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latin typeface="Arial Black" panose="020B0A04020102020204" pitchFamily="34" charset="0"/>
                        </a:rPr>
                        <a:t>3</a:t>
                      </a:r>
                      <a:endParaRPr lang="en-GB" sz="1500" dirty="0">
                        <a:latin typeface="Arial Black" panose="020B0A04020102020204" pitchFamily="34" charset="0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lvl="0" algn="ctr" fontAlgn="b">
                        <a:lnSpc>
                          <a:spcPct val="150000"/>
                        </a:lnSpc>
                      </a:pPr>
                      <a:r>
                        <a:rPr lang="en-GB" sz="1500" b="1" u="none" strike="noStrike" dirty="0">
                          <a:latin typeface="Arial Black" panose="020B0A04020102020204" pitchFamily="34" charset="0"/>
                        </a:rPr>
                        <a:t>Akure</a:t>
                      </a:r>
                      <a:endParaRPr lang="en-GB" sz="1500" b="1" i="0" u="none" strike="noStrike" dirty="0">
                        <a:solidFill>
                          <a:srgbClr val="000000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5953" marR="5953" marT="6804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12,500,000.00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11,930,000.00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180" marR="5180" marT="517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95.44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22,500,000.00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13,635,000.00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180" marR="5180" marT="517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60.60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  <a:tr h="400141"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latin typeface="Arial Black" panose="020B0A04020102020204" pitchFamily="34" charset="0"/>
                        </a:rPr>
                        <a:t>4</a:t>
                      </a:r>
                      <a:endParaRPr lang="en-GB" sz="1500" dirty="0">
                        <a:latin typeface="Arial Black" panose="020B0A04020102020204" pitchFamily="34" charset="0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lvl="0" algn="ctr" fontAlgn="b">
                        <a:lnSpc>
                          <a:spcPct val="150000"/>
                        </a:lnSpc>
                      </a:pPr>
                      <a:r>
                        <a:rPr lang="en-GB" sz="1500" b="1" u="none" strike="noStrike" dirty="0" err="1">
                          <a:latin typeface="Arial Black" panose="020B0A04020102020204" pitchFamily="34" charset="0"/>
                        </a:rPr>
                        <a:t>Awka</a:t>
                      </a:r>
                      <a:endParaRPr lang="en-GB" sz="1500" b="1" i="0" u="none" strike="noStrike" dirty="0">
                        <a:solidFill>
                          <a:srgbClr val="000000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5953" marR="5953" marT="6804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12,500,000.00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6,065,000.00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48.52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22,500,000.00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4,060,000.00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18.04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  <a:tr h="400141"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latin typeface="Arial Black" panose="020B0A04020102020204" pitchFamily="34" charset="0"/>
                        </a:rPr>
                        <a:t>5</a:t>
                      </a:r>
                      <a:endParaRPr lang="en-GB" sz="1500" dirty="0">
                        <a:latin typeface="Arial Black" panose="020B0A04020102020204" pitchFamily="34" charset="0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lvl="0" algn="ctr" fontAlgn="b">
                        <a:lnSpc>
                          <a:spcPct val="150000"/>
                        </a:lnSpc>
                      </a:pPr>
                      <a:r>
                        <a:rPr lang="en-GB" sz="1500" b="1" u="none" strike="noStrike" dirty="0" err="1">
                          <a:latin typeface="Arial Black" panose="020B0A04020102020204" pitchFamily="34" charset="0"/>
                        </a:rPr>
                        <a:t>Bauchi</a:t>
                      </a:r>
                      <a:endParaRPr lang="en-GB" sz="1500" b="1" i="0" u="none" strike="noStrike" dirty="0">
                        <a:solidFill>
                          <a:srgbClr val="000000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5953" marR="5953" marT="6804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12,500,000.00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3,945,000.00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31.56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22,500,000.00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8,220,000.00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36.53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  <a:tr h="371101"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latin typeface="Arial Black" panose="020B0A04020102020204" pitchFamily="34" charset="0"/>
                        </a:rPr>
                        <a:t>6</a:t>
                      </a:r>
                      <a:endParaRPr lang="en-GB" sz="1500" dirty="0">
                        <a:latin typeface="Arial Black" panose="020B0A04020102020204" pitchFamily="34" charset="0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 err="1">
                          <a:latin typeface="Arial Black" panose="020B0A04020102020204" pitchFamily="34" charset="0"/>
                        </a:rPr>
                        <a:t>Calabar</a:t>
                      </a:r>
                      <a:endParaRPr lang="en-US" sz="1500" b="1" dirty="0">
                        <a:latin typeface="Arial Black" panose="020B0A04020102020204" pitchFamily="34" charset="0"/>
                      </a:endParaRPr>
                    </a:p>
                  </a:txBody>
                  <a:tcPr marL="5953" marR="5953" marT="6804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22,500,000.00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3,677,875.00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16.35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32,500,000.00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4,720,000.00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14.52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  <a:tr h="371101"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latin typeface="Arial Black" panose="020B0A04020102020204" pitchFamily="34" charset="0"/>
                        </a:rPr>
                        <a:t>7</a:t>
                      </a:r>
                      <a:endParaRPr lang="en-GB" sz="1500" dirty="0">
                        <a:latin typeface="Arial Black" panose="020B0A04020102020204" pitchFamily="34" charset="0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GB" sz="1500" b="1" u="none" strike="noStrike" dirty="0">
                          <a:latin typeface="Arial Black" panose="020B0A04020102020204" pitchFamily="34" charset="0"/>
                        </a:rPr>
                        <a:t>Gombe</a:t>
                      </a:r>
                      <a:endParaRPr lang="en-GB" sz="1500" b="1" i="0" u="none" strike="noStrike" dirty="0">
                        <a:solidFill>
                          <a:srgbClr val="000000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5953" marR="5953" marT="6804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12,500,000.00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7,870,500.00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62.96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22,500,000.00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6,690,000.00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Arial Black" panose="020B0A04020102020204" pitchFamily="34" charset="0"/>
                        </a:rPr>
                        <a:t>29.73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  <a:tr h="400141"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latin typeface="Arial Black" panose="020B0A04020102020204" pitchFamily="34" charset="0"/>
                        </a:rPr>
                        <a:t>8</a:t>
                      </a:r>
                      <a:endParaRPr lang="en-GB" sz="1500" dirty="0">
                        <a:latin typeface="Arial Black" panose="020B0A04020102020204" pitchFamily="34" charset="0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GB" sz="1500" b="1" u="none" strike="noStrike" dirty="0">
                          <a:latin typeface="Arial Black" panose="020B0A04020102020204" pitchFamily="34" charset="0"/>
                        </a:rPr>
                        <a:t>Gusau</a:t>
                      </a:r>
                      <a:endParaRPr lang="en-GB" sz="1500" b="1" i="0" u="none" strike="noStrike" dirty="0">
                        <a:solidFill>
                          <a:srgbClr val="000000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5953" marR="5953" marT="6804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10,000,000.00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3,540,000.00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35.40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20,000,000.00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3,820,000.00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19.10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  <a:tr h="358154"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latin typeface="Arial Black" panose="020B0A04020102020204" pitchFamily="34" charset="0"/>
                        </a:rPr>
                        <a:t>9</a:t>
                      </a:r>
                      <a:endParaRPr lang="en-GB" sz="1500" dirty="0">
                        <a:latin typeface="Arial Black" panose="020B0A04020102020204" pitchFamily="34" charset="0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lvl="0" algn="ctr" fontAlgn="b">
                        <a:lnSpc>
                          <a:spcPct val="150000"/>
                        </a:lnSpc>
                      </a:pPr>
                      <a:r>
                        <a:rPr lang="en-GB" sz="1500" b="1" u="none" strike="noStrike" dirty="0">
                          <a:latin typeface="Arial Black" panose="020B0A04020102020204" pitchFamily="34" charset="0"/>
                        </a:rPr>
                        <a:t>Ilorin</a:t>
                      </a:r>
                      <a:endParaRPr lang="en-GB" sz="1500" b="1" i="0" u="none" strike="noStrike" dirty="0">
                        <a:solidFill>
                          <a:srgbClr val="000000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5953" marR="5953" marT="6804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20,000,000.00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14,270,000.00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71.35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32,500,000.00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13,486,250.00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41.50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  <a:tr h="347905"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latin typeface="Arial Black" panose="020B0A04020102020204" pitchFamily="34" charset="0"/>
                        </a:rPr>
                        <a:t>10</a:t>
                      </a:r>
                      <a:endParaRPr lang="en-GB" sz="1500" dirty="0">
                        <a:latin typeface="Arial Black" panose="020B0A04020102020204" pitchFamily="34" charset="0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latin typeface="Arial Black" panose="020B0A04020102020204" pitchFamily="34" charset="0"/>
                        </a:rPr>
                        <a:t>Ikorodu</a:t>
                      </a:r>
                      <a:endParaRPr lang="en-GB" sz="1500" dirty="0">
                        <a:latin typeface="Arial Black" panose="020B0A04020102020204" pitchFamily="34" charset="0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22,500,000.00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5,284,150.03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23.49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30,000,000.00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8,629,141.14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28.76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  <a:tr h="371101"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latin typeface="Arial Black" panose="020B0A04020102020204" pitchFamily="34" charset="0"/>
                        </a:rPr>
                        <a:t>11</a:t>
                      </a:r>
                      <a:endParaRPr lang="en-GB" sz="1500" dirty="0">
                        <a:latin typeface="Arial Black" panose="020B0A04020102020204" pitchFamily="34" charset="0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lvl="0" algn="ctr" fontAlgn="b">
                        <a:lnSpc>
                          <a:spcPct val="150000"/>
                        </a:lnSpc>
                      </a:pPr>
                      <a:r>
                        <a:rPr lang="en-GB" sz="1500" b="1" u="none" strike="noStrike" dirty="0">
                          <a:latin typeface="Arial Black" panose="020B0A04020102020204" pitchFamily="34" charset="0"/>
                        </a:rPr>
                        <a:t>Jos</a:t>
                      </a:r>
                      <a:endParaRPr lang="en-GB" sz="1500" b="1" i="0" u="none" strike="noStrike" dirty="0">
                        <a:solidFill>
                          <a:srgbClr val="000000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5953" marR="5953" marT="6804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12,500,000.00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12,370,000.00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98.96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22,500,000.00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23,495,000.00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104.42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  <a:tr h="371101"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latin typeface="Arial Black" panose="020B0A04020102020204" pitchFamily="34" charset="0"/>
                        </a:rPr>
                        <a:t>12</a:t>
                      </a:r>
                      <a:endParaRPr lang="en-GB" sz="1500" dirty="0">
                        <a:latin typeface="Arial Black" panose="020B0A04020102020204" pitchFamily="34" charset="0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GB" sz="1500" b="1" u="none" strike="noStrike" dirty="0" err="1">
                          <a:latin typeface="Arial Black" panose="020B0A04020102020204" pitchFamily="34" charset="0"/>
                        </a:rPr>
                        <a:t>Katsina</a:t>
                      </a:r>
                      <a:endParaRPr lang="en-GB" sz="1500" b="1" i="0" u="none" strike="noStrike" dirty="0">
                        <a:solidFill>
                          <a:srgbClr val="000000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5953" marR="5953" marT="6804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17,500,000.00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5,370,000.00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30.69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27,500,000.00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9,080,000.00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33.02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</a:tbl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22AFA-50A3-4156-984F-61758D2C4411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148381" y="174812"/>
          <a:ext cx="11806054" cy="620185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510261"/>
                <a:gridCol w="1277734"/>
                <a:gridCol w="1936377"/>
                <a:gridCol w="1842247"/>
                <a:gridCol w="1269119"/>
                <a:gridCol w="1973778"/>
                <a:gridCol w="1831734"/>
                <a:gridCol w="1164804"/>
              </a:tblGrid>
              <a:tr h="787004">
                <a:tc gridSpan="8">
                  <a:txBody>
                    <a:bodyPr/>
                    <a:lstStyle/>
                    <a:p>
                      <a:pPr marL="3657600" marR="0" indent="509905" algn="l" defTabSz="13163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GB" sz="2000" u="none" strike="noStrike" baseline="0" dirty="0">
                          <a:solidFill>
                            <a:srgbClr val="FF0000"/>
                          </a:solidFill>
                          <a:latin typeface="Arial Black" panose="020B0A04020102020204" pitchFamily="34" charset="0"/>
                        </a:rPr>
                        <a:t>COURSE FEE…</a:t>
                      </a:r>
                      <a:endParaRPr lang="en-GB" sz="2000" u="none" strike="noStrike" baseline="0" dirty="0">
                        <a:solidFill>
                          <a:srgbClr val="FF0000"/>
                        </a:solidFill>
                        <a:latin typeface="Arial Black" panose="020B0A04020102020204" pitchFamily="34" charset="0"/>
                      </a:endParaRPr>
                    </a:p>
                    <a:p>
                      <a:pPr marL="4060825" marR="0" indent="279400" algn="l" defTabSz="13163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GB" sz="1800" u="none" strike="noStrike" baseline="0" dirty="0">
                          <a:latin typeface="Arial Black" panose="020B0A04020102020204" pitchFamily="34" charset="0"/>
                        </a:rPr>
                        <a:t>CATEGORY C</a:t>
                      </a:r>
                      <a:endParaRPr lang="en-US" sz="18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/>
                </a:tc>
                <a:tc hMerge="1">
                  <a:tcPr/>
                </a:tc>
                <a:tc hMerge="1">
                  <a:tcPr marL="99917" marR="99917" marT="64812" marB="64812"/>
                </a:tc>
                <a:tc hMerge="1">
                  <a:tcPr/>
                </a:tc>
                <a:tc hMerge="1">
                  <a:tcPr/>
                </a:tc>
                <a:tc hMerge="1">
                  <a:tcPr marL="99917" marR="99917" marT="64812" marB="64812"/>
                </a:tc>
                <a:tc hMerge="1">
                  <a:tcPr/>
                </a:tc>
                <a:tc hMerge="1">
                  <a:tcPr/>
                </a:tc>
              </a:tr>
              <a:tr h="357948">
                <a:tc rowSpan="2">
                  <a:txBody>
                    <a:bodyPr/>
                    <a:lstStyle/>
                    <a:p>
                      <a:pPr marL="0" indent="0" algn="ctr"/>
                      <a:r>
                        <a:rPr lang="en-US" sz="1700" b="1" dirty="0"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S/N</a:t>
                      </a:r>
                      <a:endParaRPr lang="en-US" sz="1700" b="1" dirty="0"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4330" marR="54330" marT="35242" marB="35242" anchor="ctr"/>
                </a:tc>
                <a:tc rowSpan="2">
                  <a:txBody>
                    <a:bodyPr/>
                    <a:lstStyle/>
                    <a:p>
                      <a:pPr marL="0" indent="0" algn="ctr"/>
                      <a:r>
                        <a:rPr lang="en-US" sz="1800" b="1" dirty="0"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AREA OFFICE</a:t>
                      </a:r>
                      <a:endParaRPr lang="en-US" sz="1700" b="1" dirty="0"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4330" marR="54330" marT="35242" marB="35242"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700" b="1" dirty="0">
                          <a:latin typeface="Arial Black" panose="020B0A04020102020204" pitchFamily="34" charset="0"/>
                        </a:rPr>
                        <a:t>2023</a:t>
                      </a:r>
                      <a:endParaRPr lang="en-US" sz="1700" b="1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 hMerge="1">
                  <a:tcPr marL="54330" marR="54330" marT="35242" marB="35242"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700" b="1" dirty="0">
                          <a:latin typeface="Arial Black" panose="020B0A04020102020204" pitchFamily="34" charset="0"/>
                        </a:rPr>
                        <a:t>2024</a:t>
                      </a:r>
                      <a:endParaRPr lang="en-US" sz="1700" b="1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/>
                </a:tc>
                <a:tc hMerge="1">
                  <a:tcPr/>
                </a:tc>
                <a:tc hMerge="1">
                  <a:tcPr/>
                </a:tc>
              </a:tr>
              <a:tr h="568335">
                <a:tc vMerge="1">
                  <a:tcPr marL="99917" marR="99917" marT="64812" marB="64812"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700" b="1" dirty="0"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Annual</a:t>
                      </a:r>
                      <a:endParaRPr lang="en-US" sz="1700" b="1" baseline="0" dirty="0"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700" b="1" baseline="0" dirty="0"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Target</a:t>
                      </a:r>
                      <a:endParaRPr lang="en-US" sz="1700" b="1" dirty="0"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7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Actual Achieved</a:t>
                      </a:r>
                      <a:endParaRPr lang="en-US" sz="17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108" marR="5108" marT="5108" marB="0" anchor="b"/>
                </a:tc>
                <a:tc>
                  <a:txBody>
                    <a:bodyPr/>
                    <a:lstStyle/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7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% </a:t>
                      </a:r>
                      <a:endParaRPr lang="en-US" sz="1700" b="1" u="none" strike="noStrike" dirty="0"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7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Achieved</a:t>
                      </a:r>
                      <a:endParaRPr lang="en-US" sz="17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108" marR="5108" marT="5108" marB="0"/>
                </a:tc>
                <a:tc>
                  <a:txBody>
                    <a:bodyPr/>
                    <a:lstStyle/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7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Annual</a:t>
                      </a:r>
                      <a:endParaRPr lang="en-US" sz="1700" b="1" u="none" strike="noStrike" baseline="0" dirty="0"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7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Target</a:t>
                      </a:r>
                      <a:endParaRPr lang="en-US" sz="17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108" marR="5108" marT="5108" marB="0" anchor="b"/>
                </a:tc>
                <a:tc>
                  <a:txBody>
                    <a:bodyPr/>
                    <a:lstStyle/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7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Actual Achieved</a:t>
                      </a:r>
                      <a:endParaRPr lang="en-US" sz="17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108" marR="5108" marT="5108" marB="0" anchor="b"/>
                </a:tc>
                <a:tc>
                  <a:txBody>
                    <a:bodyPr/>
                    <a:lstStyle/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7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% </a:t>
                      </a:r>
                      <a:endParaRPr lang="en-US" sz="1700" b="1" u="none" strike="noStrike" dirty="0"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7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Achieved</a:t>
                      </a:r>
                      <a:endParaRPr lang="en-US" sz="17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108" marR="5108" marT="5108" marB="0"/>
                </a:tc>
              </a:tr>
              <a:tr h="380709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atin typeface="Arial Black" panose="020B0A04020102020204" pitchFamily="34" charset="0"/>
                        </a:rPr>
                        <a:t>13</a:t>
                      </a:r>
                      <a:endParaRPr lang="en-US" sz="1700" dirty="0">
                        <a:latin typeface="Arial Black" panose="020B0A04020102020204" pitchFamily="34" charset="0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Arial Black" panose="020B0A04020102020204" pitchFamily="34" charset="0"/>
                        </a:rPr>
                        <a:t>Lokoja</a:t>
                      </a:r>
                      <a:endParaRPr lang="en-US" sz="1600" b="1" dirty="0">
                        <a:latin typeface="Arial Black" panose="020B0A04020102020204" pitchFamily="34" charset="0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12,500,000.00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3,410,000.00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27.28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22,500,000.00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3,820,000.00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16.98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  <a:tr h="434279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atin typeface="Arial Black" panose="020B0A04020102020204" pitchFamily="34" charset="0"/>
                        </a:rPr>
                        <a:t>14</a:t>
                      </a:r>
                      <a:endParaRPr lang="en-US" sz="1700" dirty="0">
                        <a:latin typeface="Arial Black" panose="020B0A04020102020204" pitchFamily="34" charset="0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GB" sz="1700" u="none" strike="noStrike" dirty="0">
                          <a:latin typeface="Arial Black" panose="020B0A04020102020204" pitchFamily="34" charset="0"/>
                        </a:rPr>
                        <a:t>Maiduguri</a:t>
                      </a:r>
                      <a:endParaRPr lang="en-GB" sz="1700" b="0" i="0" u="none" strike="noStrike" dirty="0">
                        <a:solidFill>
                          <a:srgbClr val="000000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5953" marR="5953" marT="6804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12,500,000.00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3,210,000.00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180" marR="5180" marT="517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25.68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22,500,000.00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5,250,000.00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180" marR="5180" marT="517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23.33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  <a:tr h="434279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atin typeface="Arial Black" panose="020B0A04020102020204" pitchFamily="34" charset="0"/>
                        </a:rPr>
                        <a:t>15</a:t>
                      </a:r>
                      <a:endParaRPr lang="en-US" sz="1700" dirty="0">
                        <a:latin typeface="Arial Black" panose="020B0A04020102020204" pitchFamily="34" charset="0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GB" sz="1700" u="none" strike="noStrike" dirty="0">
                          <a:latin typeface="Arial Black" panose="020B0A04020102020204" pitchFamily="34" charset="0"/>
                        </a:rPr>
                        <a:t>Makurdi</a:t>
                      </a:r>
                      <a:endParaRPr lang="en-GB" sz="1700" b="0" i="0" u="none" strike="noStrike" dirty="0">
                        <a:solidFill>
                          <a:srgbClr val="000000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5953" marR="5953" marT="6804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12,500,000.00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4,580,000.00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180" marR="5180" marT="517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36.64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22,500,000.00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6,175,000.00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180" marR="5180" marT="517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27.44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  <a:tr h="434279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atin typeface="Arial Black" panose="020B0A04020102020204" pitchFamily="34" charset="0"/>
                        </a:rPr>
                        <a:t>16</a:t>
                      </a:r>
                      <a:endParaRPr lang="en-US" sz="1700" dirty="0">
                        <a:latin typeface="Arial Black" panose="020B0A04020102020204" pitchFamily="34" charset="0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GB" sz="1700" u="none" strike="noStrike" dirty="0">
                          <a:latin typeface="Arial Black" panose="020B0A04020102020204" pitchFamily="34" charset="0"/>
                        </a:rPr>
                        <a:t>Minna </a:t>
                      </a:r>
                      <a:endParaRPr lang="en-GB" sz="1700" b="0" i="0" u="none" strike="noStrike" dirty="0">
                        <a:solidFill>
                          <a:srgbClr val="000000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5953" marR="5953" marT="6804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22,500,000.00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3,315,000.00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14.73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32,500,000.00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4,365,000.00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13.43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  <a:tr h="481812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atin typeface="Arial Black" panose="020B0A04020102020204" pitchFamily="34" charset="0"/>
                        </a:rPr>
                        <a:t>17</a:t>
                      </a:r>
                      <a:endParaRPr lang="en-US" sz="1700" dirty="0">
                        <a:latin typeface="Arial Black" panose="020B0A04020102020204" pitchFamily="34" charset="0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lvl="0" algn="ctr" fontAlgn="b">
                        <a:lnSpc>
                          <a:spcPct val="150000"/>
                        </a:lnSpc>
                      </a:pPr>
                      <a:r>
                        <a:rPr lang="en-GB" sz="1700" u="none" strike="noStrike" dirty="0">
                          <a:latin typeface="Arial Black" panose="020B0A04020102020204" pitchFamily="34" charset="0"/>
                        </a:rPr>
                        <a:t>Owerri</a:t>
                      </a:r>
                      <a:endParaRPr lang="en-GB" sz="1700" b="0" i="0" u="none" strike="noStrike" dirty="0">
                        <a:solidFill>
                          <a:srgbClr val="000000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5953" marR="5953" marT="6804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12,500,000.00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7,395,000.00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59.16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22,500,000.00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6,735,000.00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29.93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  <a:tr h="56578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atin typeface="Arial Black" panose="020B0A04020102020204" pitchFamily="34" charset="0"/>
                        </a:rPr>
                        <a:t>18</a:t>
                      </a:r>
                      <a:endParaRPr lang="en-US" sz="1700" dirty="0">
                        <a:latin typeface="Arial Black" panose="020B0A04020102020204" pitchFamily="34" charset="0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lvl="0" algn="ctr" fontAlgn="b">
                        <a:lnSpc>
                          <a:spcPct val="150000"/>
                        </a:lnSpc>
                      </a:pPr>
                      <a:r>
                        <a:rPr lang="en-GB" sz="1700" u="none" strike="noStrike" dirty="0">
                          <a:latin typeface="Arial Black" panose="020B0A04020102020204" pitchFamily="34" charset="0"/>
                        </a:rPr>
                        <a:t>Sokoto</a:t>
                      </a:r>
                      <a:endParaRPr lang="en-GB" sz="1700" b="0" i="0" u="none" strike="noStrike" dirty="0">
                        <a:solidFill>
                          <a:srgbClr val="000000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5953" marR="5953" marT="6804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15,000,000.00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13,255,000.00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88.37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25,000,000.00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7,035,000.00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28.14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  <a:tr h="434279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atin typeface="Arial Black" panose="020B0A04020102020204" pitchFamily="34" charset="0"/>
                        </a:rPr>
                        <a:t>19</a:t>
                      </a:r>
                      <a:endParaRPr lang="en-US" sz="1700" dirty="0">
                        <a:latin typeface="Arial Black" panose="020B0A04020102020204" pitchFamily="34" charset="0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GB" sz="1700" u="none" strike="noStrike" dirty="0">
                          <a:latin typeface="Arial Black" panose="020B0A04020102020204" pitchFamily="34" charset="0"/>
                        </a:rPr>
                        <a:t>Uyo</a:t>
                      </a:r>
                      <a:endParaRPr lang="en-GB" sz="1700" b="0" i="0" u="none" strike="noStrike" dirty="0">
                        <a:solidFill>
                          <a:srgbClr val="000000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5953" marR="5953" marT="6804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17,500,000.00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2,120,000.00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12.11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27,500,000.00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18,250,000.00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66.36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  <a:tr h="43427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20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GB" sz="1600" u="none" strike="noStrike" dirty="0">
                          <a:latin typeface="Arial Black" panose="020B0A04020102020204" pitchFamily="34" charset="0"/>
                        </a:rPr>
                        <a:t>Yenagoa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5953" marR="5953" marT="6804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17,500,000.00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17,245,000.00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98.54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27,500,000.00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6,540,000.00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23.78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  <a:tr h="434279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rial Black" panose="020B0A04020102020204" pitchFamily="34" charset="0"/>
                        </a:rPr>
                        <a:t>21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GB" sz="1600" u="none" strike="noStrike" dirty="0">
                          <a:latin typeface="Arial Black" panose="020B0A04020102020204" pitchFamily="34" charset="0"/>
                        </a:rPr>
                        <a:t>Yola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5953" marR="5953" marT="6804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12,500,000.00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10,230,161.25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81.84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22,500,000.00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14,560,000.00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64.71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  <a:tr h="434279"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Arial Black" panose="020B0A04020102020204" pitchFamily="34" charset="0"/>
                        </a:rPr>
                        <a:t>TOTAL</a:t>
                      </a:r>
                      <a:endParaRPr lang="en-US" sz="1600" b="1" dirty="0">
                        <a:latin typeface="Arial Black" panose="020B0A04020102020204" pitchFamily="34" charset="0"/>
                      </a:endParaRPr>
                    </a:p>
                  </a:txBody>
                  <a:tcPr marL="91439" marR="91439" anchor="ctr"/>
                </a:tc>
                <a:tc hMerge="1">
                  <a:tcPr marL="5953" marR="5953" marT="680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</a:rPr>
                        <a:t>315,000,000.00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</a:rPr>
                        <a:t>153,132,686.28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</a:rPr>
                        <a:t>1071.47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</a:rPr>
                        <a:t>525,000,000.00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</a:rPr>
                        <a:t>182,820,400.14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</a:rPr>
                        <a:t>713.95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22AFA-50A3-4156-984F-61758D2C4411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255853" y="215681"/>
          <a:ext cx="11685135" cy="6140109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731915"/>
                <a:gridCol w="1290283"/>
                <a:gridCol w="2023697"/>
                <a:gridCol w="1459108"/>
                <a:gridCol w="1368589"/>
                <a:gridCol w="1743258"/>
                <a:gridCol w="1856170"/>
                <a:gridCol w="1212115"/>
              </a:tblGrid>
              <a:tr h="743689">
                <a:tc gridSpan="8">
                  <a:txBody>
                    <a:bodyPr/>
                    <a:lstStyle/>
                    <a:p>
                      <a:pPr marL="3832225" marR="0" indent="409575" algn="l" defTabSz="13163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GB" sz="2000" u="none" strike="noStrike" baseline="0" dirty="0">
                          <a:solidFill>
                            <a:srgbClr val="FF0000"/>
                          </a:solidFill>
                          <a:latin typeface="Arial Black" panose="020B0A04020102020204" pitchFamily="34" charset="0"/>
                        </a:rPr>
                        <a:t>OTHER INCOME</a:t>
                      </a:r>
                      <a:endParaRPr lang="en-GB" sz="2000" u="none" strike="noStrike" baseline="0" dirty="0">
                        <a:solidFill>
                          <a:srgbClr val="FF0000"/>
                        </a:solidFill>
                        <a:latin typeface="Arial Black" panose="020B0A04020102020204" pitchFamily="34" charset="0"/>
                      </a:endParaRPr>
                    </a:p>
                    <a:p>
                      <a:pPr marL="4464050" marR="0" indent="0" algn="l" defTabSz="13163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GB" sz="1800" u="none" strike="noStrike" baseline="0" dirty="0">
                          <a:latin typeface="Arial Black" panose="020B0A04020102020204" pitchFamily="34" charset="0"/>
                        </a:rPr>
                        <a:t>CATEGORY C</a:t>
                      </a:r>
                      <a:endParaRPr lang="en-US" sz="18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/>
                </a:tc>
                <a:tc hMerge="1">
                  <a:tcPr/>
                </a:tc>
                <a:tc hMerge="1">
                  <a:tcPr marL="99917" marR="99917" marT="64812" marB="64812"/>
                </a:tc>
                <a:tc hMerge="1">
                  <a:tcPr/>
                </a:tc>
                <a:tc hMerge="1">
                  <a:tcPr/>
                </a:tc>
                <a:tc hMerge="1">
                  <a:tcPr marL="99917" marR="99917" marT="64812" marB="64812"/>
                </a:tc>
                <a:tc hMerge="1">
                  <a:tcPr/>
                </a:tc>
                <a:tc hMerge="1">
                  <a:tcPr/>
                </a:tc>
              </a:tr>
              <a:tr h="342302">
                <a:tc rowSpan="2">
                  <a:txBody>
                    <a:bodyPr/>
                    <a:lstStyle/>
                    <a:p>
                      <a:pPr marL="0" indent="0" algn="ctr"/>
                      <a:r>
                        <a:rPr lang="en-US" sz="1700" b="1" dirty="0"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S/N</a:t>
                      </a:r>
                      <a:endParaRPr lang="en-US" sz="1700" b="1" dirty="0"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4330" marR="54330" marT="35242" marB="35242" anchor="ctr"/>
                </a:tc>
                <a:tc rowSpan="2">
                  <a:txBody>
                    <a:bodyPr/>
                    <a:lstStyle/>
                    <a:p>
                      <a:pPr marL="0" indent="0" algn="ctr"/>
                      <a:r>
                        <a:rPr lang="en-US" sz="1400" b="1" dirty="0"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AREA OFFICE</a:t>
                      </a:r>
                      <a:endParaRPr lang="en-US" sz="1500" b="1" dirty="0"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4330" marR="54330" marT="35242" marB="35242"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700" b="1" dirty="0">
                          <a:latin typeface="Arial Black" panose="020B0A04020102020204" pitchFamily="34" charset="0"/>
                        </a:rPr>
                        <a:t>2023</a:t>
                      </a:r>
                      <a:endParaRPr lang="en-US" sz="1700" b="1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 hMerge="1">
                  <a:tcPr marL="54330" marR="54330" marT="35242" marB="35242"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700" b="1" dirty="0">
                          <a:latin typeface="Arial Black" panose="020B0A04020102020204" pitchFamily="34" charset="0"/>
                        </a:rPr>
                        <a:t>2024</a:t>
                      </a:r>
                      <a:endParaRPr lang="en-US" sz="1700" b="1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/>
                </a:tc>
                <a:tc hMerge="1">
                  <a:tcPr/>
                </a:tc>
                <a:tc hMerge="1">
                  <a:tcPr/>
                </a:tc>
              </a:tr>
              <a:tr h="543493">
                <a:tc vMerge="1">
                  <a:tcPr marL="99917" marR="99917" marT="64812" marB="64812"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700" b="1" dirty="0"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Annual</a:t>
                      </a:r>
                      <a:endParaRPr lang="en-US" sz="1700" b="1" baseline="0" dirty="0"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700" b="1" baseline="0" dirty="0"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Target</a:t>
                      </a:r>
                      <a:endParaRPr lang="en-US" sz="1700" b="1" dirty="0"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7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Actual Achieved</a:t>
                      </a:r>
                      <a:endParaRPr lang="en-US" sz="17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108" marR="5108" marT="5108" marB="0" anchor="b"/>
                </a:tc>
                <a:tc>
                  <a:txBody>
                    <a:bodyPr/>
                    <a:lstStyle/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7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% </a:t>
                      </a:r>
                      <a:endParaRPr lang="en-US" sz="1700" b="1" u="none" strike="noStrike" dirty="0"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7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Achieved</a:t>
                      </a:r>
                      <a:endParaRPr lang="en-US" sz="17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108" marR="5108" marT="5108" marB="0"/>
                </a:tc>
                <a:tc>
                  <a:txBody>
                    <a:bodyPr/>
                    <a:lstStyle/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7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Annual</a:t>
                      </a:r>
                      <a:endParaRPr lang="en-US" sz="1700" b="1" u="none" strike="noStrike" baseline="0" dirty="0"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7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Target</a:t>
                      </a:r>
                      <a:endParaRPr lang="en-US" sz="17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108" marR="5108" marT="5108" marB="0" anchor="b"/>
                </a:tc>
                <a:tc>
                  <a:txBody>
                    <a:bodyPr/>
                    <a:lstStyle/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7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Actual Achieved</a:t>
                      </a:r>
                      <a:endParaRPr lang="en-US" sz="17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108" marR="5108" marT="5108" marB="0" anchor="b"/>
                </a:tc>
                <a:tc>
                  <a:txBody>
                    <a:bodyPr/>
                    <a:lstStyle/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7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% </a:t>
                      </a:r>
                      <a:endParaRPr lang="en-US" sz="1700" b="1" u="none" strike="noStrike" dirty="0"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7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Achieved</a:t>
                      </a:r>
                      <a:endParaRPr lang="en-US" sz="17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108" marR="5108" marT="5108" marB="0"/>
                </a:tc>
              </a:tr>
              <a:tr h="386964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Arial Black" panose="020B0A04020102020204" pitchFamily="34" charset="0"/>
                        </a:rPr>
                        <a:t>1</a:t>
                      </a:r>
                      <a:endParaRPr lang="en-GB" sz="1600" dirty="0">
                        <a:latin typeface="Arial Black" panose="020B0A04020102020204" pitchFamily="34" charset="0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lvl="0" algn="ctr" fontAlgn="b">
                        <a:lnSpc>
                          <a:spcPct val="150000"/>
                        </a:lnSpc>
                      </a:pPr>
                      <a:r>
                        <a:rPr lang="en-GB" sz="1600" u="none" strike="noStrike" dirty="0">
                          <a:latin typeface="Arial Black" panose="020B0A04020102020204" pitchFamily="34" charset="0"/>
                        </a:rPr>
                        <a:t>Aba 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5953" marR="5953" marT="6804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100,000.00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485,000.00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5180" marR="5180" marT="517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485.00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5,100,000.00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1,569,796.63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5180" marR="5180" marT="517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30.78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  <a:tr h="386964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Arial Black" panose="020B0A04020102020204" pitchFamily="34" charset="0"/>
                        </a:rPr>
                        <a:t>2</a:t>
                      </a:r>
                      <a:endParaRPr lang="en-GB" sz="1600" dirty="0">
                        <a:latin typeface="Arial Black" panose="020B0A04020102020204" pitchFamily="34" charset="0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lvl="0" algn="ctr" fontAlgn="b">
                        <a:lnSpc>
                          <a:spcPct val="150000"/>
                        </a:lnSpc>
                      </a:pPr>
                      <a:r>
                        <a:rPr lang="en-GB" sz="1600" b="0" i="0" u="none" strike="noStrike" dirty="0" err="1">
                          <a:solidFill>
                            <a:srgbClr val="000000"/>
                          </a:solidFill>
                          <a:latin typeface="Arial Black" panose="020B0A04020102020204" pitchFamily="34" charset="0"/>
                        </a:rPr>
                        <a:t>Abakaliki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5953" marR="5953" marT="6804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50,000.00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70,000.00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5180" marR="5180" marT="517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140.00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5,050,000.00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130,000.00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5180" marR="5180" marT="517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2.57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  <a:tr h="386964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Arial Black" panose="020B0A04020102020204" pitchFamily="34" charset="0"/>
                        </a:rPr>
                        <a:t>3</a:t>
                      </a:r>
                      <a:endParaRPr lang="en-GB" sz="1600" dirty="0">
                        <a:latin typeface="Arial Black" panose="020B0A04020102020204" pitchFamily="34" charset="0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lvl="0" algn="ctr" fontAlgn="b">
                        <a:lnSpc>
                          <a:spcPct val="150000"/>
                        </a:lnSpc>
                      </a:pPr>
                      <a:r>
                        <a:rPr lang="en-GB" sz="1600" u="none" strike="noStrike" dirty="0" err="1">
                          <a:latin typeface="Arial Black" panose="020B0A04020102020204" pitchFamily="34" charset="0"/>
                        </a:rPr>
                        <a:t>Akure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5953" marR="5953" marT="6804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150,000.00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176,000.00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5180" marR="5180" marT="517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117.33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5,150,000.00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72,000.00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5180" marR="5180" marT="517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1.40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  <a:tr h="386964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Arial Black" panose="020B0A04020102020204" pitchFamily="34" charset="0"/>
                        </a:rPr>
                        <a:t>4</a:t>
                      </a:r>
                      <a:endParaRPr lang="en-GB" sz="1600" dirty="0">
                        <a:latin typeface="Arial Black" panose="020B0A04020102020204" pitchFamily="34" charset="0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lvl="0" algn="ctr" fontAlgn="b">
                        <a:lnSpc>
                          <a:spcPct val="150000"/>
                        </a:lnSpc>
                      </a:pPr>
                      <a:r>
                        <a:rPr lang="en-GB" sz="1600" u="none" strike="noStrike" dirty="0" err="1">
                          <a:latin typeface="Arial Black" panose="020B0A04020102020204" pitchFamily="34" charset="0"/>
                        </a:rPr>
                        <a:t>Awka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5953" marR="5953" marT="6804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100,000.00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80,000.00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80.00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5,100,000.00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150,000.00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2.94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  <a:tr h="386964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Arial Black" panose="020B0A04020102020204" pitchFamily="34" charset="0"/>
                        </a:rPr>
                        <a:t>5</a:t>
                      </a:r>
                      <a:endParaRPr lang="en-GB" sz="1600" dirty="0">
                        <a:latin typeface="Arial Black" panose="020B0A04020102020204" pitchFamily="34" charset="0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lvl="0" algn="ctr" fontAlgn="b">
                        <a:lnSpc>
                          <a:spcPct val="150000"/>
                        </a:lnSpc>
                      </a:pPr>
                      <a:r>
                        <a:rPr lang="en-GB" sz="1600" u="none" strike="noStrike" dirty="0" err="1">
                          <a:latin typeface="Arial Black" panose="020B0A04020102020204" pitchFamily="34" charset="0"/>
                        </a:rPr>
                        <a:t>Bauchi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5953" marR="5953" marT="6804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100,000.00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742,600.00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742.60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5,100,000.00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180,500.00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3.54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  <a:tr h="348239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Arial Black" panose="020B0A04020102020204" pitchFamily="34" charset="0"/>
                        </a:rPr>
                        <a:t>6</a:t>
                      </a:r>
                      <a:endParaRPr lang="en-GB" sz="1600" dirty="0">
                        <a:latin typeface="Arial Black" panose="020B0A04020102020204" pitchFamily="34" charset="0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latin typeface="Arial Black" panose="020B0A04020102020204" pitchFamily="34" charset="0"/>
                        </a:rPr>
                        <a:t>Calabar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953" marR="5953" marT="6804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150,000.00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1,136,000.00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757.33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5,150,000.00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175,000.00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3.40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  <a:tr h="348239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Arial Black" panose="020B0A04020102020204" pitchFamily="34" charset="0"/>
                        </a:rPr>
                        <a:t>7</a:t>
                      </a:r>
                      <a:endParaRPr lang="en-GB" sz="1600" dirty="0">
                        <a:latin typeface="Arial Black" panose="020B0A04020102020204" pitchFamily="34" charset="0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Gombe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953" marR="5953" marT="6804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100,000.00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52,000.00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52.00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5,100,000.00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171,000.00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3.35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  <a:tr h="363770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Arial Black" panose="020B0A04020102020204" pitchFamily="34" charset="0"/>
                        </a:rPr>
                        <a:t>8</a:t>
                      </a:r>
                      <a:endParaRPr lang="en-GB" sz="1600" dirty="0">
                        <a:latin typeface="Arial Black" panose="020B0A04020102020204" pitchFamily="34" charset="0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GB" sz="1600" u="none" strike="noStrike" dirty="0" err="1">
                          <a:latin typeface="Arial Black" panose="020B0A04020102020204" pitchFamily="34" charset="0"/>
                        </a:rPr>
                        <a:t>Gusau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5953" marR="5953" marT="6804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50,000.00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705,000.00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1,410.00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5,050,000.00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909,000.00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18.00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  <a:tr h="386964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Arial Black" panose="020B0A04020102020204" pitchFamily="34" charset="0"/>
                        </a:rPr>
                        <a:t>9</a:t>
                      </a:r>
                      <a:endParaRPr lang="en-GB" sz="1600" dirty="0">
                        <a:latin typeface="Arial Black" panose="020B0A04020102020204" pitchFamily="34" charset="0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lvl="0" algn="ctr" fontAlgn="b">
                        <a:lnSpc>
                          <a:spcPct val="150000"/>
                        </a:lnSpc>
                      </a:pPr>
                      <a:r>
                        <a:rPr lang="en-GB" sz="1600" u="none" strike="noStrike" dirty="0">
                          <a:latin typeface="Arial Black" panose="020B0A04020102020204" pitchFamily="34" charset="0"/>
                        </a:rPr>
                        <a:t>Ilorin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5953" marR="5953" marT="6804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300,000.00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308,000.00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102.67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5,250,000.00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540,000.00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10.29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  <a:tr h="348239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Arial Black" panose="020B0A04020102020204" pitchFamily="34" charset="0"/>
                        </a:rPr>
                        <a:t>10</a:t>
                      </a:r>
                      <a:endParaRPr lang="en-GB" sz="1600" dirty="0">
                        <a:latin typeface="Arial Black" panose="020B0A04020102020204" pitchFamily="34" charset="0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Ikorodu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953" marR="5953" marT="6804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250,000.00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483,000.00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193.20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5,300,000.00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55,000.00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1.04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  <a:tr h="386964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Arial Black" panose="020B0A04020102020204" pitchFamily="34" charset="0"/>
                        </a:rPr>
                        <a:t>11</a:t>
                      </a:r>
                      <a:endParaRPr lang="en-GB" sz="1600" dirty="0">
                        <a:latin typeface="Arial Black" panose="020B0A04020102020204" pitchFamily="34" charset="0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lvl="0" algn="ctr" fontAlgn="b">
                        <a:lnSpc>
                          <a:spcPct val="150000"/>
                        </a:lnSpc>
                      </a:pPr>
                      <a:r>
                        <a:rPr lang="en-GB" sz="1600" u="none" strike="noStrike" dirty="0">
                          <a:latin typeface="Arial Black" panose="020B0A04020102020204" pitchFamily="34" charset="0"/>
                        </a:rPr>
                        <a:t>Jos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5953" marR="5953" marT="6804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100,000.00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1,349,000.00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1,349.00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5,100,000.00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105,000.00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2.06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  <a:tr h="348239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Arial Black" panose="020B0A04020102020204" pitchFamily="34" charset="0"/>
                        </a:rPr>
                        <a:t>12</a:t>
                      </a:r>
                      <a:endParaRPr lang="en-GB" sz="1600" dirty="0">
                        <a:latin typeface="Arial Black" panose="020B0A04020102020204" pitchFamily="34" charset="0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GB" sz="1600" u="none" strike="noStrike" dirty="0" err="1">
                          <a:latin typeface="Arial Black" panose="020B0A04020102020204" pitchFamily="34" charset="0"/>
                        </a:rPr>
                        <a:t>Katsina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5953" marR="5953" marT="6804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110,000.00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166,300.00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151.18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5,110,000.00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196,500.00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 Black" panose="020B0A04020102020204" pitchFamily="34" charset="0"/>
                        </a:rPr>
                        <a:t>3.85</a:t>
                      </a:r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</a:tbl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22AFA-50A3-4156-984F-61758D2C4411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282851" y="249382"/>
          <a:ext cx="11617796" cy="6115184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590733"/>
                <a:gridCol w="1358692"/>
                <a:gridCol w="1801742"/>
                <a:gridCol w="1636219"/>
                <a:gridCol w="1339349"/>
                <a:gridCol w="1661707"/>
                <a:gridCol w="1698363"/>
                <a:gridCol w="1530991"/>
              </a:tblGrid>
              <a:tr h="820804">
                <a:tc gridSpan="8">
                  <a:txBody>
                    <a:bodyPr/>
                    <a:lstStyle/>
                    <a:p>
                      <a:pPr marL="3832225" marR="0" indent="409575" algn="l" defTabSz="13163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GB" sz="2000" u="none" strike="noStrike" baseline="0" dirty="0">
                          <a:solidFill>
                            <a:srgbClr val="FF0000"/>
                          </a:solidFill>
                          <a:latin typeface="Arial Black" panose="020B0A04020102020204" pitchFamily="34" charset="0"/>
                        </a:rPr>
                        <a:t>OTHER INCOME…</a:t>
                      </a:r>
                      <a:endParaRPr lang="en-GB" sz="2000" u="none" strike="noStrike" baseline="0" dirty="0">
                        <a:solidFill>
                          <a:srgbClr val="FF0000"/>
                        </a:solidFill>
                        <a:latin typeface="Arial Black" panose="020B0A04020102020204" pitchFamily="34" charset="0"/>
                      </a:endParaRPr>
                    </a:p>
                    <a:p>
                      <a:pPr marL="4464050" marR="0" indent="0" algn="l" defTabSz="13163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GB" sz="2000" u="none" strike="noStrike" baseline="0" dirty="0">
                          <a:latin typeface="Arial Black" panose="020B0A04020102020204" pitchFamily="34" charset="0"/>
                        </a:rPr>
                        <a:t>CATEGORY C</a:t>
                      </a:r>
                      <a:endParaRPr lang="en-US" sz="20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/>
                </a:tc>
                <a:tc hMerge="1">
                  <a:tcPr/>
                </a:tc>
                <a:tc hMerge="1">
                  <a:tcPr marL="99917" marR="99917" marT="64812" marB="64812"/>
                </a:tc>
                <a:tc hMerge="1">
                  <a:tcPr/>
                </a:tc>
                <a:tc hMerge="1">
                  <a:tcPr/>
                </a:tc>
                <a:tc hMerge="1">
                  <a:tcPr marL="99917" marR="99917" marT="64812" marB="64812"/>
                </a:tc>
                <a:tc hMerge="1">
                  <a:tcPr/>
                </a:tc>
                <a:tc hMerge="1">
                  <a:tcPr/>
                </a:tc>
              </a:tr>
              <a:tr h="365566">
                <a:tc rowSpan="2">
                  <a:txBody>
                    <a:bodyPr/>
                    <a:lstStyle/>
                    <a:p>
                      <a:pPr marL="0" indent="0" algn="ctr"/>
                      <a:r>
                        <a:rPr lang="en-US" sz="1700" b="1" dirty="0"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S/N</a:t>
                      </a:r>
                      <a:endParaRPr lang="en-US" sz="1700" b="1" dirty="0"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4330" marR="54330" marT="35242" marB="35242" anchor="ctr"/>
                </a:tc>
                <a:tc rowSpan="2">
                  <a:txBody>
                    <a:bodyPr/>
                    <a:lstStyle/>
                    <a:p>
                      <a:pPr marL="0" indent="0" algn="ctr"/>
                      <a:r>
                        <a:rPr lang="en-US" sz="1800" b="1" dirty="0"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AREA OFFICE</a:t>
                      </a:r>
                      <a:endParaRPr lang="en-US" sz="1700" b="1" dirty="0"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4330" marR="54330" marT="35242" marB="35242"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700" b="1" dirty="0">
                          <a:latin typeface="Arial Black" panose="020B0A04020102020204" pitchFamily="34" charset="0"/>
                        </a:rPr>
                        <a:t>2023</a:t>
                      </a:r>
                      <a:endParaRPr lang="en-US" sz="1700" b="1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 hMerge="1">
                  <a:tcPr marL="54330" marR="54330" marT="35242" marB="35242"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700" b="1" dirty="0">
                          <a:latin typeface="Arial Black" panose="020B0A04020102020204" pitchFamily="34" charset="0"/>
                        </a:rPr>
                        <a:t>2024</a:t>
                      </a:r>
                      <a:endParaRPr lang="en-US" sz="1700" b="1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/>
                </a:tc>
                <a:tc hMerge="1">
                  <a:tcPr/>
                </a:tc>
                <a:tc hMerge="1">
                  <a:tcPr/>
                </a:tc>
              </a:tr>
              <a:tr h="580430">
                <a:tc vMerge="1">
                  <a:tcPr marL="99917" marR="99917" marT="64812" marB="64812"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700" b="1" dirty="0"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Annual</a:t>
                      </a:r>
                      <a:endParaRPr lang="en-US" sz="1700" b="1" baseline="0" dirty="0"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700" b="1" baseline="0" dirty="0"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Target</a:t>
                      </a:r>
                      <a:endParaRPr lang="en-US" sz="1700" b="1" dirty="0"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7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Actual Achieved</a:t>
                      </a:r>
                      <a:endParaRPr lang="en-US" sz="17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108" marR="5108" marT="5108" marB="0" anchor="b"/>
                </a:tc>
                <a:tc>
                  <a:txBody>
                    <a:bodyPr/>
                    <a:lstStyle/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7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% </a:t>
                      </a:r>
                      <a:endParaRPr lang="en-US" sz="1700" b="1" u="none" strike="noStrike" dirty="0"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7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Achieved</a:t>
                      </a:r>
                      <a:endParaRPr lang="en-US" sz="17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108" marR="5108" marT="5108" marB="0"/>
                </a:tc>
                <a:tc>
                  <a:txBody>
                    <a:bodyPr/>
                    <a:lstStyle/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7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Annual</a:t>
                      </a:r>
                      <a:r>
                        <a:rPr lang="en-US" sz="1700" b="1" u="none" strike="noStrike" baseline="0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7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Target</a:t>
                      </a:r>
                      <a:endParaRPr lang="en-US" sz="17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108" marR="5108" marT="5108" marB="0" anchor="b"/>
                </a:tc>
                <a:tc>
                  <a:txBody>
                    <a:bodyPr/>
                    <a:lstStyle/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7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Actual Achieved</a:t>
                      </a:r>
                      <a:endParaRPr lang="en-US" sz="17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108" marR="5108" marT="5108" marB="0" anchor="b"/>
                </a:tc>
                <a:tc>
                  <a:txBody>
                    <a:bodyPr/>
                    <a:lstStyle/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7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% </a:t>
                      </a:r>
                      <a:endParaRPr lang="en-US" sz="1700" b="1" u="none" strike="noStrike" dirty="0"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7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Achieved</a:t>
                      </a:r>
                      <a:endParaRPr lang="en-US" sz="17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108" marR="5108" marT="5108" marB="0"/>
                </a:tc>
              </a:tr>
              <a:tr h="388811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atin typeface="Arial Black" panose="020B0A04020102020204" pitchFamily="34" charset="0"/>
                        </a:rPr>
                        <a:t>13</a:t>
                      </a:r>
                      <a:endParaRPr lang="en-US" sz="1700" dirty="0">
                        <a:latin typeface="Arial Black" panose="020B0A04020102020204" pitchFamily="34" charset="0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atin typeface="Arial Black" panose="020B0A04020102020204" pitchFamily="34" charset="0"/>
                        </a:rPr>
                        <a:t>Lokoja</a:t>
                      </a:r>
                      <a:endParaRPr lang="en-US" sz="1700" dirty="0">
                        <a:latin typeface="Arial Black" panose="020B0A04020102020204" pitchFamily="34" charset="0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210,000.00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279,000.00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132.86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5,210,000.00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78,000.00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1.50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  <a:tr h="422602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atin typeface="Arial Black" panose="020B0A04020102020204" pitchFamily="34" charset="0"/>
                        </a:rPr>
                        <a:t>14</a:t>
                      </a:r>
                      <a:endParaRPr lang="en-US" sz="1700" dirty="0">
                        <a:latin typeface="Arial Black" panose="020B0A04020102020204" pitchFamily="34" charset="0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GB" sz="1700" u="none" strike="noStrike" dirty="0">
                          <a:latin typeface="Arial Black" panose="020B0A04020102020204" pitchFamily="34" charset="0"/>
                        </a:rPr>
                        <a:t>Maiduguri</a:t>
                      </a:r>
                      <a:endParaRPr lang="en-GB" sz="1700" b="0" i="0" u="none" strike="noStrike" dirty="0">
                        <a:solidFill>
                          <a:srgbClr val="000000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5953" marR="5953" marT="6804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50,000.00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315,000.00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180" marR="5180" marT="517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630.00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5,050,000.00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163,000.00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180" marR="5180" marT="517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3.23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  <a:tr h="422602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atin typeface="Arial Black" panose="020B0A04020102020204" pitchFamily="34" charset="0"/>
                        </a:rPr>
                        <a:t>15</a:t>
                      </a:r>
                      <a:endParaRPr lang="en-US" sz="1700" dirty="0">
                        <a:latin typeface="Arial Black" panose="020B0A04020102020204" pitchFamily="34" charset="0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GB" sz="1700" u="none" strike="noStrike" dirty="0">
                          <a:latin typeface="Arial Black" panose="020B0A04020102020204" pitchFamily="34" charset="0"/>
                        </a:rPr>
                        <a:t>Makurdi</a:t>
                      </a:r>
                      <a:endParaRPr lang="en-GB" sz="1700" b="0" i="0" u="none" strike="noStrike" dirty="0">
                        <a:solidFill>
                          <a:srgbClr val="000000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5953" marR="5953" marT="6804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100,000.00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113,000.00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180" marR="5180" marT="517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113.00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5,100,000.00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42,000.00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180" marR="5180" marT="517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0.82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  <a:tr h="422602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atin typeface="Arial Black" panose="020B0A04020102020204" pitchFamily="34" charset="0"/>
                        </a:rPr>
                        <a:t>16</a:t>
                      </a:r>
                      <a:endParaRPr lang="en-US" sz="1700" dirty="0">
                        <a:latin typeface="Arial Black" panose="020B0A04020102020204" pitchFamily="34" charset="0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GB" sz="1700" u="none" strike="noStrike" dirty="0">
                          <a:latin typeface="Arial Black" panose="020B0A04020102020204" pitchFamily="34" charset="0"/>
                        </a:rPr>
                        <a:t>Minna </a:t>
                      </a:r>
                      <a:endParaRPr lang="en-GB" sz="1700" b="0" i="0" u="none" strike="noStrike" dirty="0">
                        <a:solidFill>
                          <a:srgbClr val="000000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5953" marR="5953" marT="6804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120,000.00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326,000.00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271.67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5,120,000.00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126,000.00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2.46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  <a:tr h="432916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atin typeface="Arial Black" panose="020B0A04020102020204" pitchFamily="34" charset="0"/>
                        </a:rPr>
                        <a:t>17</a:t>
                      </a:r>
                      <a:endParaRPr lang="en-US" sz="1700" dirty="0">
                        <a:latin typeface="Arial Black" panose="020B0A04020102020204" pitchFamily="34" charset="0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lvl="0" algn="ctr" fontAlgn="b">
                        <a:lnSpc>
                          <a:spcPct val="150000"/>
                        </a:lnSpc>
                      </a:pPr>
                      <a:r>
                        <a:rPr lang="en-GB" sz="1700" u="none" strike="noStrike" dirty="0" err="1">
                          <a:latin typeface="Arial Black" panose="020B0A04020102020204" pitchFamily="34" charset="0"/>
                        </a:rPr>
                        <a:t>Owerri</a:t>
                      </a:r>
                      <a:endParaRPr lang="en-GB" sz="1700" b="0" i="0" u="none" strike="noStrike" dirty="0">
                        <a:solidFill>
                          <a:srgbClr val="000000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5953" marR="5953" marT="6804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50,000.00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392,600.00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785.20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5,050,000.00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20,000.00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0.40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  <a:tr h="422602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atin typeface="Arial Black" panose="020B0A04020102020204" pitchFamily="34" charset="0"/>
                        </a:rPr>
                        <a:t>18</a:t>
                      </a:r>
                      <a:endParaRPr lang="en-US" sz="1700" dirty="0">
                        <a:latin typeface="Arial Black" panose="020B0A04020102020204" pitchFamily="34" charset="0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lvl="0" algn="ctr" fontAlgn="b">
                        <a:lnSpc>
                          <a:spcPct val="150000"/>
                        </a:lnSpc>
                      </a:pPr>
                      <a:r>
                        <a:rPr lang="en-GB" sz="1700" u="none" strike="noStrike" dirty="0">
                          <a:latin typeface="Arial Black" panose="020B0A04020102020204" pitchFamily="34" charset="0"/>
                        </a:rPr>
                        <a:t>Sokoto</a:t>
                      </a:r>
                      <a:endParaRPr lang="en-GB" sz="1700" b="0" i="0" u="none" strike="noStrike" dirty="0">
                        <a:solidFill>
                          <a:srgbClr val="000000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5953" marR="5953" marT="6804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50,000.00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290,500.00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581.00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5,050,000.00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120,000.00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2.38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  <a:tr h="422602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atin typeface="Arial Black" panose="020B0A04020102020204" pitchFamily="34" charset="0"/>
                        </a:rPr>
                        <a:t>19</a:t>
                      </a:r>
                      <a:endParaRPr lang="en-US" sz="1700" dirty="0">
                        <a:latin typeface="Arial Black" panose="020B0A04020102020204" pitchFamily="34" charset="0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GB" sz="1700" u="none" strike="noStrike" dirty="0">
                          <a:latin typeface="Arial Black" panose="020B0A04020102020204" pitchFamily="34" charset="0"/>
                        </a:rPr>
                        <a:t>Uyo</a:t>
                      </a:r>
                      <a:endParaRPr lang="en-GB" sz="1700" b="0" i="0" u="none" strike="noStrike" dirty="0">
                        <a:solidFill>
                          <a:srgbClr val="000000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5953" marR="5953" marT="6804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150,000.00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610,000.00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406.67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5,150,000.00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30,000.00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0.58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  <a:tr h="437813">
                <a:tc>
                  <a:txBody>
                    <a:bodyPr/>
                    <a:lstStyle/>
                    <a:p>
                      <a:pPr algn="ctr"/>
                      <a:r>
                        <a:rPr lang="en-US" sz="1700" b="1" dirty="0">
                          <a:latin typeface="Arial Black" panose="020B0A04020102020204" pitchFamily="34" charset="0"/>
                        </a:rPr>
                        <a:t>20</a:t>
                      </a:r>
                      <a:endParaRPr lang="en-US" sz="1700" b="1" dirty="0">
                        <a:latin typeface="Arial Black" panose="020B0A04020102020204" pitchFamily="34" charset="0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GB" sz="1700" u="none" strike="noStrike" dirty="0">
                          <a:latin typeface="Arial Black" panose="020B0A04020102020204" pitchFamily="34" charset="0"/>
                        </a:rPr>
                        <a:t>Yenagoa</a:t>
                      </a:r>
                      <a:endParaRPr lang="en-GB" sz="1700" b="0" i="0" u="none" strike="noStrike" dirty="0">
                        <a:solidFill>
                          <a:srgbClr val="000000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5953" marR="5953" marT="6804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100,000.00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201,000.00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201.00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5,100,000.00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70,000.00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1.37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  <a:tr h="42260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21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GB" sz="1700" u="none" strike="noStrike" dirty="0">
                          <a:latin typeface="Arial Black" panose="020B0A04020102020204" pitchFamily="34" charset="0"/>
                        </a:rPr>
                        <a:t>Yola</a:t>
                      </a:r>
                      <a:endParaRPr lang="en-GB" sz="1700" b="0" i="0" u="none" strike="noStrike" dirty="0">
                        <a:solidFill>
                          <a:srgbClr val="000000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5953" marR="5953" marT="6804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50,000.00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63,000.00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126.00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5,050,000.00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308,000.00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6.10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  <a:tr h="545018"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Arial Black" panose="020B0A04020102020204" pitchFamily="34" charset="0"/>
                        </a:rPr>
                        <a:t>TOTAL</a:t>
                      </a:r>
                      <a:endParaRPr lang="en-US" sz="1800" b="1" dirty="0">
                        <a:latin typeface="Arial Black" panose="020B0A04020102020204" pitchFamily="34" charset="0"/>
                      </a:endParaRPr>
                    </a:p>
                  </a:txBody>
                  <a:tcPr marL="91439" marR="91439" anchor="ctr"/>
                </a:tc>
                <a:tc hMerge="1">
                  <a:tcPr marL="5953" marR="5953" marT="680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</a:rPr>
                        <a:t>2,440,000.00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</a:rPr>
                        <a:t>8,343,000.00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</a:rPr>
                        <a:t>8,827.71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</a:rPr>
                        <a:t>107,440,000.00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</a:rPr>
                        <a:t>5,210,796.63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</a:rPr>
                        <a:t>102.06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22AFA-50A3-4156-984F-61758D2C4411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4449" y="363071"/>
            <a:ext cx="9868348" cy="1139359"/>
          </a:xfrm>
        </p:spPr>
        <p:txBody>
          <a:bodyPr>
            <a:normAutofit/>
          </a:bodyPr>
          <a:lstStyle/>
          <a:p>
            <a:pPr algn="ctr"/>
            <a:r>
              <a:rPr lang="en-GB" sz="2400" dirty="0">
                <a:latin typeface="Arial Black" panose="020B0A04020102020204" pitchFamily="34" charset="0"/>
              </a:rPr>
              <a:t>COMPARATIVE ANALYSIS</a:t>
            </a:r>
            <a:r>
              <a:rPr lang="en-US" sz="2400" dirty="0">
                <a:latin typeface="Arial Black" panose="020B0A04020102020204" pitchFamily="34" charset="0"/>
              </a:rPr>
              <a:t> OF TRAINING CONTRIBUTION, COURSE FEE &amp; OTHER INCOME</a:t>
            </a:r>
            <a:br>
              <a:rPr lang="en-US" sz="2400" dirty="0">
                <a:latin typeface="Arial Black" panose="020B0A04020102020204" pitchFamily="34" charset="0"/>
              </a:rPr>
            </a:br>
            <a:r>
              <a:rPr lang="en-US" sz="2400" dirty="0">
                <a:latin typeface="Arial Black" panose="020B0A04020102020204" pitchFamily="34" charset="0"/>
              </a:rPr>
              <a:t>CATEGORY C</a:t>
            </a:r>
            <a:endParaRPr lang="en-US" sz="2400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</p:nvPr>
        </p:nvGraphicFramePr>
        <p:xfrm>
          <a:off x="838200" y="1502430"/>
          <a:ext cx="10515600" cy="4853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22AFA-50A3-4156-984F-61758D2C4411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282390" y="344214"/>
          <a:ext cx="11666019" cy="6012137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548181"/>
                <a:gridCol w="1362623"/>
                <a:gridCol w="1995336"/>
                <a:gridCol w="1755070"/>
                <a:gridCol w="1169894"/>
                <a:gridCol w="1788459"/>
                <a:gridCol w="1828800"/>
                <a:gridCol w="1217656"/>
              </a:tblGrid>
              <a:tr h="767731">
                <a:tc gridSpan="8">
                  <a:txBody>
                    <a:bodyPr/>
                    <a:lstStyle/>
                    <a:p>
                      <a:pPr marL="3657600" marR="0" indent="465455" algn="l" defTabSz="13163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GB" sz="2400" u="none" strike="noStrike" baseline="0" dirty="0">
                          <a:solidFill>
                            <a:srgbClr val="FF0000"/>
                          </a:solidFill>
                          <a:latin typeface="Arial Black" panose="020B0A04020102020204" pitchFamily="34" charset="0"/>
                        </a:rPr>
                        <a:t>COURSE FEE</a:t>
                      </a:r>
                      <a:endParaRPr lang="en-GB" sz="2400" u="none" strike="noStrike" baseline="0" dirty="0">
                        <a:solidFill>
                          <a:srgbClr val="FF0000"/>
                        </a:solidFill>
                        <a:latin typeface="Arial Black" panose="020B0A04020102020204" pitchFamily="34" charset="0"/>
                      </a:endParaRPr>
                    </a:p>
                    <a:p>
                      <a:pPr marL="3711575" marR="0" indent="279400" algn="l" defTabSz="13163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GB" sz="1800" b="1" u="none" strike="noStrike" dirty="0">
                          <a:latin typeface="Arial Black" panose="020B0A04020102020204" pitchFamily="34" charset="0"/>
                        </a:rPr>
                        <a:t>TRAINING</a:t>
                      </a:r>
                      <a:r>
                        <a:rPr lang="en-GB" sz="1800" b="1" u="none" strike="noStrike" baseline="0" dirty="0">
                          <a:latin typeface="Arial Black" panose="020B0A04020102020204" pitchFamily="34" charset="0"/>
                        </a:rPr>
                        <a:t> CENTRES</a:t>
                      </a:r>
                      <a:endParaRPr lang="en-US" sz="18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/>
                </a:tc>
                <a:tc hMerge="1">
                  <a:tcPr/>
                </a:tc>
                <a:tc hMerge="1">
                  <a:tcPr marL="99917" marR="99917" marT="64812" marB="64812"/>
                </a:tc>
                <a:tc hMerge="1">
                  <a:tcPr/>
                </a:tc>
                <a:tc hMerge="1">
                  <a:tcPr/>
                </a:tc>
                <a:tc hMerge="1">
                  <a:tcPr marL="99917" marR="99917" marT="64812" marB="64812"/>
                </a:tc>
                <a:tc hMerge="1">
                  <a:tcPr/>
                </a:tc>
                <a:tc hMerge="1">
                  <a:tcPr/>
                </a:tc>
              </a:tr>
              <a:tr h="381705">
                <a:tc rowSpan="2">
                  <a:txBody>
                    <a:bodyPr/>
                    <a:lstStyle/>
                    <a:p>
                      <a:pPr marL="0" indent="0" algn="ctr"/>
                      <a:r>
                        <a:rPr lang="en-US" sz="1700" b="1" dirty="0"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S/N</a:t>
                      </a:r>
                      <a:endParaRPr lang="en-US" sz="1700" b="1" dirty="0"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4330" marR="54330" marT="35242" marB="35242" anchor="ctr"/>
                </a:tc>
                <a:tc rowSpan="2">
                  <a:txBody>
                    <a:bodyPr/>
                    <a:lstStyle/>
                    <a:p>
                      <a:pPr marL="0" indent="0" algn="ctr"/>
                      <a:r>
                        <a:rPr lang="en-US" sz="1700" b="0" dirty="0"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TRAINING</a:t>
                      </a:r>
                      <a:r>
                        <a:rPr lang="en-US" sz="1700" b="0" baseline="0" dirty="0"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 CENTRE</a:t>
                      </a:r>
                      <a:endParaRPr lang="en-US" sz="1700" b="0" dirty="0"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4330" marR="54330" marT="35242" marB="35242"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700" b="1" dirty="0">
                          <a:latin typeface="Arial Black" panose="020B0A04020102020204" pitchFamily="34" charset="0"/>
                        </a:rPr>
                        <a:t>2023</a:t>
                      </a:r>
                      <a:endParaRPr lang="en-US" sz="1700" b="1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 hMerge="1">
                  <a:tcPr marL="54330" marR="54330" marT="35242" marB="35242"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700" b="1" dirty="0">
                          <a:latin typeface="Arial Black" panose="020B0A04020102020204" pitchFamily="34" charset="0"/>
                        </a:rPr>
                        <a:t>2024</a:t>
                      </a:r>
                      <a:endParaRPr lang="en-US" sz="1700" b="1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/>
                </a:tc>
                <a:tc hMerge="1">
                  <a:tcPr/>
                </a:tc>
                <a:tc hMerge="1">
                  <a:tcPr/>
                </a:tc>
              </a:tr>
              <a:tr h="799814">
                <a:tc vMerge="1">
                  <a:tcPr marL="99917" marR="99917" marT="64812" marB="64812"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700" b="0" dirty="0"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Annual</a:t>
                      </a:r>
                      <a:endParaRPr lang="en-US" sz="1700" b="0" baseline="0" dirty="0"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700" b="0" baseline="0" dirty="0"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Target</a:t>
                      </a:r>
                      <a:endParaRPr lang="en-US" sz="1700" b="0" dirty="0"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4330" marR="54330" marT="35242" marB="35242"/>
                </a:tc>
                <a:tc>
                  <a:txBody>
                    <a:bodyPr/>
                    <a:lstStyle/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7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Actual Achieved</a:t>
                      </a:r>
                      <a:endParaRPr lang="en-US" sz="17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108" marR="5108" marT="5108" marB="0"/>
                </a:tc>
                <a:tc>
                  <a:txBody>
                    <a:bodyPr/>
                    <a:lstStyle/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7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% </a:t>
                      </a:r>
                      <a:endParaRPr lang="en-US" sz="1700" b="1" u="none" strike="noStrike" dirty="0"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7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Achieved</a:t>
                      </a:r>
                      <a:endParaRPr lang="en-US" sz="17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108" marR="5108" marT="5108" marB="0"/>
                </a:tc>
                <a:tc>
                  <a:txBody>
                    <a:bodyPr/>
                    <a:lstStyle/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7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Annual</a:t>
                      </a:r>
                      <a:endParaRPr lang="en-US" sz="1700" b="1" u="none" strike="noStrike" baseline="0" dirty="0"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7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Target</a:t>
                      </a:r>
                      <a:endParaRPr lang="en-US" sz="17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108" marR="5108" marT="5108" marB="0"/>
                </a:tc>
                <a:tc>
                  <a:txBody>
                    <a:bodyPr/>
                    <a:lstStyle/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7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Actual Achieved</a:t>
                      </a:r>
                      <a:endParaRPr lang="en-US" sz="17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108" marR="5108" marT="5108" marB="0"/>
                </a:tc>
                <a:tc>
                  <a:txBody>
                    <a:bodyPr/>
                    <a:lstStyle/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7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% </a:t>
                      </a:r>
                      <a:endParaRPr lang="en-US" sz="1700" b="1" u="none" strike="noStrike" dirty="0"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7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Achieved</a:t>
                      </a:r>
                      <a:endParaRPr lang="en-US" sz="17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108" marR="5108" marT="5108" marB="0"/>
                </a:tc>
              </a:tr>
              <a:tr h="572718"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>
                          <a:latin typeface="Arial Black" panose="020B0A04020102020204" pitchFamily="34" charset="0"/>
                        </a:rPr>
                        <a:t>1</a:t>
                      </a:r>
                      <a:endParaRPr lang="en-GB" sz="1600" b="1" dirty="0">
                        <a:latin typeface="Arial Black" panose="020B0A04020102020204" pitchFamily="34" charset="0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latin typeface="Arial Black" panose="020B0A04020102020204" pitchFamily="34" charset="0"/>
                        </a:rPr>
                        <a:t>Centre</a:t>
                      </a:r>
                      <a:r>
                        <a:rPr lang="en-US" sz="1600" b="1" baseline="0" dirty="0">
                          <a:latin typeface="Arial Black" panose="020B0A04020102020204" pitchFamily="34" charset="0"/>
                        </a:rPr>
                        <a:t> for </a:t>
                      </a:r>
                      <a:r>
                        <a:rPr lang="en-US" sz="1600" b="1" dirty="0">
                          <a:latin typeface="Arial Black" panose="020B0A04020102020204" pitchFamily="34" charset="0"/>
                        </a:rPr>
                        <a:t>Excellence</a:t>
                      </a:r>
                      <a:endParaRPr lang="en-US" sz="1600" b="1" dirty="0">
                        <a:latin typeface="Arial Black" panose="020B0A04020102020204" pitchFamily="34" charset="0"/>
                      </a:endParaRPr>
                    </a:p>
                  </a:txBody>
                  <a:tcPr marL="5953" marR="5953" marT="6804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35,000,000.00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8,965,000.00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180" marR="5180" marT="517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25.61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85,000,000.00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-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180" marR="5180" marT="517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-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  <a:tr h="801548"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>
                          <a:latin typeface="Arial Black" panose="020B0A04020102020204" pitchFamily="34" charset="0"/>
                        </a:rPr>
                        <a:t>2</a:t>
                      </a:r>
                      <a:endParaRPr lang="en-GB" sz="1600" b="1" dirty="0">
                        <a:latin typeface="Arial Black" panose="020B0A04020102020204" pitchFamily="34" charset="0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latin typeface="Arial Black" panose="020B0A04020102020204" pitchFamily="34" charset="0"/>
                        </a:rPr>
                        <a:t>ISTC </a:t>
                      </a:r>
                      <a:r>
                        <a:rPr lang="en-US" sz="1600" b="1" dirty="0" err="1">
                          <a:latin typeface="Arial Black" panose="020B0A04020102020204" pitchFamily="34" charset="0"/>
                        </a:rPr>
                        <a:t>Ikeja</a:t>
                      </a:r>
                      <a:endParaRPr lang="en-US" sz="1600" b="1" dirty="0">
                        <a:latin typeface="Arial Black" panose="020B0A04020102020204" pitchFamily="34" charset="0"/>
                      </a:endParaRPr>
                    </a:p>
                  </a:txBody>
                  <a:tcPr marL="5953" marR="5953" marT="6804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46,000,000.00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30,610,290.70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180" marR="5180" marT="517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66.54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106,000,000.00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45,196,000.00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180" marR="5180" marT="517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42.64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  <a:tr h="388325"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>
                          <a:latin typeface="Arial Black" panose="020B0A04020102020204" pitchFamily="34" charset="0"/>
                        </a:rPr>
                        <a:t>3</a:t>
                      </a:r>
                      <a:endParaRPr lang="en-GB" sz="1600" b="1" dirty="0">
                        <a:latin typeface="Arial Black" panose="020B0A04020102020204" pitchFamily="34" charset="0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latin typeface="Arial Black" panose="020B0A04020102020204" pitchFamily="34" charset="0"/>
                        </a:rPr>
                        <a:t>ISTC</a:t>
                      </a:r>
                      <a:r>
                        <a:rPr lang="en-US" sz="1600" b="1" baseline="0" dirty="0">
                          <a:latin typeface="Arial Black" panose="020B0A04020102020204" pitchFamily="34" charset="0"/>
                        </a:rPr>
                        <a:t> Kano</a:t>
                      </a:r>
                      <a:endParaRPr lang="en-US" sz="1600" b="1" dirty="0">
                        <a:latin typeface="Arial Black" panose="020B0A04020102020204" pitchFamily="34" charset="0"/>
                      </a:endParaRPr>
                    </a:p>
                  </a:txBody>
                  <a:tcPr marL="5953" marR="5953" marT="6804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35,000,000.00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7,948,620.00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180" marR="5180" marT="517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22.71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85,000,000.00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10,650,000.00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180" marR="5180" marT="517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12.53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  <a:tr h="433417"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>
                          <a:latin typeface="Arial Black" panose="020B0A04020102020204" pitchFamily="34" charset="0"/>
                        </a:rPr>
                        <a:t>4</a:t>
                      </a:r>
                      <a:endParaRPr lang="en-GB" sz="1600" b="1" dirty="0">
                        <a:latin typeface="Arial Black" panose="020B0A04020102020204" pitchFamily="34" charset="0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latin typeface="Arial Black" panose="020B0A04020102020204" pitchFamily="34" charset="0"/>
                        </a:rPr>
                        <a:t>ISTC</a:t>
                      </a:r>
                      <a:r>
                        <a:rPr lang="en-US" sz="1600" b="1" baseline="0" dirty="0">
                          <a:latin typeface="Arial Black" panose="020B0A04020102020204" pitchFamily="34" charset="0"/>
                        </a:rPr>
                        <a:t> </a:t>
                      </a:r>
                      <a:r>
                        <a:rPr lang="en-US" sz="1600" b="1" baseline="0" dirty="0" err="1">
                          <a:latin typeface="Arial Black" panose="020B0A04020102020204" pitchFamily="34" charset="0"/>
                        </a:rPr>
                        <a:t>Lokoja</a:t>
                      </a:r>
                      <a:endParaRPr lang="en-US" sz="1600" b="1" dirty="0">
                        <a:latin typeface="Arial Black" panose="020B0A04020102020204" pitchFamily="34" charset="0"/>
                      </a:endParaRPr>
                    </a:p>
                  </a:txBody>
                  <a:tcPr marL="5953" marR="5953" marT="6804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16,000,000.00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8,037,500.00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50.23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56,000,000.00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8,035,000.00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14.35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  <a:tr h="536683"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>
                          <a:latin typeface="Arial Black" panose="020B0A04020102020204" pitchFamily="34" charset="0"/>
                        </a:rPr>
                        <a:t>5</a:t>
                      </a:r>
                      <a:endParaRPr lang="en-GB" sz="1600" b="1" dirty="0">
                        <a:latin typeface="Arial Black" panose="020B0A04020102020204" pitchFamily="34" charset="0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latin typeface="Arial Black" panose="020B0A04020102020204" pitchFamily="34" charset="0"/>
                        </a:rPr>
                        <a:t>MSTC Abuja</a:t>
                      </a:r>
                      <a:endParaRPr lang="en-US" sz="1600" b="1" dirty="0">
                        <a:latin typeface="Arial Black" panose="020B0A04020102020204" pitchFamily="34" charset="0"/>
                      </a:endParaRPr>
                    </a:p>
                  </a:txBody>
                  <a:tcPr marL="5953" marR="5953" marT="6804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181,100,000.00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79,180,813.95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43.72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248,100,000.00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28,300,000.00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11.41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  <a:tr h="601785"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>
                          <a:latin typeface="Arial Black" panose="020B0A04020102020204" pitchFamily="34" charset="0"/>
                        </a:rPr>
                        <a:t>6</a:t>
                      </a:r>
                      <a:endParaRPr lang="en-GB" sz="1600" b="1" dirty="0">
                        <a:latin typeface="Arial Black" panose="020B0A04020102020204" pitchFamily="34" charset="0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latin typeface="Arial Black" panose="020B0A04020102020204" pitchFamily="34" charset="0"/>
                        </a:rPr>
                        <a:t>Staff School</a:t>
                      </a:r>
                      <a:endParaRPr lang="en-US" sz="1600" b="1" dirty="0">
                        <a:latin typeface="Arial Black" panose="020B0A04020102020204" pitchFamily="34" charset="0"/>
                      </a:endParaRPr>
                    </a:p>
                  </a:txBody>
                  <a:tcPr marL="5953" marR="5953" marT="6804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-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78,036,000.00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-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-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80,570,900.00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-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  <a:tr h="728411">
                <a:tc gridSpan="2">
                  <a:txBody>
                    <a:bodyPr/>
                    <a:lstStyle/>
                    <a:p>
                      <a:pPr algn="l"/>
                      <a:r>
                        <a:rPr lang="en-GB" sz="1700" b="1" dirty="0">
                          <a:latin typeface="Arial Black" panose="020B0A04020102020204" pitchFamily="34" charset="0"/>
                        </a:rPr>
                        <a:t>TOTAL</a:t>
                      </a:r>
                      <a:endParaRPr lang="en-GB" sz="1700" b="1" dirty="0">
                        <a:latin typeface="Arial Black" panose="020B0A04020102020204" pitchFamily="34" charset="0"/>
                      </a:endParaRPr>
                    </a:p>
                  </a:txBody>
                  <a:tcPr marL="91439" marR="91439" anchor="ctr"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</a:rPr>
                        <a:t>313,100,000.00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</a:rPr>
                        <a:t>212,778,224.65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</a:rPr>
                        <a:t>208.81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</a:rPr>
                        <a:t>580,100,000.00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</a:rPr>
                        <a:t>1,727,519.00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</a:rPr>
                        <a:t>80.93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22AFA-50A3-4156-984F-61758D2C4411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313900" y="324785"/>
          <a:ext cx="11670282" cy="5894469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592637"/>
                <a:gridCol w="1406357"/>
                <a:gridCol w="1926597"/>
                <a:gridCol w="1919262"/>
                <a:gridCol w="981635"/>
                <a:gridCol w="1959048"/>
                <a:gridCol w="1859917"/>
                <a:gridCol w="1024829"/>
              </a:tblGrid>
              <a:tr h="679556">
                <a:tc gridSpan="8">
                  <a:txBody>
                    <a:bodyPr/>
                    <a:lstStyle/>
                    <a:p>
                      <a:pPr marL="3832225" marR="0" indent="409575" algn="l" defTabSz="13163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GB" sz="2000" u="none" strike="noStrike" baseline="0" dirty="0">
                          <a:solidFill>
                            <a:srgbClr val="FF0000"/>
                          </a:solidFill>
                          <a:latin typeface="Arial Black" panose="020B0A04020102020204" pitchFamily="34" charset="0"/>
                        </a:rPr>
                        <a:t>OTHER INCOME</a:t>
                      </a:r>
                      <a:endParaRPr lang="en-GB" sz="2000" u="none" strike="noStrike" baseline="0" dirty="0">
                        <a:solidFill>
                          <a:srgbClr val="FF0000"/>
                        </a:solidFill>
                        <a:latin typeface="Arial Black" panose="020B0A04020102020204" pitchFamily="34" charset="0"/>
                      </a:endParaRPr>
                    </a:p>
                    <a:p>
                      <a:pPr marL="4006850" marR="0" indent="0" algn="l" defTabSz="13163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GB" sz="2000" u="none" strike="noStrike" baseline="0" dirty="0">
                          <a:latin typeface="Arial Black" panose="020B0A04020102020204" pitchFamily="34" charset="0"/>
                        </a:rPr>
                        <a:t>TRAINING CENTRES</a:t>
                      </a:r>
                      <a:endParaRPr lang="en-US" sz="2000" dirty="0">
                        <a:latin typeface="Arial Black" panose="020B0A04020102020204" pitchFamily="34" charset="0"/>
                      </a:endParaRPr>
                    </a:p>
                    <a:p>
                      <a:pPr marL="3549650" marR="0" indent="-3146425" algn="l" defTabSz="13163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20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/>
                </a:tc>
                <a:tc hMerge="1">
                  <a:tcPr/>
                </a:tc>
                <a:tc hMerge="1">
                  <a:tcPr marL="99917" marR="99917" marT="64812" marB="64812"/>
                </a:tc>
                <a:tc hMerge="1">
                  <a:tcPr/>
                </a:tc>
                <a:tc hMerge="1">
                  <a:tcPr/>
                </a:tc>
                <a:tc hMerge="1">
                  <a:tcPr marL="99917" marR="99917" marT="64812" marB="64812"/>
                </a:tc>
                <a:tc hMerge="1">
                  <a:tcPr/>
                </a:tc>
                <a:tc hMerge="1">
                  <a:tcPr/>
                </a:tc>
              </a:tr>
              <a:tr h="385197">
                <a:tc rowSpan="2">
                  <a:txBody>
                    <a:bodyPr/>
                    <a:lstStyle/>
                    <a:p>
                      <a:pPr marL="0" indent="0" algn="ctr"/>
                      <a:r>
                        <a:rPr lang="en-US" sz="1700" b="1" dirty="0"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S/N</a:t>
                      </a:r>
                      <a:endParaRPr lang="en-US" sz="1700" b="1" dirty="0"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4330" marR="54330" marT="35242" marB="35242" anchor="ctr"/>
                </a:tc>
                <a:tc rowSpan="2">
                  <a:txBody>
                    <a:bodyPr/>
                    <a:lstStyle/>
                    <a:p>
                      <a:pPr marL="0" indent="0" algn="ctr"/>
                      <a:r>
                        <a:rPr lang="en-US" sz="1700" b="1" dirty="0"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TRAINING CENTRE</a:t>
                      </a:r>
                      <a:endParaRPr lang="en-US" sz="1700" b="1" dirty="0"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4330" marR="54330" marT="35242" marB="35242"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700" b="1" dirty="0">
                          <a:latin typeface="Arial Black" panose="020B0A04020102020204" pitchFamily="34" charset="0"/>
                        </a:rPr>
                        <a:t>2023</a:t>
                      </a:r>
                      <a:endParaRPr lang="en-US" sz="1700" b="1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 hMerge="1">
                  <a:tcPr marL="54330" marR="54330" marT="35242" marB="35242"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700" b="1" dirty="0">
                          <a:latin typeface="Arial Black" panose="020B0A04020102020204" pitchFamily="34" charset="0"/>
                        </a:rPr>
                        <a:t>2024</a:t>
                      </a:r>
                      <a:endParaRPr lang="en-US" sz="1700" b="1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/>
                </a:tc>
                <a:tc hMerge="1">
                  <a:tcPr/>
                </a:tc>
                <a:tc hMerge="1">
                  <a:tcPr/>
                </a:tc>
              </a:tr>
              <a:tr h="749029">
                <a:tc vMerge="1">
                  <a:tcPr marL="99917" marR="99917" marT="64812" marB="64812"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700" b="1" dirty="0"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Annual</a:t>
                      </a:r>
                      <a:endParaRPr lang="en-US" sz="1700" b="1" baseline="0" dirty="0"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700" b="1" baseline="0" dirty="0"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Target</a:t>
                      </a:r>
                      <a:endParaRPr lang="en-US" sz="1700" b="1" dirty="0"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7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Actual Achieved</a:t>
                      </a:r>
                      <a:endParaRPr lang="en-US" sz="17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108" marR="5108" marT="5108" marB="0" anchor="ctr"/>
                </a:tc>
                <a:tc>
                  <a:txBody>
                    <a:bodyPr/>
                    <a:lstStyle/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7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% </a:t>
                      </a:r>
                      <a:endParaRPr lang="en-US" sz="1700" b="1" u="none" strike="noStrike" dirty="0"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5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Achieved</a:t>
                      </a:r>
                      <a:endParaRPr lang="en-US" sz="15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108" marR="5108" marT="5108" marB="0" anchor="ctr"/>
                </a:tc>
                <a:tc>
                  <a:txBody>
                    <a:bodyPr/>
                    <a:lstStyle/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7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Annual</a:t>
                      </a:r>
                      <a:endParaRPr lang="en-US" sz="1700" b="1" u="none" strike="noStrike" baseline="0" dirty="0"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7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Target</a:t>
                      </a:r>
                      <a:endParaRPr lang="en-US" sz="17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108" marR="5108" marT="5108" marB="0" anchor="ctr"/>
                </a:tc>
                <a:tc>
                  <a:txBody>
                    <a:bodyPr/>
                    <a:lstStyle/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7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Actual Achieved</a:t>
                      </a:r>
                      <a:endParaRPr lang="en-US" sz="17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108" marR="5108" marT="5108" marB="0" anchor="ctr"/>
                </a:tc>
                <a:tc>
                  <a:txBody>
                    <a:bodyPr/>
                    <a:lstStyle/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5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% </a:t>
                      </a:r>
                      <a:endParaRPr lang="en-US" sz="1500" b="1" u="none" strike="noStrike" dirty="0"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5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Achieved</a:t>
                      </a:r>
                      <a:endParaRPr lang="en-US" sz="15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108" marR="5108" marT="5108" marB="0" anchor="ctr"/>
                </a:tc>
              </a:tr>
              <a:tr h="344818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latin typeface="Arial Black" panose="020B0A04020102020204" pitchFamily="34" charset="0"/>
                        </a:rPr>
                        <a:t>1</a:t>
                      </a:r>
                      <a:endParaRPr lang="en-GB" sz="1600" b="0" dirty="0">
                        <a:latin typeface="Arial Black" panose="020B0A04020102020204" pitchFamily="34" charset="0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>
                          <a:latin typeface="Arial Black" panose="020B0A04020102020204" pitchFamily="34" charset="0"/>
                        </a:rPr>
                        <a:t>C.F.E</a:t>
                      </a:r>
                      <a:endParaRPr lang="en-US" sz="1600" b="0" dirty="0">
                        <a:latin typeface="Arial Black" panose="020B0A04020102020204" pitchFamily="34" charset="0"/>
                      </a:endParaRPr>
                    </a:p>
                  </a:txBody>
                  <a:tcPr marL="5953" marR="5953" marT="6804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15,000,000.00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2,714,400.00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180" marR="5180" marT="517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18.10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25,000,000.00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1,385,000.00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180" marR="5180" marT="517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5.54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  <a:tr h="477488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latin typeface="Arial Black" panose="020B0A04020102020204" pitchFamily="34" charset="0"/>
                        </a:rPr>
                        <a:t>2</a:t>
                      </a:r>
                      <a:endParaRPr lang="en-GB" sz="1600" b="0" dirty="0">
                        <a:latin typeface="Arial Black" panose="020B0A04020102020204" pitchFamily="34" charset="0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>
                          <a:latin typeface="Arial Black" panose="020B0A04020102020204" pitchFamily="34" charset="0"/>
                        </a:rPr>
                        <a:t>ISTC </a:t>
                      </a:r>
                      <a:r>
                        <a:rPr lang="en-US" sz="1600" b="0" dirty="0" err="1">
                          <a:latin typeface="Arial Black" panose="020B0A04020102020204" pitchFamily="34" charset="0"/>
                        </a:rPr>
                        <a:t>Ikeja</a:t>
                      </a:r>
                      <a:endParaRPr lang="en-US" sz="1600" b="0" dirty="0">
                        <a:latin typeface="Arial Black" panose="020B0A04020102020204" pitchFamily="34" charset="0"/>
                      </a:endParaRPr>
                    </a:p>
                  </a:txBody>
                  <a:tcPr marL="5953" marR="5953" marT="6804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2,000,000.00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2,089,961.46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180" marR="5180" marT="517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104.50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50,000,000.00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1,979,322.99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180" marR="5180" marT="517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3.96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  <a:tr h="467926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latin typeface="Arial Black" panose="020B0A04020102020204" pitchFamily="34" charset="0"/>
                        </a:rPr>
                        <a:t>3</a:t>
                      </a:r>
                      <a:endParaRPr lang="en-GB" sz="1600" b="0" dirty="0">
                        <a:latin typeface="Arial Black" panose="020B0A04020102020204" pitchFamily="34" charset="0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>
                          <a:latin typeface="Arial Black" panose="020B0A04020102020204" pitchFamily="34" charset="0"/>
                        </a:rPr>
                        <a:t>ISTC</a:t>
                      </a:r>
                      <a:r>
                        <a:rPr lang="en-US" sz="1600" b="0" baseline="0" dirty="0">
                          <a:latin typeface="Arial Black" panose="020B0A04020102020204" pitchFamily="34" charset="0"/>
                        </a:rPr>
                        <a:t> Kano</a:t>
                      </a:r>
                      <a:endParaRPr lang="en-US" sz="1600" b="0" dirty="0">
                        <a:latin typeface="Arial Black" panose="020B0A04020102020204" pitchFamily="34" charset="0"/>
                      </a:endParaRPr>
                    </a:p>
                  </a:txBody>
                  <a:tcPr marL="5953" marR="5953" marT="6804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4,000,000.00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1,226,000.00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30.65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50,000,000.00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2,211,000.00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4.42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  <a:tr h="467926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latin typeface="Arial Black" panose="020B0A04020102020204" pitchFamily="34" charset="0"/>
                        </a:rPr>
                        <a:t>4</a:t>
                      </a:r>
                      <a:endParaRPr lang="en-GB" sz="1600" b="0" dirty="0">
                        <a:latin typeface="Arial Black" panose="020B0A04020102020204" pitchFamily="34" charset="0"/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>
                          <a:latin typeface="Arial Black" panose="020B0A04020102020204" pitchFamily="34" charset="0"/>
                        </a:rPr>
                        <a:t>ISTC</a:t>
                      </a:r>
                      <a:r>
                        <a:rPr lang="en-US" sz="1600" b="0" baseline="0" dirty="0">
                          <a:latin typeface="Arial Black" panose="020B0A04020102020204" pitchFamily="34" charset="0"/>
                        </a:rPr>
                        <a:t> </a:t>
                      </a:r>
                      <a:r>
                        <a:rPr lang="en-US" sz="1600" b="0" baseline="0" dirty="0" err="1">
                          <a:latin typeface="Arial Black" panose="020B0A04020102020204" pitchFamily="34" charset="0"/>
                        </a:rPr>
                        <a:t>Lokoja</a:t>
                      </a:r>
                      <a:endParaRPr lang="en-US" sz="1600" b="0" dirty="0">
                        <a:latin typeface="Arial Black" panose="020B0A04020102020204" pitchFamily="34" charset="0"/>
                      </a:endParaRPr>
                    </a:p>
                  </a:txBody>
                  <a:tcPr marL="5953" marR="5953" marT="6804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2,500,000.00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1,017,800.00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40.71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50,000,000.00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520,000.00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1.04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  <a:tr h="516425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latin typeface="Arial Black" panose="020B0A04020102020204" pitchFamily="34" charset="0"/>
                        </a:rPr>
                        <a:t>5</a:t>
                      </a:r>
                      <a:endParaRPr lang="en-GB" sz="1600" b="0" dirty="0">
                        <a:latin typeface="Arial Black" panose="020B0A04020102020204" pitchFamily="34" charset="0"/>
                      </a:endParaRPr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>
                          <a:latin typeface="Arial Black" panose="020B0A04020102020204" pitchFamily="34" charset="0"/>
                        </a:rPr>
                        <a:t>MSTC Abuja</a:t>
                      </a:r>
                      <a:endParaRPr lang="en-US" sz="1600" b="0" dirty="0">
                        <a:latin typeface="Arial Black" panose="020B0A04020102020204" pitchFamily="34" charset="0"/>
                      </a:endParaRPr>
                    </a:p>
                  </a:txBody>
                  <a:tcPr marL="5953" marR="5953" marT="6804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5,000,000.00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2,601,038.75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52.02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50,000,000.00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722,000.00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1.44-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  <a:tr h="516425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latin typeface="Arial Black" panose="020B0A04020102020204" pitchFamily="34" charset="0"/>
                        </a:rPr>
                        <a:t>6</a:t>
                      </a:r>
                      <a:endParaRPr lang="en-GB" sz="1600" b="0" dirty="0">
                        <a:latin typeface="Arial Black" panose="020B0A04020102020204" pitchFamily="34" charset="0"/>
                      </a:endParaRPr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>
                          <a:latin typeface="Arial Black" panose="020B0A04020102020204" pitchFamily="34" charset="0"/>
                        </a:rPr>
                        <a:t>Staff</a:t>
                      </a:r>
                      <a:r>
                        <a:rPr lang="en-US" sz="1600" b="0" baseline="0" dirty="0">
                          <a:latin typeface="Arial Black" panose="020B0A04020102020204" pitchFamily="34" charset="0"/>
                        </a:rPr>
                        <a:t> School</a:t>
                      </a:r>
                      <a:endParaRPr lang="en-US" sz="1600" b="0" dirty="0">
                        <a:latin typeface="Arial Black" panose="020B0A04020102020204" pitchFamily="34" charset="0"/>
                      </a:endParaRPr>
                    </a:p>
                  </a:txBody>
                  <a:tcPr marL="5953" marR="5953" marT="6804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2,000,000.00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1,819,800.00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90.99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-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1,383,800.00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-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  <a:tr h="516425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latin typeface="Arial Black" panose="020B0A04020102020204" pitchFamily="34" charset="0"/>
                        </a:rPr>
                        <a:t>7</a:t>
                      </a:r>
                      <a:endParaRPr lang="en-GB" sz="1600" b="0" dirty="0">
                        <a:latin typeface="Arial Black" panose="020B0A04020102020204" pitchFamily="34" charset="0"/>
                      </a:endParaRPr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>
                          <a:latin typeface="Arial Black" panose="020B0A04020102020204" pitchFamily="34" charset="0"/>
                        </a:rPr>
                        <a:t>Corporate Office Abuja</a:t>
                      </a:r>
                      <a:endParaRPr lang="en-US" sz="1600" b="0" dirty="0">
                        <a:latin typeface="Arial Black" panose="020B0A04020102020204" pitchFamily="34" charset="0"/>
                      </a:endParaRPr>
                    </a:p>
                  </a:txBody>
                  <a:tcPr marL="5953" marR="5953" marT="6804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100,000,000.00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60,045,720.00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180" marR="5180" marT="517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60.05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-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19,604,720.27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180" marR="5180" marT="517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-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  <a:tr h="467926">
                <a:tc gridSpan="2">
                  <a:txBody>
                    <a:bodyPr/>
                    <a:lstStyle/>
                    <a:p>
                      <a:pPr algn="ctr"/>
                      <a:r>
                        <a:rPr lang="en-GB" sz="1700" b="0" dirty="0">
                          <a:latin typeface="Arial Black" panose="020B0A04020102020204" pitchFamily="34" charset="0"/>
                        </a:rPr>
                        <a:t>TOTAL</a:t>
                      </a:r>
                      <a:endParaRPr lang="en-GB" sz="1700" b="0" dirty="0">
                        <a:latin typeface="Arial Black" panose="020B0A04020102020204" pitchFamily="34" charset="0"/>
                      </a:endParaRPr>
                    </a:p>
                  </a:txBody>
                  <a:tcPr marL="91439" marR="91439" anchor="ctr"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</a:rPr>
                        <a:t>130,500,000.00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</a:rPr>
                        <a:t>71,514,720.21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</a:rPr>
                        <a:t>397.02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</a:rPr>
                        <a:t>225,000,000.00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</a:rPr>
                        <a:t>27,805,843.26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</a:rPr>
                        <a:t>16.4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22AFA-50A3-4156-984F-61758D2C4411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8955" y="365125"/>
            <a:ext cx="10271760" cy="1325563"/>
          </a:xfrm>
        </p:spPr>
        <p:txBody>
          <a:bodyPr>
            <a:normAutofit/>
          </a:bodyPr>
          <a:lstStyle/>
          <a:p>
            <a:pPr algn="ctr"/>
            <a:r>
              <a:rPr lang="en-GB" sz="2400" dirty="0">
                <a:latin typeface="Arial Black" panose="020B0A04020102020204" pitchFamily="34" charset="0"/>
              </a:rPr>
              <a:t>COMPARATIVE ANALYSIS</a:t>
            </a:r>
            <a:r>
              <a:rPr lang="en-US" sz="2400" dirty="0">
                <a:latin typeface="Arial Black" panose="020B0A04020102020204" pitchFamily="34" charset="0"/>
              </a:rPr>
              <a:t> OF TRAINING CENTRES’</a:t>
            </a:r>
            <a:br>
              <a:rPr lang="en-US" sz="2400" dirty="0">
                <a:latin typeface="Arial Black" panose="020B0A04020102020204" pitchFamily="34" charset="0"/>
              </a:rPr>
            </a:br>
            <a:r>
              <a:rPr lang="en-US" sz="2400" dirty="0">
                <a:latin typeface="Arial Black" panose="020B0A04020102020204" pitchFamily="34" charset="0"/>
              </a:rPr>
              <a:t>COURSE FEE &amp; OTHER INCOME </a:t>
            </a:r>
            <a:endParaRPr lang="en-US" sz="2400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22AFA-50A3-4156-984F-61758D2C4411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15004</Words>
  <Application>WPS Presentation</Application>
  <PresentationFormat>Widescreen</PresentationFormat>
  <Paragraphs>3206</Paragraphs>
  <Slides>19</Slides>
  <Notes>35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41" baseType="lpstr">
      <vt:lpstr>Arial</vt:lpstr>
      <vt:lpstr>SimSun</vt:lpstr>
      <vt:lpstr>Wingdings</vt:lpstr>
      <vt:lpstr>Monotype Corsiva</vt:lpstr>
      <vt:lpstr>Mongolian Baiti</vt:lpstr>
      <vt:lpstr>Copperplate Gothic Light</vt:lpstr>
      <vt:lpstr>Segoe Print</vt:lpstr>
      <vt:lpstr>Aharoni</vt:lpstr>
      <vt:lpstr>Arial Unicode MS</vt:lpstr>
      <vt:lpstr>MS PGothic</vt:lpstr>
      <vt:lpstr>Calibri</vt:lpstr>
      <vt:lpstr>Tahoma</vt:lpstr>
      <vt:lpstr>Garamond</vt:lpstr>
      <vt:lpstr>PMingLiU-ExtB</vt:lpstr>
      <vt:lpstr>Yu Gothic UI Semibold</vt:lpstr>
      <vt:lpstr>Microsoft YaHei</vt:lpstr>
      <vt:lpstr>Arial Unicode MS</vt:lpstr>
      <vt:lpstr>Calibri Light</vt:lpstr>
      <vt:lpstr>Arial Black</vt:lpstr>
      <vt:lpstr>Bell MT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  <vt:lpstr>COMPARATIVE ANALYSIS OF TRAINING CONTRIBUTION, COURSE FEE &amp; OTHER INCOME CATEGORY A</vt:lpstr>
      <vt:lpstr>PowerPoint 演示文稿</vt:lpstr>
      <vt:lpstr>PowerPoint 演示文稿</vt:lpstr>
      <vt:lpstr>PowerPoint 演示文稿</vt:lpstr>
      <vt:lpstr>COMPARATIVE ANALYSIS OF TRAINING CONTRIBUTION, COURSE FEE &amp; OTHER INCOME CATEGORY B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COMPARATIVE ANALYSIS OF TRAINING CONTRIBUTION, COURSE FEE &amp; OTHER INCOME CATEGORY C</vt:lpstr>
      <vt:lpstr>PowerPoint 演示文稿</vt:lpstr>
      <vt:lpstr>PowerPoint 演示文稿</vt:lpstr>
      <vt:lpstr>COMPARATIVE ANALYSIS OF TRAINING CENTRES’ COURSE FEE &amp; OTHER INCOME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Azubuko Peter</cp:lastModifiedBy>
  <cp:revision>2350</cp:revision>
  <cp:lastPrinted>2024-04-18T08:05:00Z</cp:lastPrinted>
  <dcterms:created xsi:type="dcterms:W3CDTF">2021-09-06T19:10:00Z</dcterms:created>
  <dcterms:modified xsi:type="dcterms:W3CDTF">2026-07-13T10:51:06Z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07F78288D0C647648A470010B465E42B_13</vt:lpwstr>
  </property>
  <property fmtid="{D5CDD505-2E9C-101B-9397-08002B2CF9AE}" pid="3" name="KSOProductBuildVer">
    <vt:lpwstr>1033-12.1.0.26880</vt:lpwstr>
  </property>
</Properties>
</file>