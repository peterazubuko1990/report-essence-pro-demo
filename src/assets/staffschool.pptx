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0" r:id="rId1"/>
  </p:sldMasterIdLst>
  <p:notesMasterIdLst>
    <p:notesMasterId r:id="rId3"/>
  </p:notesMasterIdLst>
  <p:handoutMasterIdLst>
    <p:handoutMasterId r:id="rId4"/>
  </p:handoutMasterIdLst>
  <p:sldIdLst>
    <p:sldId id="564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os JangWaheo" initials="GJ" lastIdx="2" clrIdx="0">
    <p:extLst>
      <p:ext uri="{19B8F6BF-5375-455C-9EA6-DF929625EA0E}">
        <p15:presenceInfo xmlns:p15="http://schemas.microsoft.com/office/powerpoint/2012/main" userId="227552aba56cba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2" autoAdjust="0"/>
    <p:restoredTop sz="94434" autoAdjust="0"/>
  </p:normalViewPr>
  <p:slideViewPr>
    <p:cSldViewPr snapToGrid="0">
      <p:cViewPr varScale="1">
        <p:scale>
          <a:sx n="72" d="100"/>
          <a:sy n="72" d="100"/>
        </p:scale>
        <p:origin x="45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4" d="100"/>
        <a:sy n="124" d="100"/>
      </p:scale>
      <p:origin x="0" y="-333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5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6" y="5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r">
              <a:defRPr sz="1300"/>
            </a:lvl1pPr>
          </a:lstStyle>
          <a:p>
            <a:fld id="{97A0745A-FB58-4F95-B051-39E0B6D431C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680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6" y="8829680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r">
              <a:defRPr sz="1300"/>
            </a:lvl1pPr>
          </a:lstStyle>
          <a:p>
            <a:fld id="{97E14528-FBFE-482F-8AF4-BB4830DB2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368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300"/>
            </a:lvl1pPr>
          </a:lstStyle>
          <a:p>
            <a:fld id="{C472CFB3-4041-46C9-AE69-D2C0C4A13CB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6888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80" rIns="93159" bIns="465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4"/>
            <a:ext cx="5608320" cy="3660458"/>
          </a:xfrm>
          <a:prstGeom prst="rect">
            <a:avLst/>
          </a:prstGeom>
        </p:spPr>
        <p:txBody>
          <a:bodyPr vert="horz" lIns="93159" tIns="46580" rIns="93159" bIns="465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73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73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300"/>
            </a:lvl1pPr>
          </a:lstStyle>
          <a:p>
            <a:fld id="{A4480885-5E4E-4DEE-BFCD-BDD8A9D05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8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480885-5E4E-4DEE-BFCD-BDD8A9D051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3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8BEB-DE5D-4A65-9DFF-DB5527D62AF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818470"/>
      </p:ext>
    </p:extLst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7336-F92F-4BC2-84D8-C4A9069116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592532"/>
      </p:ext>
    </p:extLst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C913E-12A4-409D-BDA7-6F47B50E19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463687"/>
      </p:ext>
    </p:extLst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895F-D947-40F5-ACE4-2C8C6D8026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893986"/>
      </p:ext>
    </p:extLst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D58-7E8C-410F-BC9F-E2542138CA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355204"/>
      </p:ext>
    </p:extLst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80F63-EA3E-4ABD-B703-80F1CA1EEAA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221619"/>
      </p:ext>
    </p:extLst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11922-3866-4271-B001-A7C81F8D08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601701"/>
      </p:ext>
    </p:extLst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3E66-3B0F-467E-ACD9-C151CBC43F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973464"/>
      </p:ext>
    </p:extLst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71EA-EC0A-4878-BEDE-EA4C0691EB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051674"/>
      </p:ext>
    </p:extLst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72035-4702-4C81-B0B0-ECF3F443C72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185490"/>
      </p:ext>
    </p:extLst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0EBCF-3C48-42DC-AB24-8CEBDF0529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7/26/2026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072339"/>
      </p:ext>
    </p:extLst>
  </p:cSld>
  <p:clrMapOvr>
    <a:masterClrMapping/>
  </p:clrMapOvr>
  <p:transition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EE62-0744-4460-A116-4BA4EF7C423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6F188-32B8-47A2-B323-867F206814E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9F2E21-6AE7-3635-2BB9-E085DF1FFC3E}"/>
              </a:ext>
            </a:extLst>
          </p:cNvPr>
          <p:cNvGrpSpPr/>
          <p:nvPr userDrawn="1"/>
        </p:nvGrpSpPr>
        <p:grpSpPr>
          <a:xfrm>
            <a:off x="0" y="-5443"/>
            <a:ext cx="12192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9B7249-0A73-3732-CBD9-116E4B819085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AA4D84-C825-D7C2-614D-C43146D6BD68}"/>
                </a:ext>
              </a:extLst>
            </p:cNvPr>
            <p:cNvSpPr/>
            <p:nvPr/>
          </p:nvSpPr>
          <p:spPr>
            <a:xfrm>
              <a:off x="76200" y="76200"/>
              <a:ext cx="12028714" cy="6694714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B6D29A-0AD1-96E4-26C7-5B469E5395CF}"/>
                </a:ext>
              </a:extLst>
            </p:cNvPr>
            <p:cNvSpPr/>
            <p:nvPr/>
          </p:nvSpPr>
          <p:spPr>
            <a:xfrm>
              <a:off x="185058" y="174172"/>
              <a:ext cx="11811000" cy="6477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A15FDE3-AA0B-BDFF-1239-160115D7829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381" y="185738"/>
            <a:ext cx="822036" cy="8220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C0C952-03CE-39F6-796E-7356FA1945BC}"/>
              </a:ext>
            </a:extLst>
          </p:cNvPr>
          <p:cNvSpPr/>
          <p:nvPr userDrawn="1"/>
        </p:nvSpPr>
        <p:spPr>
          <a:xfrm>
            <a:off x="0" y="6645728"/>
            <a:ext cx="12192000" cy="2122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1" dirty="0">
                <a:solidFill>
                  <a:prstClr val="white"/>
                </a:solidFill>
                <a:latin typeface="Monotype Corsiva" panose="03010101010201010101" pitchFamily="66" charset="0"/>
              </a:rPr>
              <a:t>    ITF… Developing the Nation’s Human Resource</a:t>
            </a:r>
            <a:r>
              <a:rPr lang="en-US" sz="1400" dirty="0">
                <a:solidFill>
                  <a:prstClr val="white"/>
                </a:solidFill>
              </a:rPr>
              <a:t>						                 	                www.itf.gov.ng</a:t>
            </a:r>
            <a:endParaRPr lang="en-GB" sz="1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45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ransition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86D9CD-0634-6B43-1222-1652F9CC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Black" panose="020B0A04020102020204" pitchFamily="34" charset="0"/>
              </a:rPr>
              <a:t>STAFF SCHOOL ACTIVITIES</a:t>
            </a:r>
            <a:endParaRPr lang="aa-ET" sz="24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446045"/>
              </p:ext>
            </p:extLst>
          </p:nvPr>
        </p:nvGraphicFramePr>
        <p:xfrm>
          <a:off x="357809" y="834888"/>
          <a:ext cx="11449879" cy="545348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88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5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5948">
                  <a:extLst>
                    <a:ext uri="{9D8B030D-6E8A-4147-A177-3AD203B41FA5}">
                      <a16:colId xmlns:a16="http://schemas.microsoft.com/office/drawing/2014/main" val="1510798739"/>
                    </a:ext>
                  </a:extLst>
                </a:gridCol>
                <a:gridCol w="1046923">
                  <a:extLst>
                    <a:ext uri="{9D8B030D-6E8A-4147-A177-3AD203B41FA5}">
                      <a16:colId xmlns:a16="http://schemas.microsoft.com/office/drawing/2014/main" val="2580831852"/>
                    </a:ext>
                  </a:extLst>
                </a:gridCol>
              </a:tblGrid>
              <a:tr h="686133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Arial Black" panose="020B0A04020102020204" pitchFamily="34" charset="0"/>
                        </a:rPr>
                        <a:t>PERFORMANCE OF STUDENTS</a:t>
                      </a:r>
                      <a:r>
                        <a:rPr lang="en-US" sz="2000" b="1" baseline="0" dirty="0">
                          <a:solidFill>
                            <a:sysClr val="windowText" lastClr="000000"/>
                          </a:solidFill>
                          <a:latin typeface="Arial Black" panose="020B0A04020102020204" pitchFamily="34" charset="0"/>
                        </a:rPr>
                        <a:t> AT CERTIFICATE EXAMS</a:t>
                      </a:r>
                      <a:endParaRPr lang="en-US" sz="2000" b="1" dirty="0">
                        <a:solidFill>
                          <a:sysClr val="windowText" lastClr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99917" marR="99917" marT="64812" marB="64812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99917" marR="99917" marT="64812" marB="64812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832225" marR="0" indent="409575" algn="l" defTabSz="13163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Arial Black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2891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itchFamily="34" charset="0"/>
                          <a:cs typeface="Arial" pitchFamily="34" charset="0"/>
                        </a:rPr>
                        <a:t>S/N</a:t>
                      </a: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TYPE OF EXAM</a:t>
                      </a:r>
                    </a:p>
                  </a:txBody>
                  <a:tcPr marL="54330" marR="54330" marT="35242" marB="35242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b="1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Number of Students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b="1" dirty="0">
                        <a:latin typeface="Arial Black" pitchFamily="34" charset="0"/>
                      </a:endParaRPr>
                    </a:p>
                  </a:txBody>
                  <a:tcPr marL="54330" marR="54330" marT="35242" marB="35242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Number passed with 5 Credits and above including Mathematics and English</a:t>
                      </a:r>
                    </a:p>
                  </a:txBody>
                  <a:tcPr marL="54330" marR="54330" marT="35242" marB="35242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Percentage</a:t>
                      </a:r>
                      <a:r>
                        <a:rPr lang="en-US" sz="1700" b="1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passed (%)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algn="ctr"/>
                      <a:endParaRPr lang="en-US" sz="17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688">
                <a:tc vMerge="1"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sz="2600" dirty="0"/>
                    </a:p>
                  </a:txBody>
                  <a:tcPr marL="99917" marR="99917" marT="64812" marB="64812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 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603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itchFamily="34" charset="0"/>
                        </a:rPr>
                        <a:t>1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itchFamily="34" charset="0"/>
                        </a:rPr>
                        <a:t>WASSCE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71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itchFamily="34" charset="0"/>
                        </a:rPr>
                        <a:t>2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itchFamily="34" charset="0"/>
                        </a:rPr>
                        <a:t>NECO</a:t>
                      </a: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381103"/>
                  </a:ext>
                </a:extLst>
              </a:tr>
              <a:tr h="686049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itchFamily="34" charset="0"/>
                        </a:rPr>
                        <a:t>3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itchFamily="34" charset="0"/>
                        </a:rPr>
                        <a:t>NECO</a:t>
                      </a:r>
                      <a:r>
                        <a:rPr lang="en-US" sz="1600" b="0" baseline="0" dirty="0">
                          <a:latin typeface="Arial Black" pitchFamily="34" charset="0"/>
                        </a:rPr>
                        <a:t> BECE</a:t>
                      </a:r>
                      <a:endParaRPr lang="en-US" sz="1600" b="0" dirty="0">
                        <a:latin typeface="Arial Black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049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itchFamily="34" charset="0"/>
                        </a:rPr>
                        <a:t>4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itchFamily="34" charset="0"/>
                        </a:rPr>
                        <a:t>JUNIOR</a:t>
                      </a:r>
                      <a:r>
                        <a:rPr lang="en-US" sz="1600" b="0" baseline="0" dirty="0">
                          <a:latin typeface="Arial Black" pitchFamily="34" charset="0"/>
                        </a:rPr>
                        <a:t> BECE</a:t>
                      </a:r>
                      <a:endParaRPr lang="en-US" sz="1600" b="0" dirty="0">
                        <a:latin typeface="Arial Black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rial Black" panose="020B0A04020102020204" pitchFamily="34" charset="0"/>
                        </a:rPr>
                        <a:t>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4422AFA-50A3-4156-984F-61758D2C441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0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39389</TotalTime>
  <Words>74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Monotype Corsiva</vt:lpstr>
      <vt:lpstr>Office Theme</vt:lpstr>
      <vt:lpstr>STAFF SCHOOL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Peter Azubuko</cp:lastModifiedBy>
  <cp:revision>2398</cp:revision>
  <cp:lastPrinted>2025-06-01T13:34:36Z</cp:lastPrinted>
  <dcterms:created xsi:type="dcterms:W3CDTF">2021-09-06T19:10:51Z</dcterms:created>
  <dcterms:modified xsi:type="dcterms:W3CDTF">2026-07-26T14:21:57Z</dcterms:modified>
</cp:coreProperties>
</file>