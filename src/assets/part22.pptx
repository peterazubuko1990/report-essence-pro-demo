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432" r:id="rId2"/>
    <p:sldId id="433" r:id="rId3"/>
    <p:sldId id="480" r:id="rId4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42" autoAdjust="0"/>
    <p:restoredTop sz="94434" autoAdjust="0"/>
  </p:normalViewPr>
  <p:slideViewPr>
    <p:cSldViewPr snapToGrid="0" showGuides="1">
      <p:cViewPr varScale="1">
        <p:scale>
          <a:sx n="72" d="100"/>
          <a:sy n="72" d="100"/>
        </p:scale>
        <p:origin x="456" y="5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2787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dLbls>
            <c:dLbl>
              <c:idx val="0"/>
              <c:layout>
                <c:manualLayout>
                  <c:x val="-1.69082125603865E-2"/>
                  <c:y val="-1.16745699828421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E00-42B2-AA67-F45FB3FF338C}"/>
                </c:ext>
              </c:extLst>
            </c:dLbl>
            <c:dLbl>
              <c:idx val="1"/>
              <c:layout>
                <c:manualLayout>
                  <c:x val="-1.4492753623188401E-2"/>
                  <c:y val="-5.8372849914211404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E00-42B2-AA67-F45FB3FF338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Black" panose="020B0A040201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COURSE FEE</c:v>
                </c:pt>
                <c:pt idx="1">
                  <c:v>OTHER INCOME</c:v>
                </c:pt>
              </c:strCache>
            </c:strRef>
          </c:cat>
          <c:val>
            <c:numRef>
              <c:f>Sheet1!$B$2:$B$3</c:f>
              <c:numCache>
                <c:formatCode>0.00%</c:formatCode>
                <c:ptCount val="2"/>
                <c:pt idx="0">
                  <c:v>2.0880999999999998</c:v>
                </c:pt>
                <c:pt idx="1">
                  <c:v>3.9702000000000002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E00-42B2-AA67-F45FB3FF338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dLbls>
            <c:dLbl>
              <c:idx val="0"/>
              <c:layout>
                <c:manualLayout>
                  <c:x val="7.7294685990338202E-2"/>
                  <c:y val="2.9186424957105099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E00-42B2-AA67-F45FB3FF338C}"/>
                </c:ext>
              </c:extLst>
            </c:dLbl>
            <c:dLbl>
              <c:idx val="1"/>
              <c:layout>
                <c:manualLayout>
                  <c:x val="1.3285024154589299E-2"/>
                  <c:y val="-2.62677824613946E-2"/>
                </c:manualLayout>
              </c:layout>
              <c:tx>
                <c:rich>
                  <a:bodyPr/>
                  <a:lstStyle/>
                  <a:p>
                    <a:fld id="{762B86BA-43AD-4C9D-9258-C091AD7F739B}" type="VALUE">
                      <a:rPr lang="en-US"/>
                      <a:pPr/>
                      <a:t>[VALUE]</a:t>
                    </a:fld>
                    <a:endParaRPr lang="en-US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EE00-42B2-AA67-F45FB3FF338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Black" panose="020B0A040201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COURSE FEE</c:v>
                </c:pt>
                <c:pt idx="1">
                  <c:v>OTHER INCOME</c:v>
                </c:pt>
              </c:strCache>
            </c:strRef>
          </c:cat>
          <c:val>
            <c:numRef>
              <c:f>Sheet1!$C$2:$C$3</c:f>
              <c:numCache>
                <c:formatCode>0.00%</c:formatCode>
                <c:ptCount val="2"/>
                <c:pt idx="0">
                  <c:v>0.80930000000000002</c:v>
                </c:pt>
                <c:pt idx="1">
                  <c:v>0.16400000000000001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EE00-42B2-AA67-F45FB3FF338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906986944"/>
        <c:axId val="1906987488"/>
      </c:barChart>
      <c:catAx>
        <c:axId val="19069869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06987488"/>
        <c:crosses val="autoZero"/>
        <c:auto val="1"/>
        <c:lblAlgn val="ctr"/>
        <c:lblOffset val="100"/>
        <c:noMultiLvlLbl val="0"/>
      </c:catAx>
      <c:valAx>
        <c:axId val="1906987488"/>
        <c:scaling>
          <c:orientation val="minMax"/>
        </c:scaling>
        <c:delete val="0"/>
        <c:axPos val="l"/>
        <c:numFmt formatCode="0.00%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  <a:ea typeface="+mn-ea"/>
                <a:cs typeface="+mn-cs"/>
              </a:defRPr>
            </a:pPr>
            <a:endParaRPr lang="en-US"/>
          </a:p>
        </c:txPr>
        <c:crossAx val="1906986944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>
              <a:defRPr lang="en-US"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b3fb5e7c-4f38-45b3-9e07-3b0fc5fca4ef}"/>
      </c:ext>
    </c:extLst>
  </c:chart>
  <c:spPr>
    <a:noFill/>
    <a:ln>
      <a:noFill/>
    </a:ln>
    <a:effectLst/>
  </c:spPr>
  <c:txPr>
    <a:bodyPr/>
    <a:lstStyle/>
    <a:p>
      <a:pPr>
        <a:defRPr lang="en-US"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3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lt1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" y="4"/>
            <a:ext cx="3038649" cy="466725"/>
          </a:xfrm>
          <a:prstGeom prst="rect">
            <a:avLst/>
          </a:prstGeom>
        </p:spPr>
        <p:txBody>
          <a:bodyPr vert="horz" lIns="92144" tIns="46072" rIns="92144" bIns="46072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136" y="4"/>
            <a:ext cx="3038648" cy="466725"/>
          </a:xfrm>
          <a:prstGeom prst="rect">
            <a:avLst/>
          </a:prstGeom>
        </p:spPr>
        <p:txBody>
          <a:bodyPr vert="horz" lIns="92144" tIns="46072" rIns="92144" bIns="46072" rtlCol="0"/>
          <a:lstStyle>
            <a:lvl1pPr algn="r">
              <a:defRPr sz="1300"/>
            </a:lvl1pPr>
          </a:lstStyle>
          <a:p>
            <a:fld id="{97A0745A-FB58-4F95-B051-39E0B6D431C5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3" y="8829680"/>
            <a:ext cx="3038649" cy="466725"/>
          </a:xfrm>
          <a:prstGeom prst="rect">
            <a:avLst/>
          </a:prstGeom>
        </p:spPr>
        <p:txBody>
          <a:bodyPr vert="horz" lIns="92144" tIns="46072" rIns="92144" bIns="46072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136" y="8829680"/>
            <a:ext cx="3038648" cy="466725"/>
          </a:xfrm>
          <a:prstGeom prst="rect">
            <a:avLst/>
          </a:prstGeom>
        </p:spPr>
        <p:txBody>
          <a:bodyPr vert="horz" lIns="92144" tIns="46072" rIns="92144" bIns="46072" rtlCol="0" anchor="b"/>
          <a:lstStyle>
            <a:lvl1pPr algn="r">
              <a:defRPr sz="1300"/>
            </a:lvl1pPr>
          </a:lstStyle>
          <a:p>
            <a:fld id="{97E14528-FBFE-482F-8AF4-BB4830DB2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3037840" cy="466434"/>
          </a:xfrm>
          <a:prstGeom prst="rect">
            <a:avLst/>
          </a:prstGeom>
        </p:spPr>
        <p:txBody>
          <a:bodyPr vert="horz" lIns="93159" tIns="46580" rIns="93159" bIns="46580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9" y="1"/>
            <a:ext cx="3037840" cy="466434"/>
          </a:xfrm>
          <a:prstGeom prst="rect">
            <a:avLst/>
          </a:prstGeom>
        </p:spPr>
        <p:txBody>
          <a:bodyPr vert="horz" lIns="93159" tIns="46580" rIns="93159" bIns="46580" rtlCol="0"/>
          <a:lstStyle>
            <a:lvl1pPr algn="r">
              <a:defRPr sz="1300"/>
            </a:lvl1pPr>
          </a:lstStyle>
          <a:p>
            <a:fld id="{C472CFB3-4041-46C9-AE69-D2C0C4A13CB9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162050"/>
            <a:ext cx="5573712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59" tIns="46580" rIns="93159" bIns="4658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1" y="4473893"/>
            <a:ext cx="5608320" cy="3660458"/>
          </a:xfrm>
          <a:prstGeom prst="rect">
            <a:avLst/>
          </a:prstGeom>
        </p:spPr>
        <p:txBody>
          <a:bodyPr vert="horz" lIns="93159" tIns="46580" rIns="93159" bIns="4658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8829972"/>
            <a:ext cx="3037840" cy="466433"/>
          </a:xfrm>
          <a:prstGeom prst="rect">
            <a:avLst/>
          </a:prstGeom>
        </p:spPr>
        <p:txBody>
          <a:bodyPr vert="horz" lIns="93159" tIns="46580" rIns="93159" bIns="46580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9" y="8829972"/>
            <a:ext cx="3037840" cy="466433"/>
          </a:xfrm>
          <a:prstGeom prst="rect">
            <a:avLst/>
          </a:prstGeom>
        </p:spPr>
        <p:txBody>
          <a:bodyPr vert="horz" lIns="93159" tIns="46580" rIns="93159" bIns="46580" rtlCol="0" anchor="b"/>
          <a:lstStyle>
            <a:lvl1pPr algn="r">
              <a:defRPr sz="1300"/>
            </a:lvl1pPr>
          </a:lstStyle>
          <a:p>
            <a:fld id="{A4480885-5E4E-4DEE-BFCD-BDD8A9D051F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DAD0DC-F4C1-454A-8C8A-FAF6C0AB9107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480885-5E4E-4DEE-BFCD-BDD8A9D051F2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D8BEB-DE5D-4A65-9DFF-DB5527D62AF4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7/14/2026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D944C-C7AB-4FA0-96DB-398BAC366CE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>
    <p:randomBar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57336-F92F-4BC2-84D8-C4A906911638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7/14/2026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D944C-C7AB-4FA0-96DB-398BAC366CE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>
    <p:randomBar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C913E-12A4-409D-BDA7-6F47B50E19F7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7/14/2026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D944C-C7AB-4FA0-96DB-398BAC366CE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>
    <p:randomBar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2895F-D947-40F5-ACE4-2C8C6D802671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7/14/2026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D944C-C7AB-4FA0-96DB-398BAC366CE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>
    <p:randomBar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AED58-7E8C-410F-BC9F-E2542138CA2F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7/14/2026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D944C-C7AB-4FA0-96DB-398BAC366CE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>
    <p:randomBar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80F63-EA3E-4ABD-B703-80F1CA1EEAA5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7/14/2026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D944C-C7AB-4FA0-96DB-398BAC366CE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>
    <p:randomBar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11922-3866-4271-B001-A7C81F8D08C7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7/14/2026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D944C-C7AB-4FA0-96DB-398BAC366CE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>
    <p:randomBar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83E66-3B0F-467E-ACD9-C151CBC43FD8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7/14/2026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D944C-C7AB-4FA0-96DB-398BAC366CE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>
    <p:randomBar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271EA-EC0A-4878-BEDE-EA4C0691EB45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7/14/2026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D944C-C7AB-4FA0-96DB-398BAC366CE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>
    <p:randomBar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72035-4702-4C81-B0B0-ECF3F443C72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7/14/2026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D944C-C7AB-4FA0-96DB-398BAC366CE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>
    <p:randomBar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0EBCF-3C48-42DC-AB24-8CEBDF0529DB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7/14/2026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D944C-C7AB-4FA0-96DB-398BAC366CE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>
    <p:randomBar dir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09EE62-0744-4460-A116-4BA4EF7C423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56F188-32B8-47A2-B323-867F206814E7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0" y="-5443"/>
            <a:ext cx="12192000" cy="6858000"/>
            <a:chOff x="0" y="0"/>
            <a:chExt cx="12192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76200" y="76200"/>
              <a:ext cx="12028714" cy="6694714"/>
            </a:xfrm>
            <a:prstGeom prst="rect">
              <a:avLst/>
            </a:prstGeom>
            <a:solidFill>
              <a:schemeClr val="tx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5058" y="174172"/>
              <a:ext cx="11811000" cy="6477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9381" y="185738"/>
            <a:ext cx="822036" cy="822036"/>
          </a:xfrm>
          <a:prstGeom prst="rect">
            <a:avLst/>
          </a:prstGeom>
        </p:spPr>
      </p:pic>
      <p:sp>
        <p:nvSpPr>
          <p:cNvPr id="12" name="Rectangle 11"/>
          <p:cNvSpPr/>
          <p:nvPr userDrawn="1"/>
        </p:nvSpPr>
        <p:spPr>
          <a:xfrm>
            <a:off x="0" y="6645728"/>
            <a:ext cx="12192000" cy="21227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i="1" dirty="0">
                <a:solidFill>
                  <a:prstClr val="white"/>
                </a:solidFill>
                <a:latin typeface="Monotype Corsiva" panose="03010101010201010101" pitchFamily="66" charset="0"/>
              </a:rPr>
              <a:t>    ITF… Developing the Nation’s Human Resource</a:t>
            </a:r>
            <a:r>
              <a:rPr lang="en-US" sz="1400" dirty="0">
                <a:solidFill>
                  <a:prstClr val="white"/>
                </a:solidFill>
              </a:rPr>
              <a:t>						                 	                www.itf.gov.ng</a:t>
            </a:r>
            <a:endParaRPr lang="en-GB" sz="1400" dirty="0">
              <a:solidFill>
                <a:prstClr val="white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randomBar dir="vert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282390" y="344214"/>
          <a:ext cx="11666019" cy="6012137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5481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26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953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50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98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84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1765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67731">
                <a:tc gridSpan="8">
                  <a:txBody>
                    <a:bodyPr/>
                    <a:lstStyle/>
                    <a:p>
                      <a:pPr marL="3657600" marR="0" indent="465455" algn="l" defTabSz="13163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sz="2400" u="none" strike="noStrike" baseline="0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</a:rPr>
                        <a:t>COURSE FEE</a:t>
                      </a:r>
                    </a:p>
                    <a:p>
                      <a:pPr marL="3711575" marR="0" indent="279400" algn="l" defTabSz="13163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sz="1800" b="1" u="none" strike="noStrike" dirty="0">
                          <a:latin typeface="Arial Black" panose="020B0A04020102020204" pitchFamily="34" charset="0"/>
                        </a:rPr>
                        <a:t>TRAINING</a:t>
                      </a:r>
                      <a:r>
                        <a:rPr lang="en-GB" sz="1800" b="1" u="none" strike="noStrike" baseline="0" dirty="0">
                          <a:latin typeface="Arial Black" panose="020B0A04020102020204" pitchFamily="34" charset="0"/>
                        </a:rPr>
                        <a:t> CENTRES</a:t>
                      </a:r>
                      <a:endParaRPr lang="en-US" sz="18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9917" marR="99917" marT="64812" marB="64812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9917" marR="99917" marT="64812" marB="64812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705">
                <a:tc rowSpan="2">
                  <a:txBody>
                    <a:bodyPr/>
                    <a:lstStyle/>
                    <a:p>
                      <a:pPr marL="0" indent="0" algn="ctr"/>
                      <a:r>
                        <a:rPr lang="en-US" sz="1700" b="1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S/N</a:t>
                      </a:r>
                    </a:p>
                  </a:txBody>
                  <a:tcPr marL="54330" marR="54330" marT="35242" marB="35242" anchor="ctr"/>
                </a:tc>
                <a:tc rowSpan="2">
                  <a:txBody>
                    <a:bodyPr/>
                    <a:lstStyle/>
                    <a:p>
                      <a:pPr marL="0" indent="0" algn="ctr"/>
                      <a:r>
                        <a:rPr lang="en-US" sz="1700" b="0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TRAINING</a:t>
                      </a:r>
                      <a:r>
                        <a:rPr lang="en-US" sz="1700" b="0" baseline="0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 CENTRE</a:t>
                      </a:r>
                      <a:endParaRPr lang="en-US" sz="1700" b="0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4330" marR="54330" marT="35242" marB="35242"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latin typeface="Arial Black" panose="020B0A04020102020204" pitchFamily="34" charset="0"/>
                        </a:rPr>
                        <a:t>2023</a:t>
                      </a:r>
                    </a:p>
                  </a:txBody>
                  <a:tcPr marL="54330" marR="54330" marT="35242" marB="35242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54330" marR="54330" marT="35242" marB="35242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latin typeface="Arial Black" panose="020B0A04020102020204" pitchFamily="34" charset="0"/>
                        </a:rPr>
                        <a:t>2024</a:t>
                      </a:r>
                    </a:p>
                  </a:txBody>
                  <a:tcPr marL="54330" marR="54330" marT="35242" marB="35242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981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99917" marR="99917" marT="64812" marB="64812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0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Annual</a:t>
                      </a:r>
                      <a:endParaRPr lang="en-US" sz="1700" b="0" baseline="0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0" baseline="0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Target</a:t>
                      </a:r>
                      <a:endParaRPr lang="en-US" sz="1700" b="0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4330" marR="54330" marT="35242" marB="35242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Actual Achieved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% </a:t>
                      </a:r>
                    </a:p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Achieved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Annual</a:t>
                      </a:r>
                      <a:endParaRPr lang="en-US" sz="1700" b="1" u="none" strike="noStrike" baseline="0" dirty="0"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Target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Actual Achieved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% </a:t>
                      </a:r>
                    </a:p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Achieved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2718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latin typeface="Arial Black" panose="020B0A04020102020204" pitchFamily="34" charset="0"/>
                        </a:rPr>
                        <a:t>1</a:t>
                      </a: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Centre</a:t>
                      </a:r>
                      <a:r>
                        <a:rPr lang="en-US" sz="1600" b="1" baseline="0" dirty="0">
                          <a:latin typeface="Arial Black" panose="020B0A04020102020204" pitchFamily="34" charset="0"/>
                        </a:rPr>
                        <a:t> for </a:t>
                      </a:r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Excellence</a:t>
                      </a: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35,000,000.00</a:t>
                      </a: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8,965,000.00</a:t>
                      </a: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25.61</a:t>
                      </a: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85,000,000.00</a:t>
                      </a: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-</a:t>
                      </a: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-</a:t>
                      </a:r>
                    </a:p>
                  </a:txBody>
                  <a:tcPr marL="54330" marR="54330" marT="35242" marB="3524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1548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latin typeface="Arial Black" panose="020B0A04020102020204" pitchFamily="34" charset="0"/>
                        </a:rPr>
                        <a:t>2</a:t>
                      </a: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ISTC </a:t>
                      </a:r>
                      <a:r>
                        <a:rPr lang="en-US" sz="1600" b="1" dirty="0" err="1">
                          <a:latin typeface="Arial Black" panose="020B0A04020102020204" pitchFamily="34" charset="0"/>
                        </a:rPr>
                        <a:t>Ikeja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46,000,000.00</a:t>
                      </a: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30,610,290.70</a:t>
                      </a: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66.54</a:t>
                      </a: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106,000,000.00</a:t>
                      </a: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45,196,000.00</a:t>
                      </a: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42.64</a:t>
                      </a:r>
                    </a:p>
                  </a:txBody>
                  <a:tcPr marL="54330" marR="54330" marT="35242" marB="3524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325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latin typeface="Arial Black" panose="020B0A04020102020204" pitchFamily="34" charset="0"/>
                        </a:rPr>
                        <a:t>3</a:t>
                      </a: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ISTC</a:t>
                      </a:r>
                      <a:r>
                        <a:rPr lang="en-US" sz="1600" b="1" baseline="0" dirty="0">
                          <a:latin typeface="Arial Black" panose="020B0A04020102020204" pitchFamily="34" charset="0"/>
                        </a:rPr>
                        <a:t> Kano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35,000,000.00</a:t>
                      </a: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7,948,620.00</a:t>
                      </a: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22.71</a:t>
                      </a: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85,000,000.00</a:t>
                      </a: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10,650,000.00</a:t>
                      </a: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12.53</a:t>
                      </a:r>
                    </a:p>
                  </a:txBody>
                  <a:tcPr marL="54330" marR="54330" marT="35242" marB="35242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3417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latin typeface="Arial Black" panose="020B0A04020102020204" pitchFamily="34" charset="0"/>
                        </a:rPr>
                        <a:t>4</a:t>
                      </a: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ISTC</a:t>
                      </a:r>
                      <a:r>
                        <a:rPr lang="en-US" sz="1600" b="1" baseline="0" dirty="0">
                          <a:latin typeface="Arial Black" panose="020B0A04020102020204" pitchFamily="34" charset="0"/>
                        </a:rPr>
                        <a:t> </a:t>
                      </a:r>
                      <a:r>
                        <a:rPr lang="en-US" sz="1600" b="1" baseline="0" dirty="0" err="1">
                          <a:latin typeface="Arial Black" panose="020B0A04020102020204" pitchFamily="34" charset="0"/>
                        </a:rPr>
                        <a:t>Lokoja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16,000,000.00</a:t>
                      </a: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8,037,500.00</a:t>
                      </a: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50.23</a:t>
                      </a: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56,000,000.00</a:t>
                      </a: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8,035,000.00</a:t>
                      </a: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14.35</a:t>
                      </a:r>
                    </a:p>
                  </a:txBody>
                  <a:tcPr marL="54330" marR="54330" marT="35242" marB="35242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6683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latin typeface="Arial Black" panose="020B0A04020102020204" pitchFamily="34" charset="0"/>
                        </a:rPr>
                        <a:t>5</a:t>
                      </a: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MSTC Abuja</a:t>
                      </a: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181,100,000.00</a:t>
                      </a: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79,180,813.95</a:t>
                      </a: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43.72</a:t>
                      </a: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248,100,000.00</a:t>
                      </a: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28,300,000.00</a:t>
                      </a: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11.41</a:t>
                      </a:r>
                    </a:p>
                  </a:txBody>
                  <a:tcPr marL="54330" marR="54330" marT="35242" marB="35242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01785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latin typeface="Arial Black" panose="020B0A04020102020204" pitchFamily="34" charset="0"/>
                        </a:rPr>
                        <a:t>6</a:t>
                      </a: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Staff School</a:t>
                      </a: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-</a:t>
                      </a: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78,036,000.00</a:t>
                      </a: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-</a:t>
                      </a: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-</a:t>
                      </a: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80,570,900.00</a:t>
                      </a: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-</a:t>
                      </a:r>
                    </a:p>
                  </a:txBody>
                  <a:tcPr marL="54330" marR="54330" marT="35242" marB="35242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728411">
                <a:tc gridSpan="2">
                  <a:txBody>
                    <a:bodyPr/>
                    <a:lstStyle/>
                    <a:p>
                      <a:pPr algn="l"/>
                      <a:r>
                        <a:rPr lang="en-GB" sz="1700" b="1" dirty="0">
                          <a:latin typeface="Arial Black" panose="020B0A04020102020204" pitchFamily="34" charset="0"/>
                        </a:rPr>
                        <a:t>TOTAL</a:t>
                      </a:r>
                    </a:p>
                  </a:txBody>
                  <a:tcPr marL="91439" marR="91439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313,100,000.00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212,778,224.65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208.81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580,100,000.00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1,727,519.00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80.93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22AFA-50A3-4156-984F-61758D2C4411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313900" y="324785"/>
          <a:ext cx="11670282" cy="5894469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5926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63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65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192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16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590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599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2482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79556">
                <a:tc gridSpan="8">
                  <a:txBody>
                    <a:bodyPr/>
                    <a:lstStyle/>
                    <a:p>
                      <a:pPr marL="3832225" marR="0" indent="409575" algn="l" defTabSz="13163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sz="2000" u="none" strike="noStrike" baseline="0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</a:rPr>
                        <a:t>OTHER INCOME</a:t>
                      </a:r>
                    </a:p>
                    <a:p>
                      <a:pPr marL="4006850" marR="0" indent="0" algn="l" defTabSz="13163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sz="2000" u="none" strike="noStrike" baseline="0" dirty="0">
                          <a:latin typeface="Arial Black" panose="020B0A04020102020204" pitchFamily="34" charset="0"/>
                        </a:rPr>
                        <a:t>TRAINING CENTRES</a:t>
                      </a:r>
                      <a:endParaRPr lang="en-US" sz="2000" dirty="0">
                        <a:latin typeface="Arial Black" panose="020B0A04020102020204" pitchFamily="34" charset="0"/>
                      </a:endParaRPr>
                    </a:p>
                    <a:p>
                      <a:pPr marL="3549650" marR="0" indent="-3146425" algn="l" defTabSz="13163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20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9917" marR="99917" marT="64812" marB="64812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9917" marR="99917" marT="64812" marB="64812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197">
                <a:tc rowSpan="2">
                  <a:txBody>
                    <a:bodyPr/>
                    <a:lstStyle/>
                    <a:p>
                      <a:pPr marL="0" indent="0" algn="ctr"/>
                      <a:r>
                        <a:rPr lang="en-US" sz="1700" b="1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S/N</a:t>
                      </a:r>
                    </a:p>
                  </a:txBody>
                  <a:tcPr marL="54330" marR="54330" marT="35242" marB="35242" anchor="ctr"/>
                </a:tc>
                <a:tc rowSpan="2">
                  <a:txBody>
                    <a:bodyPr/>
                    <a:lstStyle/>
                    <a:p>
                      <a:pPr marL="0" indent="0" algn="ctr"/>
                      <a:r>
                        <a:rPr lang="en-US" sz="1700" b="1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TRAINING CENTRE</a:t>
                      </a:r>
                    </a:p>
                  </a:txBody>
                  <a:tcPr marL="54330" marR="54330" marT="35242" marB="35242"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latin typeface="Arial Black" panose="020B0A04020102020204" pitchFamily="34" charset="0"/>
                        </a:rPr>
                        <a:t>2023</a:t>
                      </a:r>
                    </a:p>
                  </a:txBody>
                  <a:tcPr marL="54330" marR="54330" marT="35242" marB="35242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54330" marR="54330" marT="35242" marB="35242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latin typeface="Arial Black" panose="020B0A04020102020204" pitchFamily="34" charset="0"/>
                        </a:rPr>
                        <a:t>2024</a:t>
                      </a:r>
                    </a:p>
                  </a:txBody>
                  <a:tcPr marL="54330" marR="54330" marT="35242" marB="35242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02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99917" marR="99917" marT="64812" marB="64812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Annual</a:t>
                      </a:r>
                      <a:endParaRPr lang="en-US" sz="1700" b="1" baseline="0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baseline="0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Target</a:t>
                      </a:r>
                      <a:endParaRPr lang="en-US" sz="1700" b="1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Actual Achieved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ctr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% </a:t>
                      </a:r>
                    </a:p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5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Achieved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ctr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Annual</a:t>
                      </a:r>
                      <a:endParaRPr lang="en-US" sz="1700" b="1" u="none" strike="noStrike" baseline="0" dirty="0"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Target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ctr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Actual Achieved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ctr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5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% </a:t>
                      </a:r>
                    </a:p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5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Achieved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81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latin typeface="Arial Black" panose="020B0A04020102020204" pitchFamily="34" charset="0"/>
                        </a:rPr>
                        <a:t>1</a:t>
                      </a: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latin typeface="Arial Black" panose="020B0A04020102020204" pitchFamily="34" charset="0"/>
                        </a:rPr>
                        <a:t>C.F.E</a:t>
                      </a: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15,000,000.00</a:t>
                      </a: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2,714,400.00</a:t>
                      </a: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18.10</a:t>
                      </a: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25,000,000.00</a:t>
                      </a: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1,385,000.00</a:t>
                      </a: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5.54</a:t>
                      </a:r>
                    </a:p>
                  </a:txBody>
                  <a:tcPr marL="54330" marR="54330" marT="35242" marB="3524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748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latin typeface="Arial Black" panose="020B0A04020102020204" pitchFamily="34" charset="0"/>
                        </a:rPr>
                        <a:t>2</a:t>
                      </a: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latin typeface="Arial Black" panose="020B0A04020102020204" pitchFamily="34" charset="0"/>
                        </a:rPr>
                        <a:t>ISTC </a:t>
                      </a:r>
                      <a:r>
                        <a:rPr lang="en-US" sz="1600" b="0" dirty="0" err="1">
                          <a:latin typeface="Arial Black" panose="020B0A04020102020204" pitchFamily="34" charset="0"/>
                        </a:rPr>
                        <a:t>Ikeja</a:t>
                      </a:r>
                      <a:endParaRPr lang="en-US" sz="1600" b="0" dirty="0"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2,000,000.00</a:t>
                      </a: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2,089,961.46</a:t>
                      </a: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104.50</a:t>
                      </a: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50,000,000.00</a:t>
                      </a: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1,979,322.99</a:t>
                      </a: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3.96</a:t>
                      </a:r>
                    </a:p>
                  </a:txBody>
                  <a:tcPr marL="54330" marR="54330" marT="35242" marB="3524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7926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latin typeface="Arial Black" panose="020B0A04020102020204" pitchFamily="34" charset="0"/>
                        </a:rPr>
                        <a:t>3</a:t>
                      </a: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latin typeface="Arial Black" panose="020B0A04020102020204" pitchFamily="34" charset="0"/>
                        </a:rPr>
                        <a:t>ISTC</a:t>
                      </a:r>
                      <a:r>
                        <a:rPr lang="en-US" sz="1600" b="0" baseline="0" dirty="0">
                          <a:latin typeface="Arial Black" panose="020B0A04020102020204" pitchFamily="34" charset="0"/>
                        </a:rPr>
                        <a:t> Kano</a:t>
                      </a:r>
                      <a:endParaRPr lang="en-US" sz="1600" b="0" dirty="0"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4,000,000.00</a:t>
                      </a: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1,226,000.00</a:t>
                      </a: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30.65</a:t>
                      </a: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50,000,000.00</a:t>
                      </a: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2,211,000.00</a:t>
                      </a: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4.42</a:t>
                      </a:r>
                    </a:p>
                  </a:txBody>
                  <a:tcPr marL="54330" marR="54330" marT="35242" marB="35242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7926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latin typeface="Arial Black" panose="020B0A04020102020204" pitchFamily="34" charset="0"/>
                        </a:rPr>
                        <a:t>4</a:t>
                      </a: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latin typeface="Arial Black" panose="020B0A04020102020204" pitchFamily="34" charset="0"/>
                        </a:rPr>
                        <a:t>ISTC</a:t>
                      </a:r>
                      <a:r>
                        <a:rPr lang="en-US" sz="1600" b="0" baseline="0" dirty="0">
                          <a:latin typeface="Arial Black" panose="020B0A04020102020204" pitchFamily="34" charset="0"/>
                        </a:rPr>
                        <a:t> </a:t>
                      </a:r>
                      <a:r>
                        <a:rPr lang="en-US" sz="1600" b="0" baseline="0" dirty="0" err="1">
                          <a:latin typeface="Arial Black" panose="020B0A04020102020204" pitchFamily="34" charset="0"/>
                        </a:rPr>
                        <a:t>Lokoja</a:t>
                      </a:r>
                      <a:endParaRPr lang="en-US" sz="1600" b="0" dirty="0"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2,500,000.00</a:t>
                      </a: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1,017,800.00</a:t>
                      </a: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40.71</a:t>
                      </a: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50,000,000.00</a:t>
                      </a: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520,000.00</a:t>
                      </a: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1.04</a:t>
                      </a:r>
                    </a:p>
                  </a:txBody>
                  <a:tcPr marL="54330" marR="54330" marT="35242" marB="35242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6425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latin typeface="Arial Black" panose="020B0A04020102020204" pitchFamily="34" charset="0"/>
                        </a:rPr>
                        <a:t>5</a:t>
                      </a: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latin typeface="Arial Black" panose="020B0A04020102020204" pitchFamily="34" charset="0"/>
                        </a:rPr>
                        <a:t>MSTC Abuja</a:t>
                      </a: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5,000,000.00</a:t>
                      </a: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2,601,038.75</a:t>
                      </a: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52.02</a:t>
                      </a: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50,000,000.00</a:t>
                      </a: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722,000.00</a:t>
                      </a: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1.44-</a:t>
                      </a:r>
                    </a:p>
                  </a:txBody>
                  <a:tcPr marL="54330" marR="54330" marT="35242" marB="35242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6425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latin typeface="Arial Black" panose="020B0A04020102020204" pitchFamily="34" charset="0"/>
                        </a:rPr>
                        <a:t>6</a:t>
                      </a: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latin typeface="Arial Black" panose="020B0A04020102020204" pitchFamily="34" charset="0"/>
                        </a:rPr>
                        <a:t>Staff</a:t>
                      </a:r>
                      <a:r>
                        <a:rPr lang="en-US" sz="1600" b="0" baseline="0" dirty="0">
                          <a:latin typeface="Arial Black" panose="020B0A04020102020204" pitchFamily="34" charset="0"/>
                        </a:rPr>
                        <a:t> School</a:t>
                      </a:r>
                      <a:endParaRPr lang="en-US" sz="1600" b="0" dirty="0"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2,000,000.00</a:t>
                      </a: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1,819,800.00</a:t>
                      </a: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90.99</a:t>
                      </a: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-</a:t>
                      </a: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1,383,800.00</a:t>
                      </a: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-</a:t>
                      </a:r>
                    </a:p>
                  </a:txBody>
                  <a:tcPr marL="54330" marR="54330" marT="35242" marB="35242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16425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latin typeface="Arial Black" panose="020B0A04020102020204" pitchFamily="34" charset="0"/>
                        </a:rPr>
                        <a:t>7</a:t>
                      </a: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latin typeface="Arial Black" panose="020B0A04020102020204" pitchFamily="34" charset="0"/>
                        </a:rPr>
                        <a:t>Corporate Office Abuja</a:t>
                      </a: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100,000,000.00</a:t>
                      </a: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60,045,720.00</a:t>
                      </a: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60.05</a:t>
                      </a: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-</a:t>
                      </a: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19,604,720.27</a:t>
                      </a: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-</a:t>
                      </a:r>
                    </a:p>
                  </a:txBody>
                  <a:tcPr marL="54330" marR="54330" marT="35242" marB="35242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67926">
                <a:tc gridSpan="2">
                  <a:txBody>
                    <a:bodyPr/>
                    <a:lstStyle/>
                    <a:p>
                      <a:pPr algn="ctr"/>
                      <a:r>
                        <a:rPr lang="en-GB" sz="1700" b="0" dirty="0">
                          <a:latin typeface="Arial Black" panose="020B0A04020102020204" pitchFamily="34" charset="0"/>
                        </a:rPr>
                        <a:t>TOTAL</a:t>
                      </a:r>
                    </a:p>
                  </a:txBody>
                  <a:tcPr marL="91439" marR="91439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130,500,000.00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71,514,720.21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397.02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225,000,000.00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27,805,843.26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16.4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22AFA-50A3-4156-984F-61758D2C4411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8955" y="365125"/>
            <a:ext cx="10271760" cy="1325563"/>
          </a:xfrm>
        </p:spPr>
        <p:txBody>
          <a:bodyPr>
            <a:normAutofit/>
          </a:bodyPr>
          <a:lstStyle/>
          <a:p>
            <a:pPr algn="ctr"/>
            <a:r>
              <a:rPr lang="en-GB" sz="2400" dirty="0">
                <a:latin typeface="Arial Black" panose="020B0A04020102020204" pitchFamily="34" charset="0"/>
              </a:rPr>
              <a:t>COMPARATIVE ANALYSIS</a:t>
            </a:r>
            <a:r>
              <a:rPr lang="en-US" sz="2400" dirty="0">
                <a:latin typeface="Arial Black" panose="020B0A04020102020204" pitchFamily="34" charset="0"/>
              </a:rPr>
              <a:t> OF TRAINING CENTRES’</a:t>
            </a:r>
            <a:br>
              <a:rPr lang="en-US" sz="2400" dirty="0">
                <a:latin typeface="Arial Black" panose="020B0A04020102020204" pitchFamily="34" charset="0"/>
              </a:rPr>
            </a:br>
            <a:r>
              <a:rPr lang="en-US" sz="2400" dirty="0">
                <a:latin typeface="Arial Black" panose="020B0A04020102020204" pitchFamily="34" charset="0"/>
              </a:rPr>
              <a:t>COURSE FEE &amp; OTHER INCOME </a:t>
            </a:r>
            <a:endParaRPr lang="en-US" sz="2400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22AFA-50A3-4156-984F-61758D2C4411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200</Words>
  <Application>Microsoft Office PowerPoint</Application>
  <PresentationFormat>Widescreen</PresentationFormat>
  <Paragraphs>157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Arial Black</vt:lpstr>
      <vt:lpstr>Calibri</vt:lpstr>
      <vt:lpstr>Calibri Light</vt:lpstr>
      <vt:lpstr>Monotype Corsiva</vt:lpstr>
      <vt:lpstr>Office Theme</vt:lpstr>
      <vt:lpstr>PowerPoint Presentation</vt:lpstr>
      <vt:lpstr>PowerPoint Presentation</vt:lpstr>
      <vt:lpstr>COMPARATIVE ANALYSIS OF TRAINING CENTRES’ COURSE FEE &amp; OTHER INCOME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Peter Azubuko</cp:lastModifiedBy>
  <cp:revision>2351</cp:revision>
  <cp:lastPrinted>2024-04-18T08:05:00Z</cp:lastPrinted>
  <dcterms:created xsi:type="dcterms:W3CDTF">2021-09-06T19:10:00Z</dcterms:created>
  <dcterms:modified xsi:type="dcterms:W3CDTF">2026-07-13T23:38:49Z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07F78288D0C647648A470010B465E42B_13</vt:lpwstr>
  </property>
  <property fmtid="{D5CDD505-2E9C-101B-9397-08002B2CF9AE}" pid="3" name="KSOProductBuildVer">
    <vt:lpwstr>1033-12.1.0.26880</vt:lpwstr>
  </property>
</Properties>
</file>